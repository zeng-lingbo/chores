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60 seconds)
"Good morning, and thank you both for making the time before term starts. Professor Tsui, thank you for moving this to Friday to fit us in.
I'm Victor, this is Adam. We're both Year 4 in ISD.
Professor Tsui — we first met you in ISDN 1001, and again at the HKUST-HSBC Social Entrepreneurship Competition last November.
We're here for one reason. We'd like to ask whether we can carry the project we've been building for the last two years into ISDN 4001 as our final year project.
One quick note on the name. In our email we called it NewsFlick. That's still the company — NewsFlick Limited. The product now ships as Fliq. Same project.
We'll take about fifteen minutes, and then we'd really like to hear what you think."
NOTE: Warm, unhurried. Don't rush into the pitch — the two of them agreeing to meet in August is a favour, so acknowledge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60 seconds)
"So here's the ask, straight away, so nothing is ambiguous.
We'd like to register Fliq as our own-idea FYP topic — the project we've been building through 3001 and 3002.
And we want to say up front that we know this is an unusual thing to ask. As far as we know, nobody has carried a project from Year 3 straight into Year 4 like this. The kick-off mentioned bringing your own idea as one of the ways to start, but we didn't want to assume that stretches to something we've already been building for two years. That's exactly why we wanted to speak to you before term starts, rather than just registering it and hoping it was fine.
What we'd bring to it isn't a concept. It's two years of user research, a validated MVP, an incorporated company, and an app that's in build right now.
And what we're really asking for is your read — whether this is something the Division would want as an FYP, and if it is, what it would need to look like."
NOTE: This slide sets the tone for the whole meeting. We are asking, not claiming a right. Because nobody has done this before, the professors get to shape what it becomes — so invite that rather than presenting it as settled. Don't oversell; the evidence is on slides 3 to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70 seconds)
"Very quickly, what it actually is.
We started from one observation: young readers aren't short of news. They're unsure what to believe.
We didn't assume that — we measured it. In our own hundred-response study, seventy-nine percent ranked trust, knowing a story is accurate, as their number-one priority. Ahead of speed, ahead of clarity. Fifty-two percent told us they'd read more news if they could trust it more. And forty-three percent said they simply can't tell what's true.
So we built against that.
Every story carries a confidence signal — Low, Medium or High, plus where the story is in its lifecycle. Deliberately not a percentage.
Inside a story, every individual claim is tagged: Confirmed, Developing, Disputed, or Analysis. You can tap any one of them and see who confirmed it, and why.
Underneath, we ground stories in primary evidence through an ingestion model we call two pools, one gate.
And the feed is finite. It ends. That's a deliberate choice for a Gen-Z audience."
IF ASKED why no single trust score: our interviews killed it. People asked "a percentage out of what?" A bare number felt precise but told them nothing, so we show the evidence rather than averaging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60 seconds)
"This is last year, across ISDN 3001 and 3002, under Professor Joneja and Professor Huang.
We didn't design it once. We went through five generations, and each one was pushed by evidence rather than by our own taste.
G1 established the card and feed metaphor. G2 is where it stopped being aesthetic-led — we did the user landscape, the journey, the persona, and the research told us the job of this product is trust, not speed. That reframed everything after it.
G3 turned scattered mockups into one versioned component library, so the design and the generation pipeline share a single source of truth.
G4 is the one I'd point at. We explored ten directions for the confidence signal. In our A/B test, people actually preferred a numeric score — but the interviews told us that number was meaningless to them. So we dropped it. We followed the deeper evidence against a surface preference.
G5 made the claim tags legible and discoverable, after testing showed people didn't realise they were tappable.
Underneath all of it: two questionnaires, about thirty interviews, and an eighty-six person A/B test."
NOTE: Credit Prof. Joneja and Prof. Huang out loud, not just on the slide. G4 is the story that shows judgement — take your time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75 seconds)
"I'll take this one, since it's the engineering side.
The thing that matters here is that we treated the pipeline as a system to be validated, not demonstrated.
On the product bet: across eighty-six A/B participants, around eighty-five percent said they'd switch to the transparent version — that's seventy-three of eighty-six — and around eighty-eight percent rated a visibly shown trust indicator as important.
On the pipeline itself, we ran four documented passes in June.
The arc taxonomy converged from twenty-two arcs down to eleven with no loss of coverage, which tells us the abstraction actually holds as the corpus grows.
Card quality scored about seventeen-point-eight out of twenty against a clarity, structure and completeness rubric.
The lifecycle and hallucination-resistance pass came back clean. On a quiet day the system reports 'no relevant developments' rather than inventing movement — that one is load-bearing, because a single confident unsupported claim would undermine the whole confidence signal.
And the voice layer passed across a hundred and forty-four renderings with the facts preserved verbatim.
I want to be straight about the limits, because they're in our report too. The card-quality number is a best-and-worst-per-arc sample scored by the model itself, and the lifecycle pass rests on three tracked stories. These are directional baselines and regression bars. They aren't exhaustive proof."
NOTE: Say the caveat even if they don't ask. Volunteering the limits is far stronger than being caught by them, and it's what makes the other numbers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45 seconds)
"Alongside the coursework we took it outside the classroom, and it's had to survive judging by people who don't know us.
Silver at Techathon+ this year, in Trusted AI and Data Science.
We incorporated as NewsFlick Limited. We closed a small angel and family round — and I want to be precise about that: it's angel and family, not institutional investment.
We're in the InnoBay twenty-six twenty-seven cohort. We completed HKSTP Ideation and Dream Builder. We're on AWS Activate. And a provisional patent is in preparation.
Professor Tsui — the HKUST-HSBC competition we mentioned earlier, the pill dispenser, was where we last saw you."
NOTE: Don't read the grid item by item, let them scan it. The one sentence that matters is that outsiders keep backing it. Be scrupulous about the funding wording — overstating it is the fastest way to 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45 seconds)
"This is the part we most wanted to show you, because all of it happened after the course ended, and nobody asked us to do any of it.
Over the summer we won the IET Young Professionals Exhibition and Competition as Undergraduate Champion. And we were Regional Champion at Enactus Hong Kong.
And right now we're building the app itself. That's the step from a validated design to something a real reader can actually open.
Which is the honest reason we're sitting here. This is a live venture with momentum. It isn't a finished piece of coursework we're asking to hand in twice."
NOTE: This slide is the whole argument in miniature. Energy, but no boasting — the facts do the work. Let the last line land,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40 seconds)
"We looked at the four things the kick-off set out for the year, and tried to be honest with ourselves about where we actually are against each.
A strong prototype — we have a pipeline with a frozen specification and four documented test passes behind it. A system, not a demo.
A convincing story — trust as the scarce resource in news, and we measured that ourselves.
Evidence of defining and solving a meaningful problem — our research reframed it from information overload to trust, and the whole product follows from that.
And something you can show after graduation — a company, an app going to beta, and a patent in preparation.
That last one is honestly a large part of why this matters to us."
NOTE: Keep this brisk — it's a checkpoint, not an argument. Point four is usually the one professors care about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45 seconds)
"On tracks — we'd declare Entrepreneurship and Venture.
Against the three deliverables you set for it:
Market and value contribution — we have the incorporated company, a subscription-plus-advertising model built on what people actually told us they'd pay, and the closed round.
MVP and business concept — a pre-launch MVP with a frozen specification and an architecture that scales by adding licensed source pools, now moving into app development.
Pitch and customer validation — the eighty-six person A/B test, the interviews, the questionnaires, and four competitions judged by panels outside the university.
We'd also bring research and technology depth into the track — the AI pipeline, the ingestion architecture, the stress tests.
And if you think the Research and Technology track serves the project better, we'd genuinely like your view on that. We're not attached to the label."
NOTE: If they push toward Research and Technology, take it seriously rather than defending. Asking their advice here costs nothing and shows we're coachable.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60 seconds)
"Now the objection we'd rather raise ourselves, because it's the obvious one. Continuation is not repetition. So what's actually new?
Here's the honest answer.
Year 3 defined and measured the problem, ran five design generations, settled the confidence-signal design, and produced four documented test passes. And it produced a pre-launch MVP that has never met a real reader. Everything we've measured so far, we measured on prototypes and mockups.
Year 4 is where it ships. A public beta on real, live news. Real readers in real sessions, measured. First paying users, with the pricing actually tested rather than surveyed. The stress tests automated into a regression suite, so every future version of the pipeline is measured rather than eyeballed. And the provisional patent filed.
Year 3 showed that people want this. Year 4 has to show that they'll use it, and pay for it."
NOTE: This is the strongest objection to what we're asking, so own it before they raise it. "Has never met a real reader" is the admission that makes the rest credible. End on the lime line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55 seconds)
"Here's how that sits on your calendar.
September: lock the topic, confirm advisor and track, and the InnoX bootcamp on the nineteenth and twentieth. We've both reserved those dates already.
And on InnoX — we don't want to treat it as a formality just because we're arriving with an idea. We'd use the two pitching rounds to pressure-test the scope of the beta. What goes in and what doesn't is a genuinely open question for us.
October: the detailed plan and feasibility work — ingestion breadth, the cost model, and the scope of the beta.
November and December: build and launch the public beta, alongside the mid-term deliverables. First real readers.
January to May: live iteration on genuine sessions, commercial validation, first paying users, and the patent filed.
And June twenty twenty-seven: the final demo is a live product with real users and traction data behind it. Not a prototype."
NOTE: The InnoX point pre-empts a fair worry — that a team arriving with a finished idea will coast through the bootcamp. Say it before they think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ADAM  (about 55 seconds)
"On the team.
It's the two of us. Victor leads product, design and research. I lead engineering and the business side — the ingestion architecture, the generation pipeline, the MVP, the stress-test programme and the commercial model.
And we want to raise team size ourselves rather than wait for you to ask. We know the kick-off deck asks for three to five, and that a pair is provisional.
We'd like to make the case for the two of us. Everything on the last ten slides was delivered by these two people, alongside a full course load. The company is incorporated, with roles and equity already settled between us. And we already have two faculty advisors engaged who know the project's history.
But if the Division would rather we were a larger team, we'd genuinely welcome your guidance on how to bring people in well. That's a harder question than it looks, because of the company structure, and we'd rather get it right than guess."
NOTE: Then stop and listen. Do not argue this point in the room — if they want a larger team, take the guidance and work out the details afterwards. Fighting it here is the one thing that could sour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 VICTOR  (about 35 seconds)
"So — three things we'd like to ask you.
First: may we register Fliq as our FYP topic, under the Entrepreneurship and Venture track?
Second: how would you advise us on advisor arrangements for the year ahead?
And third: what would you like to see from us before the first class on the third of September, and before the InnoX bootcamp?
Thank you again for making the time before term begins. We're very happy to send you the ISDN 3002 report and the stress-test evidence afterwards, if that would be useful."
NOTE: Ask all three, then stop talking and let the silence sit. Question two matters practically — Prof. Tsui suggested Prof. Gu and Prof. Song meet us first, so the advisor arrangement is genuinely open. Don't assume who our advisor would be.
IF THEY SAY YES: don't celebrate and leave. Ask what they need from us to make it official, and when.
IF THEY HESITATE: ask what would make them comfortable, and offer to come back with it before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00080"/>
        </a:solidFill>
      </p:bgPr>
    </p:bg>
    <p:spTree>
      <p:nvGrpSpPr>
        <p:cNvPr id="1" name=""/>
        <p:cNvGrpSpPr/>
        <p:nvPr/>
      </p:nvGrpSpPr>
      <p:grpSpPr>
        <a:xfrm>
          <a:off x="0" y="0"/>
          <a:ext cx="0" cy="0"/>
          <a:chOff x="0" y="0"/>
          <a:chExt cx="0" cy="0"/>
        </a:xfrm>
      </p:grpSpPr>
      <p:sp>
        <p:nvSpPr>
          <p:cNvPr id="2" name="Shape 0"/>
          <p:cNvSpPr/>
          <p:nvPr/>
        </p:nvSpPr>
        <p:spPr>
          <a:xfrm>
            <a:off x="0" y="0"/>
            <a:ext cx="777240" cy="91440"/>
          </a:xfrm>
          <a:prstGeom prst="rect">
            <a:avLst/>
          </a:prstGeom>
          <a:solidFill>
            <a:srgbClr val="C9FA85"/>
          </a:solidFill>
          <a:ln/>
        </p:spPr>
      </p:sp>
      <p:pic>
        <p:nvPicPr>
          <p:cNvPr id="3" name="Image 0" descr="preencoded.png">    </p:cNvPr>
          <p:cNvPicPr>
            <a:picLocks noChangeAspect="1"/>
          </p:cNvPicPr>
          <p:nvPr/>
        </p:nvPicPr>
        <p:blipFill>
          <a:blip r:embed="rId1"/>
          <a:stretch>
            <a:fillRect/>
          </a:stretch>
        </p:blipFill>
        <p:spPr>
          <a:xfrm>
            <a:off x="7863840" y="1746504"/>
            <a:ext cx="4370832" cy="4288536"/>
          </a:xfrm>
          <a:prstGeom prst="rect">
            <a:avLst/>
          </a:prstGeom>
        </p:spPr>
      </p:pic>
      <p:pic>
        <p:nvPicPr>
          <p:cNvPr id="4" name="Image 1" descr="preencoded.png">    </p:cNvPr>
          <p:cNvPicPr>
            <a:picLocks noChangeAspect="1"/>
          </p:cNvPicPr>
          <p:nvPr/>
        </p:nvPicPr>
        <p:blipFill>
          <a:blip r:embed="rId2"/>
          <a:stretch>
            <a:fillRect/>
          </a:stretch>
        </p:blipFill>
        <p:spPr>
          <a:xfrm>
            <a:off x="402336" y="384048"/>
            <a:ext cx="1788566" cy="658368"/>
          </a:xfrm>
          <a:prstGeom prst="rect">
            <a:avLst/>
          </a:prstGeom>
        </p:spPr>
      </p:pic>
      <p:sp>
        <p:nvSpPr>
          <p:cNvPr id="5" name="Text 1"/>
          <p:cNvSpPr txBox="1"/>
          <p:nvPr/>
        </p:nvSpPr>
        <p:spPr>
          <a:xfrm>
            <a:off x="640080" y="2148840"/>
            <a:ext cx="7863840" cy="365760"/>
          </a:xfrm>
          <a:prstGeom prst="rect">
            <a:avLst/>
          </a:prstGeom>
          <a:noFill/>
          <a:ln/>
        </p:spPr>
        <p:txBody>
          <a:bodyPr wrap="square" lIns="0" tIns="0" rIns="0" bIns="0" rtlCol="0" anchor="ctr"/>
          <a:lstStyle/>
          <a:p>
            <a:pPr indent="0" marL="0">
              <a:buNone/>
            </a:pPr>
            <a:r>
              <a:rPr lang="en-US" sz="1400" b="1" dirty="0">
                <a:solidFill>
                  <a:srgbClr val="C9FA85"/>
                </a:solidFill>
                <a:latin typeface="Inter" pitchFamily="34" charset="0"/>
                <a:ea typeface="Inter" pitchFamily="34" charset="-122"/>
                <a:cs typeface="Inter" pitchFamily="34" charset="-120"/>
              </a:rPr>
              <a:t>ISDN 4001 · FINAL YEAR PROJECT · PROPOSAL TO CONTINUE</a:t>
            </a:r>
            <a:endParaRPr lang="en-US" sz="1400" dirty="0"/>
          </a:p>
        </p:txBody>
      </p:sp>
      <p:sp>
        <p:nvSpPr>
          <p:cNvPr id="6" name="Text 2"/>
          <p:cNvSpPr txBox="1"/>
          <p:nvPr/>
        </p:nvSpPr>
        <p:spPr>
          <a:xfrm>
            <a:off x="640080" y="2606040"/>
            <a:ext cx="8138160" cy="1737360"/>
          </a:xfrm>
          <a:prstGeom prst="rect">
            <a:avLst/>
          </a:prstGeom>
          <a:noFill/>
          <a:ln/>
        </p:spPr>
        <p:txBody>
          <a:bodyPr wrap="square" lIns="0" tIns="0" rIns="0" bIns="0" rtlCol="0" anchor="ctr"/>
          <a:lstStyle/>
          <a:p>
            <a:pPr indent="0" marL="0">
              <a:lnSpc>
                <a:spcPct val="112000"/>
              </a:lnSpc>
              <a:buNone/>
            </a:pPr>
            <a:r>
              <a:rPr lang="en-US" sz="5400" b="1" dirty="0">
                <a:solidFill>
                  <a:srgbClr val="FFF9FF"/>
                </a:solidFill>
                <a:latin typeface="Space Grotesk" pitchFamily="34" charset="0"/>
                <a:ea typeface="Space Grotesk" pitchFamily="34" charset="-122"/>
                <a:cs typeface="Space Grotesk" pitchFamily="34" charset="-120"/>
              </a:rPr>
              <a:t>We would like to build</a:t>
            </a:r>
            <a:endParaRPr lang="en-US" sz="5400" dirty="0"/>
          </a:p>
          <a:p>
            <a:pPr indent="0" marL="0">
              <a:lnSpc>
                <a:spcPct val="112000"/>
              </a:lnSpc>
              <a:buNone/>
            </a:pPr>
            <a:r>
              <a:rPr lang="en-US" sz="5400" b="1" dirty="0">
                <a:solidFill>
                  <a:srgbClr val="C9FA85"/>
                </a:solidFill>
                <a:latin typeface="Space Grotesk" pitchFamily="34" charset="0"/>
                <a:ea typeface="Space Grotesk" pitchFamily="34" charset="-122"/>
                <a:cs typeface="Space Grotesk" pitchFamily="34" charset="-120"/>
              </a:rPr>
              <a:t>Fliq for Year 4.</a:t>
            </a:r>
            <a:endParaRPr lang="en-US" sz="5400" dirty="0"/>
          </a:p>
        </p:txBody>
      </p:sp>
      <p:sp>
        <p:nvSpPr>
          <p:cNvPr id="7" name="Text 3"/>
          <p:cNvSpPr txBox="1"/>
          <p:nvPr/>
        </p:nvSpPr>
        <p:spPr>
          <a:xfrm>
            <a:off x="640080" y="4526280"/>
            <a:ext cx="7863840" cy="868680"/>
          </a:xfrm>
          <a:prstGeom prst="rect">
            <a:avLst/>
          </a:prstGeom>
          <a:noFill/>
          <a:ln/>
        </p:spPr>
        <p:txBody>
          <a:bodyPr wrap="square" lIns="0" tIns="0" rIns="0" bIns="0" rtlCol="0" anchor="ctr"/>
          <a:lstStyle/>
          <a:p>
            <a:pPr indent="0" marL="0">
              <a:lnSpc>
                <a:spcPct val="120000"/>
              </a:lnSpc>
              <a:buNone/>
            </a:pPr>
            <a:r>
              <a:rPr lang="en-US" sz="1800" b="1" dirty="0">
                <a:solidFill>
                  <a:srgbClr val="FFFFFF"/>
                </a:solidFill>
                <a:latin typeface="Inter" pitchFamily="34" charset="0"/>
                <a:ea typeface="Inter" pitchFamily="34" charset="-122"/>
                <a:cs typeface="Inter" pitchFamily="34" charset="-120"/>
              </a:rPr>
              <a:t>A request to carry our Year-3 project into ISDN 4001.</a:t>
            </a:r>
            <a:endParaRPr lang="en-US" sz="1800" dirty="0"/>
          </a:p>
          <a:p>
            <a:pPr indent="0" marL="0">
              <a:lnSpc>
                <a:spcPct val="120000"/>
              </a:lnSpc>
              <a:buNone/>
            </a:pPr>
            <a:r>
              <a:rPr lang="en-US" sz="1800" dirty="0">
                <a:solidFill>
                  <a:srgbClr val="D3CAFF"/>
                </a:solidFill>
                <a:latin typeface="Inter" pitchFamily="34" charset="0"/>
                <a:ea typeface="Inter" pitchFamily="34" charset="-122"/>
                <a:cs typeface="Inter" pitchFamily="34" charset="-120"/>
              </a:rPr>
              <a:t>Two years of research, an incorporated company, and an app in build.</a:t>
            </a:r>
            <a:endParaRPr lang="en-US" sz="1800" dirty="0"/>
          </a:p>
        </p:txBody>
      </p:sp>
      <p:sp>
        <p:nvSpPr>
          <p:cNvPr id="8" name="Shape 4"/>
          <p:cNvSpPr/>
          <p:nvPr/>
        </p:nvSpPr>
        <p:spPr>
          <a:xfrm>
            <a:off x="640080" y="5870448"/>
            <a:ext cx="7918704" cy="12802"/>
          </a:xfrm>
          <a:prstGeom prst="rect">
            <a:avLst/>
          </a:prstGeom>
          <a:solidFill>
            <a:srgbClr val="C9FA85"/>
          </a:solidFill>
          <a:ln/>
        </p:spPr>
      </p:sp>
      <p:sp>
        <p:nvSpPr>
          <p:cNvPr id="9" name="Text 5"/>
          <p:cNvSpPr txBox="1"/>
          <p:nvPr/>
        </p:nvSpPr>
        <p:spPr>
          <a:xfrm>
            <a:off x="640080" y="6035040"/>
            <a:ext cx="8595360" cy="274320"/>
          </a:xfrm>
          <a:prstGeom prst="rect">
            <a:avLst/>
          </a:prstGeom>
          <a:noFill/>
          <a:ln/>
        </p:spPr>
        <p:txBody>
          <a:bodyPr wrap="square" lIns="0" tIns="0" rIns="0" bIns="0" rtlCol="0" anchor="ctr"/>
          <a:lstStyle/>
          <a:p>
            <a:pPr indent="0" marL="0">
              <a:buNone/>
            </a:pPr>
            <a:r>
              <a:rPr lang="en-US" sz="1300" b="1" dirty="0">
                <a:solidFill>
                  <a:srgbClr val="FFF9FF"/>
                </a:solidFill>
                <a:latin typeface="Inter" pitchFamily="34" charset="0"/>
                <a:ea typeface="Inter" pitchFamily="34" charset="-122"/>
                <a:cs typeface="Inter" pitchFamily="34" charset="-120"/>
              </a:rPr>
              <a:t>Victor Nesteruk · Ling Bo Zeng</a:t>
            </a:r>
            <a:pPr indent="0" marL="0">
              <a:buNone/>
            </a:pPr>
            <a:r>
              <a:rPr lang="en-US" sz="1300" dirty="0">
                <a:solidFill>
                  <a:srgbClr val="E8E2FF"/>
                </a:solidFill>
                <a:latin typeface="Inter" pitchFamily="34" charset="0"/>
                <a:ea typeface="Inter" pitchFamily="34" charset="-122"/>
                <a:cs typeface="Inter" pitchFamily="34" charset="-120"/>
              </a:rPr>
              <a:t>     |     HKUST ISDN, Year 4     |     </a:t>
            </a:r>
            <a:pPr indent="0" marL="0">
              <a:buNone/>
            </a:pPr>
            <a:r>
              <a:rPr lang="en-US" sz="1300" dirty="0">
                <a:solidFill>
                  <a:srgbClr val="E8E2FF"/>
                </a:solidFill>
                <a:latin typeface="Inter" pitchFamily="34" charset="0"/>
                <a:ea typeface="Inter" pitchFamily="34" charset="-122"/>
                <a:cs typeface="Inter" pitchFamily="34" charset="-120"/>
              </a:rPr>
              <a:t>For Prof. Chi Ying Tsui · Prof. Hongri Gu</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THE ASK · WHY WE ASKED TO MEET</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May we bring Fliq into ISDN 4001?</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1</a:t>
            </a:r>
            <a:endParaRPr lang="en-US" sz="950" dirty="0"/>
          </a:p>
        </p:txBody>
      </p:sp>
      <p:sp>
        <p:nvSpPr>
          <p:cNvPr id="10" name="Shape 7"/>
          <p:cNvSpPr/>
          <p:nvPr/>
        </p:nvSpPr>
        <p:spPr>
          <a:xfrm>
            <a:off x="502920" y="2103120"/>
            <a:ext cx="11183112" cy="1097280"/>
          </a:xfrm>
          <a:prstGeom prst="roundRect">
            <a:avLst>
              <a:gd name="adj" fmla="val 6667"/>
            </a:avLst>
          </a:prstGeom>
          <a:solidFill>
            <a:srgbClr val="11256A"/>
          </a:solidFill>
          <a:ln/>
        </p:spPr>
      </p:sp>
      <p:sp>
        <p:nvSpPr>
          <p:cNvPr id="11" name="Text 8"/>
          <p:cNvSpPr txBox="1"/>
          <p:nvPr/>
        </p:nvSpPr>
        <p:spPr>
          <a:xfrm>
            <a:off x="886968" y="2103120"/>
            <a:ext cx="10415016" cy="1097280"/>
          </a:xfrm>
          <a:prstGeom prst="rect">
            <a:avLst/>
          </a:prstGeom>
          <a:noFill/>
          <a:ln/>
        </p:spPr>
        <p:txBody>
          <a:bodyPr wrap="square" lIns="0" tIns="0" rIns="0" bIns="0" rtlCol="0" anchor="ctr"/>
          <a:lstStyle/>
          <a:p>
            <a:pPr indent="0" marL="0">
              <a:lnSpc>
                <a:spcPct val="116000"/>
              </a:lnSpc>
              <a:buNone/>
            </a:pPr>
            <a:r>
              <a:rPr lang="en-US" sz="1900" b="1" dirty="0">
                <a:solidFill>
                  <a:srgbClr val="FFFFFF"/>
                </a:solidFill>
                <a:latin typeface="Space Grotesk" pitchFamily="34" charset="0"/>
                <a:ea typeface="Space Grotesk" pitchFamily="34" charset="-122"/>
                <a:cs typeface="Space Grotesk" pitchFamily="34" charset="-120"/>
              </a:rPr>
              <a:t>We would like to register Fliq — the project we built through ISDN 3001 and 3002, and have kept building since — as our own-idea FYP topic.</a:t>
            </a:r>
            <a:endParaRPr lang="en-US" sz="1900" dirty="0"/>
          </a:p>
        </p:txBody>
      </p:sp>
      <p:sp>
        <p:nvSpPr>
          <p:cNvPr id="12" name="Shape 9"/>
          <p:cNvSpPr/>
          <p:nvPr/>
        </p:nvSpPr>
        <p:spPr>
          <a:xfrm>
            <a:off x="502920" y="3401568"/>
            <a:ext cx="3383280" cy="2743200"/>
          </a:xfrm>
          <a:prstGeom prst="roundRect">
            <a:avLst>
              <a:gd name="adj" fmla="val 2667"/>
            </a:avLst>
          </a:prstGeom>
          <a:solidFill>
            <a:srgbClr val="D3CAFF"/>
          </a:solidFill>
          <a:ln/>
          <a:effectLst>
            <a:outerShdw sx="100000" sy="100000" kx="0" ky="0" algn="bl" rotWithShape="0" blurRad="127000" dist="25400" dir="5400000">
              <a:srgbClr val="352E4A">
                <a:alpha val="13000"/>
              </a:srgbClr>
            </a:outerShdw>
          </a:effectLst>
        </p:spPr>
      </p:sp>
      <p:sp>
        <p:nvSpPr>
          <p:cNvPr id="13" name="Text 10"/>
          <p:cNvSpPr txBox="1"/>
          <p:nvPr/>
        </p:nvSpPr>
        <p:spPr>
          <a:xfrm>
            <a:off x="777240" y="3602736"/>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WE ARE NOT ASSUMING</a:t>
            </a:r>
            <a:endParaRPr lang="en-US" sz="950" dirty="0"/>
          </a:p>
        </p:txBody>
      </p:sp>
      <p:sp>
        <p:nvSpPr>
          <p:cNvPr id="14" name="Text 11"/>
          <p:cNvSpPr txBox="1"/>
          <p:nvPr/>
        </p:nvSpPr>
        <p:spPr>
          <a:xfrm>
            <a:off x="777240" y="3895344"/>
            <a:ext cx="2834640" cy="310896"/>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We know this is unusual</a:t>
            </a:r>
            <a:endParaRPr lang="en-US" sz="1600" dirty="0"/>
          </a:p>
        </p:txBody>
      </p:sp>
      <p:sp>
        <p:nvSpPr>
          <p:cNvPr id="15" name="Text 12"/>
          <p:cNvSpPr txBox="1"/>
          <p:nvPr/>
        </p:nvSpPr>
        <p:spPr>
          <a:xfrm>
            <a:off x="777240" y="4297680"/>
            <a:ext cx="2834640" cy="1664208"/>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As far as we know, nobody has carried a Year-3 project straight into Year 4 this way. We did not want to assume it is allowed, which is why we asked to speak with you before term starts.</a:t>
            </a:r>
            <a:endParaRPr lang="en-US" sz="1300" dirty="0"/>
          </a:p>
        </p:txBody>
      </p:sp>
      <p:sp>
        <p:nvSpPr>
          <p:cNvPr id="16" name="Shape 13"/>
          <p:cNvSpPr/>
          <p:nvPr/>
        </p:nvSpPr>
        <p:spPr>
          <a:xfrm>
            <a:off x="4270248" y="3401568"/>
            <a:ext cx="3383280" cy="2743200"/>
          </a:xfrm>
          <a:prstGeom prst="roundRect">
            <a:avLst>
              <a:gd name="adj" fmla="val 2667"/>
            </a:avLst>
          </a:prstGeom>
          <a:solidFill>
            <a:srgbClr val="CEE7FD"/>
          </a:solidFill>
          <a:ln/>
          <a:effectLst>
            <a:outerShdw sx="100000" sy="100000" kx="0" ky="0" algn="bl" rotWithShape="0" blurRad="127000" dist="25400" dir="5400000">
              <a:srgbClr val="352E4A">
                <a:alpha val="13000"/>
              </a:srgbClr>
            </a:outerShdw>
          </a:effectLst>
        </p:spPr>
      </p:sp>
      <p:sp>
        <p:nvSpPr>
          <p:cNvPr id="17" name="Text 14"/>
          <p:cNvSpPr txBox="1"/>
          <p:nvPr/>
        </p:nvSpPr>
        <p:spPr>
          <a:xfrm>
            <a:off x="4544568" y="3602736"/>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WHAT WE WOULD BRING</a:t>
            </a:r>
            <a:endParaRPr lang="en-US" sz="950" dirty="0"/>
          </a:p>
        </p:txBody>
      </p:sp>
      <p:sp>
        <p:nvSpPr>
          <p:cNvPr id="18" name="Text 15"/>
          <p:cNvSpPr txBox="1"/>
          <p:nvPr/>
        </p:nvSpPr>
        <p:spPr>
          <a:xfrm>
            <a:off x="4544568" y="3895344"/>
            <a:ext cx="2834640" cy="310896"/>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It is already real</a:t>
            </a:r>
            <a:endParaRPr lang="en-US" sz="1600" dirty="0"/>
          </a:p>
        </p:txBody>
      </p:sp>
      <p:sp>
        <p:nvSpPr>
          <p:cNvPr id="19" name="Text 16"/>
          <p:cNvSpPr txBox="1"/>
          <p:nvPr/>
        </p:nvSpPr>
        <p:spPr>
          <a:xfrm>
            <a:off x="4544568" y="4297680"/>
            <a:ext cx="2834640" cy="1664208"/>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Two years of user research, a validated pre-launch MVP, an incorporated company, and an application already in development.</a:t>
            </a:r>
            <a:endParaRPr lang="en-US" sz="1300" dirty="0"/>
          </a:p>
        </p:txBody>
      </p:sp>
      <p:sp>
        <p:nvSpPr>
          <p:cNvPr id="20" name="Shape 17"/>
          <p:cNvSpPr/>
          <p:nvPr/>
        </p:nvSpPr>
        <p:spPr>
          <a:xfrm>
            <a:off x="8037576" y="3401568"/>
            <a:ext cx="3383280" cy="2743200"/>
          </a:xfrm>
          <a:prstGeom prst="roundRect">
            <a:avLst>
              <a:gd name="adj" fmla="val 2667"/>
            </a:avLst>
          </a:prstGeom>
          <a:solidFill>
            <a:srgbClr val="FDE1FD"/>
          </a:solidFill>
          <a:ln/>
          <a:effectLst>
            <a:outerShdw sx="100000" sy="100000" kx="0" ky="0" algn="bl" rotWithShape="0" blurRad="127000" dist="25400" dir="5400000">
              <a:srgbClr val="352E4A">
                <a:alpha val="13000"/>
              </a:srgbClr>
            </a:outerShdw>
          </a:effectLst>
        </p:spPr>
      </p:sp>
      <p:sp>
        <p:nvSpPr>
          <p:cNvPr id="21" name="Text 18"/>
          <p:cNvSpPr txBox="1"/>
          <p:nvPr/>
        </p:nvSpPr>
        <p:spPr>
          <a:xfrm>
            <a:off x="8311896" y="3602736"/>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WHAT WE ARE ASKING</a:t>
            </a:r>
            <a:endParaRPr lang="en-US" sz="950" dirty="0"/>
          </a:p>
        </p:txBody>
      </p:sp>
      <p:sp>
        <p:nvSpPr>
          <p:cNvPr id="22" name="Text 19"/>
          <p:cNvSpPr txBox="1"/>
          <p:nvPr/>
        </p:nvSpPr>
        <p:spPr>
          <a:xfrm>
            <a:off x="8311896" y="3895344"/>
            <a:ext cx="2834640" cy="310896"/>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Your read on it</a:t>
            </a:r>
            <a:endParaRPr lang="en-US" sz="1600" dirty="0"/>
          </a:p>
        </p:txBody>
      </p:sp>
      <p:sp>
        <p:nvSpPr>
          <p:cNvPr id="23" name="Text 20"/>
          <p:cNvSpPr txBox="1"/>
          <p:nvPr/>
        </p:nvSpPr>
        <p:spPr>
          <a:xfrm>
            <a:off x="8311896" y="4297680"/>
            <a:ext cx="2834640" cy="1664208"/>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Whether this is a project the Division would want as an FYP — and if it is, what it would need to look like.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EE7FD"/>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THE PROJECT · WHAT WE ARE BUILDING</a:t>
            </a:r>
            <a:endParaRPr lang="en-US" sz="1050" dirty="0"/>
          </a:p>
        </p:txBody>
      </p:sp>
      <p:sp>
        <p:nvSpPr>
          <p:cNvPr id="6" name="Text 3"/>
          <p:cNvSpPr txBox="1"/>
          <p:nvPr/>
        </p:nvSpPr>
        <p:spPr>
          <a:xfrm>
            <a:off x="502920" y="1069848"/>
            <a:ext cx="11183112" cy="914400"/>
          </a:xfrm>
          <a:prstGeom prst="rect">
            <a:avLst/>
          </a:prstGeom>
          <a:noFill/>
          <a:ln/>
        </p:spPr>
        <p:txBody>
          <a:bodyPr wrap="square" lIns="0" tIns="0" rIns="0" bIns="0" rtlCol="0" anchor="t"/>
          <a:lstStyle/>
          <a:p>
            <a:pPr indent="0" marL="0">
              <a:buNone/>
            </a:pPr>
            <a:r>
              <a:rPr lang="en-US" sz="2900" b="1" dirty="0">
                <a:solidFill>
                  <a:srgbClr val="11256A"/>
                </a:solidFill>
                <a:latin typeface="Space Grotesk" pitchFamily="34" charset="0"/>
                <a:ea typeface="Space Grotesk" pitchFamily="34" charset="-122"/>
                <a:cs typeface="Space Grotesk" pitchFamily="34" charset="-120"/>
              </a:rPr>
              <a:t>The scarce resource in news is not information. It is trust.</a:t>
            </a:r>
            <a:endParaRPr lang="en-US" sz="29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2</a:t>
            </a:r>
            <a:endParaRPr lang="en-US" sz="950" dirty="0"/>
          </a:p>
        </p:txBody>
      </p:sp>
      <p:sp>
        <p:nvSpPr>
          <p:cNvPr id="10" name="Text 7"/>
          <p:cNvSpPr txBox="1"/>
          <p:nvPr/>
        </p:nvSpPr>
        <p:spPr>
          <a:xfrm>
            <a:off x="502920" y="2103120"/>
            <a:ext cx="5029200" cy="274320"/>
          </a:xfrm>
          <a:prstGeom prst="rect">
            <a:avLst/>
          </a:prstGeom>
          <a:noFill/>
          <a:ln/>
        </p:spPr>
        <p:txBody>
          <a:bodyPr wrap="square" lIns="0" tIns="0" rIns="0" bIns="0" rtlCol="0" anchor="ctr"/>
          <a:lstStyle/>
          <a:p>
            <a:pPr indent="0" marL="0">
              <a:buNone/>
            </a:pPr>
            <a:r>
              <a:rPr lang="en-US" sz="1100" b="1" dirty="0">
                <a:solidFill>
                  <a:srgbClr val="800080"/>
                </a:solidFill>
                <a:latin typeface="Inter" pitchFamily="34" charset="0"/>
                <a:ea typeface="Inter" pitchFamily="34" charset="-122"/>
                <a:cs typeface="Inter" pitchFamily="34" charset="-120"/>
              </a:rPr>
              <a:t>WHAT OUR OWN RESEARCH FOUND</a:t>
            </a:r>
            <a:endParaRPr lang="en-US" sz="1100" dirty="0"/>
          </a:p>
        </p:txBody>
      </p:sp>
      <p:sp>
        <p:nvSpPr>
          <p:cNvPr id="11" name="Text 8"/>
          <p:cNvSpPr txBox="1"/>
          <p:nvPr/>
        </p:nvSpPr>
        <p:spPr>
          <a:xfrm>
            <a:off x="502920" y="2542032"/>
            <a:ext cx="1417320" cy="658368"/>
          </a:xfrm>
          <a:prstGeom prst="rect">
            <a:avLst/>
          </a:prstGeom>
          <a:noFill/>
          <a:ln/>
        </p:spPr>
        <p:txBody>
          <a:bodyPr wrap="square" lIns="0" tIns="0" rIns="0" bIns="0" rtlCol="0" anchor="ctr"/>
          <a:lstStyle/>
          <a:p>
            <a:pPr indent="0" marL="0">
              <a:buNone/>
            </a:pPr>
            <a:r>
              <a:rPr lang="en-US" sz="4000" b="1" dirty="0">
                <a:solidFill>
                  <a:srgbClr val="11256A"/>
                </a:solidFill>
                <a:latin typeface="Space Grotesk" pitchFamily="34" charset="0"/>
                <a:ea typeface="Space Grotesk" pitchFamily="34" charset="-122"/>
                <a:cs typeface="Space Grotesk" pitchFamily="34" charset="-120"/>
              </a:rPr>
              <a:t>79%</a:t>
            </a:r>
            <a:endParaRPr lang="en-US" sz="4000" dirty="0"/>
          </a:p>
        </p:txBody>
      </p:sp>
      <p:sp>
        <p:nvSpPr>
          <p:cNvPr id="12" name="Text 9"/>
          <p:cNvSpPr txBox="1"/>
          <p:nvPr/>
        </p:nvSpPr>
        <p:spPr>
          <a:xfrm>
            <a:off x="2011680" y="2542032"/>
            <a:ext cx="3566160" cy="731520"/>
          </a:xfrm>
          <a:prstGeom prst="rect">
            <a:avLst/>
          </a:prstGeom>
          <a:noFill/>
          <a:ln/>
        </p:spPr>
        <p:txBody>
          <a:bodyPr wrap="square" lIns="0" tIns="0" rIns="0" bIns="0" rtlCol="0" anchor="ctr"/>
          <a:lstStyle/>
          <a:p>
            <a:pPr indent="0" marL="0">
              <a:lnSpc>
                <a:spcPct val="114000"/>
              </a:lnSpc>
              <a:buNone/>
            </a:pPr>
            <a:r>
              <a:rPr lang="en-US" sz="1300" dirty="0">
                <a:solidFill>
                  <a:srgbClr val="352E4A"/>
                </a:solidFill>
                <a:latin typeface="Inter" pitchFamily="34" charset="0"/>
                <a:ea typeface="Inter" pitchFamily="34" charset="-122"/>
                <a:cs typeface="Inter" pitchFamily="34" charset="-120"/>
              </a:rPr>
              <a:t>rank trust — knowing a story is accurate — as their number-one priority in news</a:t>
            </a:r>
            <a:endParaRPr lang="en-US" sz="1300" dirty="0"/>
          </a:p>
        </p:txBody>
      </p:sp>
      <p:sp>
        <p:nvSpPr>
          <p:cNvPr id="13" name="Text 10"/>
          <p:cNvSpPr txBox="1"/>
          <p:nvPr/>
        </p:nvSpPr>
        <p:spPr>
          <a:xfrm>
            <a:off x="502920" y="3675888"/>
            <a:ext cx="1417320" cy="658368"/>
          </a:xfrm>
          <a:prstGeom prst="rect">
            <a:avLst/>
          </a:prstGeom>
          <a:noFill/>
          <a:ln/>
        </p:spPr>
        <p:txBody>
          <a:bodyPr wrap="square" lIns="0" tIns="0" rIns="0" bIns="0" rtlCol="0" anchor="ctr"/>
          <a:lstStyle/>
          <a:p>
            <a:pPr indent="0" marL="0">
              <a:buNone/>
            </a:pPr>
            <a:r>
              <a:rPr lang="en-US" sz="4000" b="1" dirty="0">
                <a:solidFill>
                  <a:srgbClr val="667DFF"/>
                </a:solidFill>
                <a:latin typeface="Space Grotesk" pitchFamily="34" charset="0"/>
                <a:ea typeface="Space Grotesk" pitchFamily="34" charset="-122"/>
                <a:cs typeface="Space Grotesk" pitchFamily="34" charset="-120"/>
              </a:rPr>
              <a:t>52%</a:t>
            </a:r>
            <a:endParaRPr lang="en-US" sz="4000" dirty="0"/>
          </a:p>
        </p:txBody>
      </p:sp>
      <p:sp>
        <p:nvSpPr>
          <p:cNvPr id="14" name="Text 11"/>
          <p:cNvSpPr txBox="1"/>
          <p:nvPr/>
        </p:nvSpPr>
        <p:spPr>
          <a:xfrm>
            <a:off x="2011680" y="3675888"/>
            <a:ext cx="3566160" cy="731520"/>
          </a:xfrm>
          <a:prstGeom prst="rect">
            <a:avLst/>
          </a:prstGeom>
          <a:noFill/>
          <a:ln/>
        </p:spPr>
        <p:txBody>
          <a:bodyPr wrap="square" lIns="0" tIns="0" rIns="0" bIns="0" rtlCol="0" anchor="ctr"/>
          <a:lstStyle/>
          <a:p>
            <a:pPr indent="0" marL="0">
              <a:lnSpc>
                <a:spcPct val="114000"/>
              </a:lnSpc>
              <a:buNone/>
            </a:pPr>
            <a:r>
              <a:rPr lang="en-US" sz="1300" dirty="0">
                <a:solidFill>
                  <a:srgbClr val="352E4A"/>
                </a:solidFill>
                <a:latin typeface="Inter" pitchFamily="34" charset="0"/>
                <a:ea typeface="Inter" pitchFamily="34" charset="-122"/>
                <a:cs typeface="Inter" pitchFamily="34" charset="-120"/>
              </a:rPr>
              <a:t>would read news more often if they could trust it more</a:t>
            </a:r>
            <a:endParaRPr lang="en-US" sz="1300" dirty="0"/>
          </a:p>
        </p:txBody>
      </p:sp>
      <p:sp>
        <p:nvSpPr>
          <p:cNvPr id="15" name="Text 12"/>
          <p:cNvSpPr txBox="1"/>
          <p:nvPr/>
        </p:nvSpPr>
        <p:spPr>
          <a:xfrm>
            <a:off x="502920" y="4809744"/>
            <a:ext cx="1417320" cy="658368"/>
          </a:xfrm>
          <a:prstGeom prst="rect">
            <a:avLst/>
          </a:prstGeom>
          <a:noFill/>
          <a:ln/>
        </p:spPr>
        <p:txBody>
          <a:bodyPr wrap="square" lIns="0" tIns="0" rIns="0" bIns="0" rtlCol="0" anchor="ctr"/>
          <a:lstStyle/>
          <a:p>
            <a:pPr indent="0" marL="0">
              <a:buNone/>
            </a:pPr>
            <a:r>
              <a:rPr lang="en-US" sz="4000" b="1" dirty="0">
                <a:solidFill>
                  <a:srgbClr val="800080"/>
                </a:solidFill>
                <a:latin typeface="Space Grotesk" pitchFamily="34" charset="0"/>
                <a:ea typeface="Space Grotesk" pitchFamily="34" charset="-122"/>
                <a:cs typeface="Space Grotesk" pitchFamily="34" charset="-120"/>
              </a:rPr>
              <a:t>43%</a:t>
            </a:r>
            <a:endParaRPr lang="en-US" sz="4000" dirty="0"/>
          </a:p>
        </p:txBody>
      </p:sp>
      <p:sp>
        <p:nvSpPr>
          <p:cNvPr id="16" name="Text 13"/>
          <p:cNvSpPr txBox="1"/>
          <p:nvPr/>
        </p:nvSpPr>
        <p:spPr>
          <a:xfrm>
            <a:off x="2011680" y="4809744"/>
            <a:ext cx="3566160" cy="731520"/>
          </a:xfrm>
          <a:prstGeom prst="rect">
            <a:avLst/>
          </a:prstGeom>
          <a:noFill/>
          <a:ln/>
        </p:spPr>
        <p:txBody>
          <a:bodyPr wrap="square" lIns="0" tIns="0" rIns="0" bIns="0" rtlCol="0" anchor="ctr"/>
          <a:lstStyle/>
          <a:p>
            <a:pPr indent="0" marL="0">
              <a:lnSpc>
                <a:spcPct val="114000"/>
              </a:lnSpc>
              <a:buNone/>
            </a:pPr>
            <a:r>
              <a:rPr lang="en-US" sz="1300" dirty="0">
                <a:solidFill>
                  <a:srgbClr val="352E4A"/>
                </a:solidFill>
                <a:latin typeface="Inter" pitchFamily="34" charset="0"/>
                <a:ea typeface="Inter" pitchFamily="34" charset="-122"/>
                <a:cs typeface="Inter" pitchFamily="34" charset="-120"/>
              </a:rPr>
              <a:t>say they simply cannot tell what is true</a:t>
            </a:r>
            <a:endParaRPr lang="en-US" sz="1300" dirty="0"/>
          </a:p>
        </p:txBody>
      </p:sp>
      <p:sp>
        <p:nvSpPr>
          <p:cNvPr id="17" name="Text 14"/>
          <p:cNvSpPr txBox="1"/>
          <p:nvPr/>
        </p:nvSpPr>
        <p:spPr>
          <a:xfrm>
            <a:off x="502920" y="5852160"/>
            <a:ext cx="5120640" cy="347472"/>
          </a:xfrm>
          <a:prstGeom prst="rect">
            <a:avLst/>
          </a:prstGeom>
          <a:noFill/>
          <a:ln/>
        </p:spPr>
        <p:txBody>
          <a:bodyPr wrap="square" lIns="0" tIns="0" rIns="0" bIns="0" rtlCol="0" anchor="ctr"/>
          <a:lstStyle/>
          <a:p>
            <a:pPr indent="0" marL="0">
              <a:buNone/>
            </a:pPr>
            <a:r>
              <a:rPr lang="en-US" sz="1000" dirty="0">
                <a:solidFill>
                  <a:srgbClr val="6E6787"/>
                </a:solidFill>
                <a:latin typeface="Inter" pitchFamily="34" charset="0"/>
                <a:ea typeface="Inter" pitchFamily="34" charset="-122"/>
                <a:cs typeface="Inter" pitchFamily="34" charset="-120"/>
              </a:rPr>
              <a:t>Our own 100-response study, recruited via Prolific, skewed to the 18–34 audience.</a:t>
            </a:r>
            <a:endParaRPr lang="en-US" sz="1000" dirty="0"/>
          </a:p>
        </p:txBody>
      </p:sp>
      <p:sp>
        <p:nvSpPr>
          <p:cNvPr id="18" name="Shape 15"/>
          <p:cNvSpPr/>
          <p:nvPr/>
        </p:nvSpPr>
        <p:spPr>
          <a:xfrm>
            <a:off x="5943600" y="2103120"/>
            <a:ext cx="5742432" cy="914400"/>
          </a:xfrm>
          <a:prstGeom prst="roundRect">
            <a:avLst>
              <a:gd name="adj" fmla="val 8000"/>
            </a:avLst>
          </a:prstGeom>
          <a:solidFill>
            <a:srgbClr val="D3CAFF"/>
          </a:solidFill>
          <a:ln/>
          <a:effectLst>
            <a:outerShdw sx="100000" sy="100000" kx="0" ky="0" algn="bl" rotWithShape="0" blurRad="127000" dist="25400" dir="5400000">
              <a:srgbClr val="352E4A">
                <a:alpha val="13000"/>
              </a:srgbClr>
            </a:outerShdw>
          </a:effectLst>
        </p:spPr>
      </p:sp>
      <p:sp>
        <p:nvSpPr>
          <p:cNvPr id="19" name="Text 16"/>
          <p:cNvSpPr txBox="1"/>
          <p:nvPr/>
        </p:nvSpPr>
        <p:spPr>
          <a:xfrm>
            <a:off x="6199632" y="2212848"/>
            <a:ext cx="5230368" cy="292608"/>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A confidence signal</a:t>
            </a:r>
            <a:endParaRPr lang="en-US" sz="1500" dirty="0"/>
          </a:p>
        </p:txBody>
      </p:sp>
      <p:sp>
        <p:nvSpPr>
          <p:cNvPr id="20" name="Text 17"/>
          <p:cNvSpPr txBox="1"/>
          <p:nvPr/>
        </p:nvSpPr>
        <p:spPr>
          <a:xfrm>
            <a:off x="6199632" y="2523744"/>
            <a:ext cx="5230368" cy="420624"/>
          </a:xfrm>
          <a:prstGeom prst="rect">
            <a:avLst/>
          </a:prstGeom>
          <a:noFill/>
          <a:ln/>
        </p:spPr>
        <p:txBody>
          <a:bodyPr wrap="square" lIns="0" tIns="0" rIns="0" bIns="0" rtlCol="0" anchor="ctr"/>
          <a:lstStyle/>
          <a:p>
            <a:pPr indent="0" marL="0">
              <a:lnSpc>
                <a:spcPct val="110000"/>
              </a:lnSpc>
              <a:buNone/>
            </a:pPr>
            <a:r>
              <a:rPr lang="en-US" sz="1200" dirty="0">
                <a:solidFill>
                  <a:srgbClr val="352E4A"/>
                </a:solidFill>
                <a:latin typeface="Inter" pitchFamily="34" charset="0"/>
                <a:ea typeface="Inter" pitchFamily="34" charset="-122"/>
                <a:cs typeface="Inter" pitchFamily="34" charset="-120"/>
              </a:rPr>
              <a:t>A glanceable Low / Medium / High level and a lifecycle state — never a false-precision percentage.</a:t>
            </a:r>
            <a:endParaRPr lang="en-US" sz="1200" dirty="0"/>
          </a:p>
        </p:txBody>
      </p:sp>
      <p:sp>
        <p:nvSpPr>
          <p:cNvPr id="21" name="Shape 18"/>
          <p:cNvSpPr/>
          <p:nvPr/>
        </p:nvSpPr>
        <p:spPr>
          <a:xfrm>
            <a:off x="5943600" y="3127248"/>
            <a:ext cx="5742432" cy="914400"/>
          </a:xfrm>
          <a:prstGeom prst="roundRect">
            <a:avLst>
              <a:gd name="adj" fmla="val 8000"/>
            </a:avLst>
          </a:prstGeom>
          <a:solidFill>
            <a:srgbClr val="CEE7FD"/>
          </a:solidFill>
          <a:ln/>
          <a:effectLst>
            <a:outerShdw sx="100000" sy="100000" kx="0" ky="0" algn="bl" rotWithShape="0" blurRad="127000" dist="25400" dir="5400000">
              <a:srgbClr val="352E4A">
                <a:alpha val="13000"/>
              </a:srgbClr>
            </a:outerShdw>
          </a:effectLst>
        </p:spPr>
      </p:sp>
      <p:sp>
        <p:nvSpPr>
          <p:cNvPr id="22" name="Text 19"/>
          <p:cNvSpPr txBox="1"/>
          <p:nvPr/>
        </p:nvSpPr>
        <p:spPr>
          <a:xfrm>
            <a:off x="6199632" y="3236976"/>
            <a:ext cx="5230368" cy="292608"/>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Claim-level transparency</a:t>
            </a:r>
            <a:endParaRPr lang="en-US" sz="1500" dirty="0"/>
          </a:p>
        </p:txBody>
      </p:sp>
      <p:sp>
        <p:nvSpPr>
          <p:cNvPr id="23" name="Text 20"/>
          <p:cNvSpPr txBox="1"/>
          <p:nvPr/>
        </p:nvSpPr>
        <p:spPr>
          <a:xfrm>
            <a:off x="6199632" y="3547872"/>
            <a:ext cx="5230368" cy="420624"/>
          </a:xfrm>
          <a:prstGeom prst="rect">
            <a:avLst/>
          </a:prstGeom>
          <a:noFill/>
          <a:ln/>
        </p:spPr>
        <p:txBody>
          <a:bodyPr wrap="square" lIns="0" tIns="0" rIns="0" bIns="0" rtlCol="0" anchor="ctr"/>
          <a:lstStyle/>
          <a:p>
            <a:pPr indent="0" marL="0">
              <a:lnSpc>
                <a:spcPct val="110000"/>
              </a:lnSpc>
              <a:buNone/>
            </a:pPr>
            <a:r>
              <a:rPr lang="en-US" sz="1200" dirty="0">
                <a:solidFill>
                  <a:srgbClr val="352E4A"/>
                </a:solidFill>
                <a:latin typeface="Inter" pitchFamily="34" charset="0"/>
                <a:ea typeface="Inter" pitchFamily="34" charset="-122"/>
                <a:cs typeface="Inter" pitchFamily="34" charset="-120"/>
              </a:rPr>
              <a:t>Each claim is tagged Confirmed, Developing, Disputed or Analysis, and expands in place to show its evidence.</a:t>
            </a:r>
            <a:endParaRPr lang="en-US" sz="1200" dirty="0"/>
          </a:p>
        </p:txBody>
      </p:sp>
      <p:sp>
        <p:nvSpPr>
          <p:cNvPr id="24" name="Shape 21"/>
          <p:cNvSpPr/>
          <p:nvPr/>
        </p:nvSpPr>
        <p:spPr>
          <a:xfrm>
            <a:off x="5943600" y="4151376"/>
            <a:ext cx="5742432" cy="914400"/>
          </a:xfrm>
          <a:prstGeom prst="roundRect">
            <a:avLst>
              <a:gd name="adj" fmla="val 8000"/>
            </a:avLst>
          </a:prstGeom>
          <a:solidFill>
            <a:srgbClr val="FDE1FD"/>
          </a:solidFill>
          <a:ln/>
          <a:effectLst>
            <a:outerShdw sx="100000" sy="100000" kx="0" ky="0" algn="bl" rotWithShape="0" blurRad="127000" dist="25400" dir="5400000">
              <a:srgbClr val="352E4A">
                <a:alpha val="13000"/>
              </a:srgbClr>
            </a:outerShdw>
          </a:effectLst>
        </p:spPr>
      </p:sp>
      <p:sp>
        <p:nvSpPr>
          <p:cNvPr id="25" name="Text 22"/>
          <p:cNvSpPr txBox="1"/>
          <p:nvPr/>
        </p:nvSpPr>
        <p:spPr>
          <a:xfrm>
            <a:off x="6199632" y="4261104"/>
            <a:ext cx="5230368" cy="292608"/>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Primary-source grounding</a:t>
            </a:r>
            <a:endParaRPr lang="en-US" sz="1500" dirty="0"/>
          </a:p>
        </p:txBody>
      </p:sp>
      <p:sp>
        <p:nvSpPr>
          <p:cNvPr id="26" name="Text 23"/>
          <p:cNvSpPr txBox="1"/>
          <p:nvPr/>
        </p:nvSpPr>
        <p:spPr>
          <a:xfrm>
            <a:off x="6199632" y="4572000"/>
            <a:ext cx="5230368" cy="420624"/>
          </a:xfrm>
          <a:prstGeom prst="rect">
            <a:avLst/>
          </a:prstGeom>
          <a:noFill/>
          <a:ln/>
        </p:spPr>
        <p:txBody>
          <a:bodyPr wrap="square" lIns="0" tIns="0" rIns="0" bIns="0" rtlCol="0" anchor="ctr"/>
          <a:lstStyle/>
          <a:p>
            <a:pPr indent="0" marL="0">
              <a:lnSpc>
                <a:spcPct val="110000"/>
              </a:lnSpc>
              <a:buNone/>
            </a:pPr>
            <a:r>
              <a:rPr lang="en-US" sz="1200" dirty="0">
                <a:solidFill>
                  <a:srgbClr val="352E4A"/>
                </a:solidFill>
                <a:latin typeface="Inter" pitchFamily="34" charset="0"/>
                <a:ea typeface="Inter" pitchFamily="34" charset="-122"/>
                <a:cs typeface="Inter" pitchFamily="34" charset="-120"/>
              </a:rPr>
              <a:t>“Two pools, one gate” ingestion makes legality structural and anchors confidence in original evidence.</a:t>
            </a:r>
            <a:endParaRPr lang="en-US" sz="1200" dirty="0"/>
          </a:p>
        </p:txBody>
      </p:sp>
      <p:sp>
        <p:nvSpPr>
          <p:cNvPr id="27" name="Shape 24"/>
          <p:cNvSpPr/>
          <p:nvPr/>
        </p:nvSpPr>
        <p:spPr>
          <a:xfrm>
            <a:off x="5943600" y="5175504"/>
            <a:ext cx="5742432" cy="914400"/>
          </a:xfrm>
          <a:prstGeom prst="roundRect">
            <a:avLst>
              <a:gd name="adj" fmla="val 8000"/>
            </a:avLst>
          </a:prstGeom>
          <a:solidFill>
            <a:srgbClr val="F5F2FF"/>
          </a:solidFill>
          <a:ln/>
          <a:effectLst>
            <a:outerShdw sx="100000" sy="100000" kx="0" ky="0" algn="bl" rotWithShape="0" blurRad="127000" dist="25400" dir="5400000">
              <a:srgbClr val="352E4A">
                <a:alpha val="13000"/>
              </a:srgbClr>
            </a:outerShdw>
          </a:effectLst>
        </p:spPr>
      </p:sp>
      <p:sp>
        <p:nvSpPr>
          <p:cNvPr id="28" name="Text 25"/>
          <p:cNvSpPr txBox="1"/>
          <p:nvPr/>
        </p:nvSpPr>
        <p:spPr>
          <a:xfrm>
            <a:off x="6199632" y="5285232"/>
            <a:ext cx="5230368" cy="292608"/>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A finite card feed</a:t>
            </a:r>
            <a:endParaRPr lang="en-US" sz="1500" dirty="0"/>
          </a:p>
        </p:txBody>
      </p:sp>
      <p:sp>
        <p:nvSpPr>
          <p:cNvPr id="29" name="Text 26"/>
          <p:cNvSpPr txBox="1"/>
          <p:nvPr/>
        </p:nvSpPr>
        <p:spPr>
          <a:xfrm>
            <a:off x="6199632" y="5596128"/>
            <a:ext cx="5230368" cy="420624"/>
          </a:xfrm>
          <a:prstGeom prst="rect">
            <a:avLst/>
          </a:prstGeom>
          <a:noFill/>
          <a:ln/>
        </p:spPr>
        <p:txBody>
          <a:bodyPr wrap="square" lIns="0" tIns="0" rIns="0" bIns="0" rtlCol="0" anchor="ctr"/>
          <a:lstStyle/>
          <a:p>
            <a:pPr indent="0" marL="0">
              <a:lnSpc>
                <a:spcPct val="110000"/>
              </a:lnSpc>
              <a:buNone/>
            </a:pPr>
            <a:r>
              <a:rPr lang="en-US" sz="1200" dirty="0">
                <a:solidFill>
                  <a:srgbClr val="352E4A"/>
                </a:solidFill>
                <a:latin typeface="Inter" pitchFamily="34" charset="0"/>
                <a:ea typeface="Inter" pitchFamily="34" charset="-122"/>
                <a:cs typeface="Inter" pitchFamily="34" charset="-120"/>
              </a:rPr>
              <a:t>Bounded sessions rather than infinite scroll — built for a Gen-Z audience, against doomscroll.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EE7FD"/>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YEAR 3 · ISDN 3001 AND 3002</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Five design generations, each one driven by evidence</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3</a:t>
            </a:r>
            <a:endParaRPr lang="en-US" sz="950" dirty="0"/>
          </a:p>
        </p:txBody>
      </p:sp>
      <p:sp>
        <p:nvSpPr>
          <p:cNvPr id="10" name="Shape 7"/>
          <p:cNvSpPr/>
          <p:nvPr/>
        </p:nvSpPr>
        <p:spPr>
          <a:xfrm>
            <a:off x="502920" y="2103120"/>
            <a:ext cx="2057400" cy="2651760"/>
          </a:xfrm>
          <a:prstGeom prst="roundRect">
            <a:avLst>
              <a:gd name="adj" fmla="val 3556"/>
            </a:avLst>
          </a:prstGeom>
          <a:solidFill>
            <a:srgbClr val="D3CAFF"/>
          </a:solidFill>
          <a:ln/>
          <a:effectLst>
            <a:outerShdw sx="100000" sy="100000" kx="0" ky="0" algn="bl" rotWithShape="0" blurRad="127000" dist="25400" dir="5400000">
              <a:srgbClr val="352E4A">
                <a:alpha val="13000"/>
              </a:srgbClr>
            </a:outerShdw>
          </a:effectLst>
        </p:spPr>
      </p:sp>
      <p:sp>
        <p:nvSpPr>
          <p:cNvPr id="11" name="Text 8"/>
          <p:cNvSpPr txBox="1"/>
          <p:nvPr/>
        </p:nvSpPr>
        <p:spPr>
          <a:xfrm>
            <a:off x="74066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G1</a:t>
            </a:r>
            <a:endParaRPr lang="en-US" sz="2000" dirty="0"/>
          </a:p>
        </p:txBody>
      </p:sp>
      <p:sp>
        <p:nvSpPr>
          <p:cNvPr id="12" name="Text 9"/>
          <p:cNvSpPr txBox="1"/>
          <p:nvPr/>
        </p:nvSpPr>
        <p:spPr>
          <a:xfrm>
            <a:off x="74066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Explorations</a:t>
            </a:r>
            <a:endParaRPr lang="en-US" sz="1400" dirty="0"/>
          </a:p>
        </p:txBody>
      </p:sp>
      <p:sp>
        <p:nvSpPr>
          <p:cNvPr id="13" name="Text 10"/>
          <p:cNvSpPr txBox="1"/>
          <p:nvPr/>
        </p:nvSpPr>
        <p:spPr>
          <a:xfrm>
            <a:off x="74066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Established the card-and-feed metaphor, and that transparency belongs on the surface.</a:t>
            </a:r>
            <a:endParaRPr lang="en-US" sz="1100" dirty="0"/>
          </a:p>
        </p:txBody>
      </p:sp>
      <p:sp>
        <p:nvSpPr>
          <p:cNvPr id="14" name="Shape 11"/>
          <p:cNvSpPr/>
          <p:nvPr/>
        </p:nvSpPr>
        <p:spPr>
          <a:xfrm>
            <a:off x="2743200" y="2103120"/>
            <a:ext cx="2057400" cy="2651760"/>
          </a:xfrm>
          <a:prstGeom prst="roundRect">
            <a:avLst>
              <a:gd name="adj" fmla="val 3556"/>
            </a:avLst>
          </a:prstGeom>
          <a:solidFill>
            <a:srgbClr val="CEE7FD"/>
          </a:solidFill>
          <a:ln/>
          <a:effectLst>
            <a:outerShdw sx="100000" sy="100000" kx="0" ky="0" algn="bl" rotWithShape="0" blurRad="127000" dist="25400" dir="5400000">
              <a:srgbClr val="352E4A">
                <a:alpha val="13000"/>
              </a:srgbClr>
            </a:outerShdw>
          </a:effectLst>
        </p:spPr>
      </p:sp>
      <p:sp>
        <p:nvSpPr>
          <p:cNvPr id="15" name="Text 12"/>
          <p:cNvSpPr txBox="1"/>
          <p:nvPr/>
        </p:nvSpPr>
        <p:spPr>
          <a:xfrm>
            <a:off x="298094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G2</a:t>
            </a:r>
            <a:endParaRPr lang="en-US" sz="2000" dirty="0"/>
          </a:p>
        </p:txBody>
      </p:sp>
      <p:sp>
        <p:nvSpPr>
          <p:cNvPr id="16" name="Text 13"/>
          <p:cNvSpPr txBox="1"/>
          <p:nvPr/>
        </p:nvSpPr>
        <p:spPr>
          <a:xfrm>
            <a:off x="298094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Research-led reframe</a:t>
            </a:r>
            <a:endParaRPr lang="en-US" sz="1400" dirty="0"/>
          </a:p>
        </p:txBody>
      </p:sp>
      <p:sp>
        <p:nvSpPr>
          <p:cNvPr id="17" name="Text 14"/>
          <p:cNvSpPr txBox="1"/>
          <p:nvPr/>
        </p:nvSpPr>
        <p:spPr>
          <a:xfrm>
            <a:off x="298094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User landscape, journey, persona. The design stopped being aesthetic-led; the goal became trust.</a:t>
            </a:r>
            <a:endParaRPr lang="en-US" sz="1100" dirty="0"/>
          </a:p>
        </p:txBody>
      </p:sp>
      <p:sp>
        <p:nvSpPr>
          <p:cNvPr id="18" name="Shape 15"/>
          <p:cNvSpPr/>
          <p:nvPr/>
        </p:nvSpPr>
        <p:spPr>
          <a:xfrm>
            <a:off x="4983480" y="2103120"/>
            <a:ext cx="2057400" cy="2651760"/>
          </a:xfrm>
          <a:prstGeom prst="roundRect">
            <a:avLst>
              <a:gd name="adj" fmla="val 3556"/>
            </a:avLst>
          </a:prstGeom>
          <a:solidFill>
            <a:srgbClr val="FDE1FD"/>
          </a:solidFill>
          <a:ln/>
          <a:effectLst>
            <a:outerShdw sx="100000" sy="100000" kx="0" ky="0" algn="bl" rotWithShape="0" blurRad="127000" dist="25400" dir="5400000">
              <a:srgbClr val="352E4A">
                <a:alpha val="13000"/>
              </a:srgbClr>
            </a:outerShdw>
          </a:effectLst>
        </p:spPr>
      </p:sp>
      <p:sp>
        <p:nvSpPr>
          <p:cNvPr id="19" name="Text 16"/>
          <p:cNvSpPr txBox="1"/>
          <p:nvPr/>
        </p:nvSpPr>
        <p:spPr>
          <a:xfrm>
            <a:off x="522122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G3</a:t>
            </a:r>
            <a:endParaRPr lang="en-US" sz="2000" dirty="0"/>
          </a:p>
        </p:txBody>
      </p:sp>
      <p:sp>
        <p:nvSpPr>
          <p:cNvPr id="20" name="Text 17"/>
          <p:cNvSpPr txBox="1"/>
          <p:nvPr/>
        </p:nvSpPr>
        <p:spPr>
          <a:xfrm>
            <a:off x="522122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Card-and-arc library</a:t>
            </a:r>
            <a:endParaRPr lang="en-US" sz="1400" dirty="0"/>
          </a:p>
        </p:txBody>
      </p:sp>
      <p:sp>
        <p:nvSpPr>
          <p:cNvPr id="21" name="Text 18"/>
          <p:cNvSpPr txBox="1"/>
          <p:nvPr/>
        </p:nvSpPr>
        <p:spPr>
          <a:xfrm>
            <a:off x="522122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Scattered mockups became one versioned, maintainable component system.</a:t>
            </a:r>
            <a:endParaRPr lang="en-US" sz="1100" dirty="0"/>
          </a:p>
        </p:txBody>
      </p:sp>
      <p:sp>
        <p:nvSpPr>
          <p:cNvPr id="22" name="Shape 19"/>
          <p:cNvSpPr/>
          <p:nvPr/>
        </p:nvSpPr>
        <p:spPr>
          <a:xfrm>
            <a:off x="7223760" y="2103120"/>
            <a:ext cx="2057400" cy="2651760"/>
          </a:xfrm>
          <a:prstGeom prst="roundRect">
            <a:avLst>
              <a:gd name="adj" fmla="val 3556"/>
            </a:avLst>
          </a:prstGeom>
          <a:solidFill>
            <a:srgbClr val="D3CAFF"/>
          </a:solidFill>
          <a:ln/>
          <a:effectLst>
            <a:outerShdw sx="100000" sy="100000" kx="0" ky="0" algn="bl" rotWithShape="0" blurRad="127000" dist="25400" dir="5400000">
              <a:srgbClr val="352E4A">
                <a:alpha val="13000"/>
              </a:srgbClr>
            </a:outerShdw>
          </a:effectLst>
        </p:spPr>
      </p:sp>
      <p:sp>
        <p:nvSpPr>
          <p:cNvPr id="23" name="Text 20"/>
          <p:cNvSpPr txBox="1"/>
          <p:nvPr/>
        </p:nvSpPr>
        <p:spPr>
          <a:xfrm>
            <a:off x="746150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G4</a:t>
            </a:r>
            <a:endParaRPr lang="en-US" sz="2000" dirty="0"/>
          </a:p>
        </p:txBody>
      </p:sp>
      <p:sp>
        <p:nvSpPr>
          <p:cNvPr id="24" name="Text 21"/>
          <p:cNvSpPr txBox="1"/>
          <p:nvPr/>
        </p:nvSpPr>
        <p:spPr>
          <a:xfrm>
            <a:off x="746150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The confidence Engine</a:t>
            </a:r>
            <a:endParaRPr lang="en-US" sz="1400" dirty="0"/>
          </a:p>
        </p:txBody>
      </p:sp>
      <p:sp>
        <p:nvSpPr>
          <p:cNvPr id="25" name="Text 22"/>
          <p:cNvSpPr txBox="1"/>
          <p:nvPr/>
        </p:nvSpPr>
        <p:spPr>
          <a:xfrm>
            <a:off x="746150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Ten directions explored. We dropped the numeric score — against a raw user preference.</a:t>
            </a:r>
            <a:endParaRPr lang="en-US" sz="1100" dirty="0"/>
          </a:p>
        </p:txBody>
      </p:sp>
      <p:sp>
        <p:nvSpPr>
          <p:cNvPr id="26" name="Shape 23"/>
          <p:cNvSpPr/>
          <p:nvPr/>
        </p:nvSpPr>
        <p:spPr>
          <a:xfrm>
            <a:off x="9464040" y="2103120"/>
            <a:ext cx="2057400" cy="2651760"/>
          </a:xfrm>
          <a:prstGeom prst="roundRect">
            <a:avLst>
              <a:gd name="adj" fmla="val 3556"/>
            </a:avLst>
          </a:prstGeom>
          <a:solidFill>
            <a:srgbClr val="CEE7FD"/>
          </a:solidFill>
          <a:ln/>
          <a:effectLst>
            <a:outerShdw sx="100000" sy="100000" kx="0" ky="0" algn="bl" rotWithShape="0" blurRad="127000" dist="25400" dir="5400000">
              <a:srgbClr val="352E4A">
                <a:alpha val="13000"/>
              </a:srgbClr>
            </a:outerShdw>
          </a:effectLst>
        </p:spPr>
      </p:sp>
      <p:sp>
        <p:nvSpPr>
          <p:cNvPr id="27" name="Text 24"/>
          <p:cNvSpPr txBox="1"/>
          <p:nvPr/>
        </p:nvSpPr>
        <p:spPr>
          <a:xfrm>
            <a:off x="9701784" y="2304288"/>
            <a:ext cx="1554480" cy="329184"/>
          </a:xfrm>
          <a:prstGeom prst="rect">
            <a:avLst/>
          </a:prstGeom>
          <a:noFill/>
          <a:ln/>
        </p:spPr>
        <p:txBody>
          <a:bodyPr wrap="square" lIns="0" tIns="0" rIns="0" bIns="0" rtlCol="0" anchor="ctr"/>
          <a:lstStyle/>
          <a:p>
            <a:pPr indent="0" marL="0">
              <a:buNone/>
            </a:pPr>
            <a:r>
              <a:rPr lang="en-US" sz="2000" b="1" dirty="0">
                <a:solidFill>
                  <a:srgbClr val="800080"/>
                </a:solidFill>
                <a:latin typeface="Space Grotesk" pitchFamily="34" charset="0"/>
                <a:ea typeface="Space Grotesk" pitchFamily="34" charset="-122"/>
                <a:cs typeface="Space Grotesk" pitchFamily="34" charset="-120"/>
              </a:rPr>
              <a:t>G5</a:t>
            </a:r>
            <a:endParaRPr lang="en-US" sz="2000" dirty="0"/>
          </a:p>
        </p:txBody>
      </p:sp>
      <p:sp>
        <p:nvSpPr>
          <p:cNvPr id="28" name="Text 25"/>
          <p:cNvSpPr txBox="1"/>
          <p:nvPr/>
        </p:nvSpPr>
        <p:spPr>
          <a:xfrm>
            <a:off x="9701784" y="2706624"/>
            <a:ext cx="1600200" cy="548640"/>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Inline transparency</a:t>
            </a:r>
            <a:endParaRPr lang="en-US" sz="1400" dirty="0"/>
          </a:p>
        </p:txBody>
      </p:sp>
      <p:sp>
        <p:nvSpPr>
          <p:cNvPr id="29" name="Text 26"/>
          <p:cNvSpPr txBox="1"/>
          <p:nvPr/>
        </p:nvSpPr>
        <p:spPr>
          <a:xfrm>
            <a:off x="9701784" y="3291840"/>
            <a:ext cx="1600200" cy="128016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From a colour “rainbow” to status icons and keyword highlights, so the tags are discoverable.</a:t>
            </a:r>
            <a:endParaRPr lang="en-US" sz="1100" dirty="0"/>
          </a:p>
        </p:txBody>
      </p:sp>
      <p:sp>
        <p:nvSpPr>
          <p:cNvPr id="30" name="Shape 27"/>
          <p:cNvSpPr/>
          <p:nvPr/>
        </p:nvSpPr>
        <p:spPr>
          <a:xfrm>
            <a:off x="502920" y="5029200"/>
            <a:ext cx="11183112" cy="1133856"/>
          </a:xfrm>
          <a:prstGeom prst="roundRect">
            <a:avLst>
              <a:gd name="adj" fmla="val 6452"/>
            </a:avLst>
          </a:prstGeom>
          <a:solidFill>
            <a:srgbClr val="11256A"/>
          </a:solidFill>
          <a:ln/>
        </p:spPr>
      </p:sp>
      <p:sp>
        <p:nvSpPr>
          <p:cNvPr id="31" name="Text 28"/>
          <p:cNvSpPr txBox="1"/>
          <p:nvPr/>
        </p:nvSpPr>
        <p:spPr>
          <a:xfrm>
            <a:off x="868680" y="5029200"/>
            <a:ext cx="10451592" cy="1133856"/>
          </a:xfrm>
          <a:prstGeom prst="rect">
            <a:avLst/>
          </a:prstGeom>
          <a:noFill/>
          <a:ln/>
        </p:spPr>
        <p:txBody>
          <a:bodyPr wrap="square" lIns="0" tIns="0" rIns="0" bIns="0" rtlCol="0" anchor="ctr"/>
          <a:lstStyle/>
          <a:p>
            <a:pPr indent="0" marL="0">
              <a:lnSpc>
                <a:spcPct val="130000"/>
              </a:lnSpc>
              <a:buNone/>
            </a:pPr>
            <a:r>
              <a:rPr lang="en-US" sz="1250" b="1" dirty="0">
                <a:solidFill>
                  <a:srgbClr val="FFFFFF"/>
                </a:solidFill>
                <a:latin typeface="Inter" pitchFamily="34" charset="0"/>
                <a:ea typeface="Inter" pitchFamily="34" charset="-122"/>
                <a:cs typeface="Inter" pitchFamily="34" charset="-120"/>
              </a:rPr>
              <a:t>Grounded in primary research: </a:t>
            </a:r>
            <a:pPr indent="0" marL="0">
              <a:lnSpc>
                <a:spcPct val="130000"/>
              </a:lnSpc>
              <a:buNone/>
            </a:pPr>
            <a:r>
              <a:rPr lang="en-US" sz="1250" dirty="0">
                <a:solidFill>
                  <a:srgbClr val="E8E2FF"/>
                </a:solidFill>
                <a:latin typeface="Inter" pitchFamily="34" charset="0"/>
                <a:ea typeface="Inter" pitchFamily="34" charset="-122"/>
                <a:cs typeface="Inter" pitchFamily="34" charset="-120"/>
              </a:rPr>
              <a:t>an 18-response study, a 100-response Prolific study, roughly 30 interviews and an 86-participant A/B test.</a:t>
            </a:r>
            <a:endParaRPr lang="en-US" sz="1250" dirty="0"/>
          </a:p>
          <a:p>
            <a:pPr indent="0" marL="0">
              <a:lnSpc>
                <a:spcPct val="130000"/>
              </a:lnSpc>
              <a:buNone/>
            </a:pPr>
            <a:r>
              <a:rPr lang="en-US" sz="1250" dirty="0">
                <a:solidFill>
                  <a:srgbClr val="E8E2FF"/>
                </a:solidFill>
                <a:latin typeface="Inter" pitchFamily="34" charset="0"/>
                <a:ea typeface="Inter" pitchFamily="34" charset="-122"/>
                <a:cs typeface="Inter" pitchFamily="34" charset="-120"/>
              </a:rPr>
              <a:t>Advised by </a:t>
            </a:r>
            <a:pPr indent="0" marL="0">
              <a:lnSpc>
                <a:spcPct val="130000"/>
              </a:lnSpc>
              <a:buNone/>
            </a:pPr>
            <a:r>
              <a:rPr lang="en-US" sz="1250" b="1" dirty="0">
                <a:solidFill>
                  <a:srgbClr val="C9FA85"/>
                </a:solidFill>
                <a:latin typeface="Inter" pitchFamily="34" charset="0"/>
                <a:ea typeface="Inter" pitchFamily="34" charset="-122"/>
                <a:cs typeface="Inter" pitchFamily="34" charset="-120"/>
              </a:rPr>
              <a:t>Prof. Ajay Joneja</a:t>
            </a:r>
            <a:pPr indent="0" marL="0">
              <a:lnSpc>
                <a:spcPct val="130000"/>
              </a:lnSpc>
              <a:buNone/>
            </a:pPr>
            <a:r>
              <a:rPr lang="en-US" sz="1250" dirty="0">
                <a:solidFill>
                  <a:srgbClr val="E8E2FF"/>
                </a:solidFill>
                <a:latin typeface="Inter" pitchFamily="34" charset="0"/>
                <a:ea typeface="Inter" pitchFamily="34" charset="-122"/>
                <a:cs typeface="Inter" pitchFamily="34" charset="-120"/>
              </a:rPr>
              <a:t> on product development and </a:t>
            </a:r>
            <a:pPr indent="0" marL="0">
              <a:lnSpc>
                <a:spcPct val="130000"/>
              </a:lnSpc>
              <a:buNone/>
            </a:pPr>
            <a:r>
              <a:rPr lang="en-US" sz="1250" b="1" dirty="0">
                <a:solidFill>
                  <a:srgbClr val="C9FA85"/>
                </a:solidFill>
                <a:latin typeface="Inter" pitchFamily="34" charset="0"/>
                <a:ea typeface="Inter" pitchFamily="34" charset="-122"/>
                <a:cs typeface="Inter" pitchFamily="34" charset="-120"/>
              </a:rPr>
              <a:t>Prof. Erwin Huang</a:t>
            </a:r>
            <a:pPr indent="0" marL="0">
              <a:lnSpc>
                <a:spcPct val="130000"/>
              </a:lnSpc>
              <a:buNone/>
            </a:pPr>
            <a:r>
              <a:rPr lang="en-US" sz="1250" dirty="0">
                <a:solidFill>
                  <a:srgbClr val="E8E2FF"/>
                </a:solidFill>
                <a:latin typeface="Inter" pitchFamily="34" charset="0"/>
                <a:ea typeface="Inter" pitchFamily="34" charset="-122"/>
                <a:cs typeface="Inter" pitchFamily="34" charset="-120"/>
              </a:rPr>
              <a:t> on AI and retrieval-augmented generation.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EE7FD"/>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EVIDENCE · ENGINEERING VALIDATION</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It is validated, not just demonstrated</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4</a:t>
            </a:r>
            <a:endParaRPr lang="en-US" sz="950" dirty="0"/>
          </a:p>
        </p:txBody>
      </p:sp>
      <p:sp>
        <p:nvSpPr>
          <p:cNvPr id="10" name="Text 7"/>
          <p:cNvSpPr txBox="1"/>
          <p:nvPr/>
        </p:nvSpPr>
        <p:spPr>
          <a:xfrm>
            <a:off x="502920" y="2103120"/>
            <a:ext cx="11183112" cy="310896"/>
          </a:xfrm>
          <a:prstGeom prst="rect">
            <a:avLst/>
          </a:prstGeom>
          <a:noFill/>
          <a:ln/>
        </p:spPr>
        <p:txBody>
          <a:bodyPr wrap="square" lIns="0" tIns="0" rIns="0" bIns="0" rtlCol="0" anchor="ctr"/>
          <a:lstStyle/>
          <a:p>
            <a:pPr indent="0" marL="0">
              <a:buNone/>
            </a:pPr>
            <a:r>
              <a:rPr lang="en-US" sz="1300" dirty="0">
                <a:solidFill>
                  <a:srgbClr val="352E4A"/>
                </a:solidFill>
                <a:latin typeface="Inter" pitchFamily="34" charset="0"/>
                <a:ea typeface="Inter" pitchFamily="34" charset="-122"/>
                <a:cs typeface="Inter" pitchFamily="34" charset="-120"/>
              </a:rPr>
              <a:t>Four documented stress-test passes over the pipeline in June, plus a controlled A/B test of the trust features.</a:t>
            </a:r>
            <a:endParaRPr lang="en-US" sz="1300" dirty="0"/>
          </a:p>
        </p:txBody>
      </p:sp>
      <p:sp>
        <p:nvSpPr>
          <p:cNvPr id="11" name="Shape 8"/>
          <p:cNvSpPr/>
          <p:nvPr/>
        </p:nvSpPr>
        <p:spPr>
          <a:xfrm>
            <a:off x="502920" y="2578608"/>
            <a:ext cx="3383280" cy="1517904"/>
          </a:xfrm>
          <a:prstGeom prst="roundRect">
            <a:avLst>
              <a:gd name="adj" fmla="val 4819"/>
            </a:avLst>
          </a:prstGeom>
          <a:solidFill>
            <a:srgbClr val="D3CAFF"/>
          </a:solidFill>
          <a:ln/>
          <a:effectLst>
            <a:outerShdw sx="100000" sy="100000" kx="0" ky="0" algn="bl" rotWithShape="0" blurRad="127000" dist="25400" dir="5400000">
              <a:srgbClr val="352E4A">
                <a:alpha val="13000"/>
              </a:srgbClr>
            </a:outerShdw>
          </a:effectLst>
        </p:spPr>
      </p:sp>
      <p:sp>
        <p:nvSpPr>
          <p:cNvPr id="12" name="Text 9"/>
          <p:cNvSpPr txBox="1"/>
          <p:nvPr/>
        </p:nvSpPr>
        <p:spPr>
          <a:xfrm>
            <a:off x="777240" y="2724912"/>
            <a:ext cx="2834640" cy="566928"/>
          </a:xfrm>
          <a:prstGeom prst="rect">
            <a:avLst/>
          </a:prstGeom>
          <a:noFill/>
          <a:ln/>
        </p:spPr>
        <p:txBody>
          <a:bodyPr wrap="square" lIns="0" tIns="0" rIns="0" bIns="0" rtlCol="0" anchor="ctr"/>
          <a:lstStyle/>
          <a:p>
            <a:pPr indent="0" marL="0">
              <a:buNone/>
            </a:pPr>
            <a:r>
              <a:rPr lang="en-US" sz="3200" b="1" dirty="0">
                <a:solidFill>
                  <a:srgbClr val="11256A"/>
                </a:solidFill>
                <a:latin typeface="Space Grotesk" pitchFamily="34" charset="0"/>
                <a:ea typeface="Space Grotesk" pitchFamily="34" charset="-122"/>
                <a:cs typeface="Space Grotesk" pitchFamily="34" charset="-120"/>
              </a:rPr>
              <a:t>~85%</a:t>
            </a:r>
            <a:endParaRPr lang="en-US" sz="3200" dirty="0"/>
          </a:p>
        </p:txBody>
      </p:sp>
      <p:sp>
        <p:nvSpPr>
          <p:cNvPr id="13" name="Text 10"/>
          <p:cNvSpPr txBox="1"/>
          <p:nvPr/>
        </p:nvSpPr>
        <p:spPr>
          <a:xfrm>
            <a:off x="777240" y="3346704"/>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would switch to the transparent version — 73 of 86 A/B participants</a:t>
            </a:r>
            <a:endParaRPr lang="en-US" sz="1150" dirty="0"/>
          </a:p>
        </p:txBody>
      </p:sp>
      <p:sp>
        <p:nvSpPr>
          <p:cNvPr id="14" name="Shape 11"/>
          <p:cNvSpPr/>
          <p:nvPr/>
        </p:nvSpPr>
        <p:spPr>
          <a:xfrm>
            <a:off x="4270248" y="2578608"/>
            <a:ext cx="3383280" cy="1517904"/>
          </a:xfrm>
          <a:prstGeom prst="roundRect">
            <a:avLst>
              <a:gd name="adj" fmla="val 4819"/>
            </a:avLst>
          </a:prstGeom>
          <a:solidFill>
            <a:srgbClr val="CEE7FD"/>
          </a:solidFill>
          <a:ln/>
          <a:effectLst>
            <a:outerShdw sx="100000" sy="100000" kx="0" ky="0" algn="bl" rotWithShape="0" blurRad="127000" dist="25400" dir="5400000">
              <a:srgbClr val="352E4A">
                <a:alpha val="13000"/>
              </a:srgbClr>
            </a:outerShdw>
          </a:effectLst>
        </p:spPr>
      </p:sp>
      <p:sp>
        <p:nvSpPr>
          <p:cNvPr id="15" name="Text 12"/>
          <p:cNvSpPr txBox="1"/>
          <p:nvPr/>
        </p:nvSpPr>
        <p:spPr>
          <a:xfrm>
            <a:off x="4544568" y="2724912"/>
            <a:ext cx="2834640" cy="566928"/>
          </a:xfrm>
          <a:prstGeom prst="rect">
            <a:avLst/>
          </a:prstGeom>
          <a:noFill/>
          <a:ln/>
        </p:spPr>
        <p:txBody>
          <a:bodyPr wrap="square" lIns="0" tIns="0" rIns="0" bIns="0" rtlCol="0" anchor="ctr"/>
          <a:lstStyle/>
          <a:p>
            <a:pPr indent="0" marL="0">
              <a:buNone/>
            </a:pPr>
            <a:r>
              <a:rPr lang="en-US" sz="3200" b="1" dirty="0">
                <a:solidFill>
                  <a:srgbClr val="800080"/>
                </a:solidFill>
                <a:latin typeface="Space Grotesk" pitchFamily="34" charset="0"/>
                <a:ea typeface="Space Grotesk" pitchFamily="34" charset="-122"/>
                <a:cs typeface="Space Grotesk" pitchFamily="34" charset="-120"/>
              </a:rPr>
              <a:t>~88%</a:t>
            </a:r>
            <a:endParaRPr lang="en-US" sz="3200" dirty="0"/>
          </a:p>
        </p:txBody>
      </p:sp>
      <p:sp>
        <p:nvSpPr>
          <p:cNvPr id="16" name="Text 13"/>
          <p:cNvSpPr txBox="1"/>
          <p:nvPr/>
        </p:nvSpPr>
        <p:spPr>
          <a:xfrm>
            <a:off x="4544568" y="3346704"/>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rated a visibly shown trust indicator as important</a:t>
            </a:r>
            <a:endParaRPr lang="en-US" sz="1150" dirty="0"/>
          </a:p>
        </p:txBody>
      </p:sp>
      <p:sp>
        <p:nvSpPr>
          <p:cNvPr id="17" name="Shape 14"/>
          <p:cNvSpPr/>
          <p:nvPr/>
        </p:nvSpPr>
        <p:spPr>
          <a:xfrm>
            <a:off x="8037576" y="2578608"/>
            <a:ext cx="3383280" cy="1517904"/>
          </a:xfrm>
          <a:prstGeom prst="roundRect">
            <a:avLst>
              <a:gd name="adj" fmla="val 4819"/>
            </a:avLst>
          </a:prstGeom>
          <a:solidFill>
            <a:srgbClr val="FDE1FD"/>
          </a:solidFill>
          <a:ln/>
          <a:effectLst>
            <a:outerShdw sx="100000" sy="100000" kx="0" ky="0" algn="bl" rotWithShape="0" blurRad="127000" dist="25400" dir="5400000">
              <a:srgbClr val="352E4A">
                <a:alpha val="13000"/>
              </a:srgbClr>
            </a:outerShdw>
          </a:effectLst>
        </p:spPr>
      </p:sp>
      <p:sp>
        <p:nvSpPr>
          <p:cNvPr id="18" name="Text 15"/>
          <p:cNvSpPr txBox="1"/>
          <p:nvPr/>
        </p:nvSpPr>
        <p:spPr>
          <a:xfrm>
            <a:off x="8311896" y="2724912"/>
            <a:ext cx="2834640" cy="566928"/>
          </a:xfrm>
          <a:prstGeom prst="rect">
            <a:avLst/>
          </a:prstGeom>
          <a:noFill/>
          <a:ln/>
        </p:spPr>
        <p:txBody>
          <a:bodyPr wrap="square" lIns="0" tIns="0" rIns="0" bIns="0" rtlCol="0" anchor="ctr"/>
          <a:lstStyle/>
          <a:p>
            <a:pPr indent="0" marL="0">
              <a:buNone/>
            </a:pPr>
            <a:r>
              <a:rPr lang="en-US" sz="3200" b="1" dirty="0">
                <a:solidFill>
                  <a:srgbClr val="667DFF"/>
                </a:solidFill>
                <a:latin typeface="Space Grotesk" pitchFamily="34" charset="0"/>
                <a:ea typeface="Space Grotesk" pitchFamily="34" charset="-122"/>
                <a:cs typeface="Space Grotesk" pitchFamily="34" charset="-120"/>
              </a:rPr>
              <a:t>22 → 11</a:t>
            </a:r>
            <a:endParaRPr lang="en-US" sz="3200" dirty="0"/>
          </a:p>
        </p:txBody>
      </p:sp>
      <p:sp>
        <p:nvSpPr>
          <p:cNvPr id="19" name="Text 16"/>
          <p:cNvSpPr txBox="1"/>
          <p:nvPr/>
        </p:nvSpPr>
        <p:spPr>
          <a:xfrm>
            <a:off x="8311896" y="3346704"/>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story arcs: the taxonomy converged and stabilised, with no loss of coverage</a:t>
            </a:r>
            <a:endParaRPr lang="en-US" sz="1150" dirty="0"/>
          </a:p>
        </p:txBody>
      </p:sp>
      <p:sp>
        <p:nvSpPr>
          <p:cNvPr id="20" name="Shape 17"/>
          <p:cNvSpPr/>
          <p:nvPr/>
        </p:nvSpPr>
        <p:spPr>
          <a:xfrm>
            <a:off x="502920" y="4279392"/>
            <a:ext cx="3383280" cy="1517904"/>
          </a:xfrm>
          <a:prstGeom prst="roundRect">
            <a:avLst>
              <a:gd name="adj" fmla="val 4819"/>
            </a:avLst>
          </a:prstGeom>
          <a:solidFill>
            <a:srgbClr val="CEE7FD"/>
          </a:solidFill>
          <a:ln/>
          <a:effectLst>
            <a:outerShdw sx="100000" sy="100000" kx="0" ky="0" algn="bl" rotWithShape="0" blurRad="127000" dist="25400" dir="5400000">
              <a:srgbClr val="352E4A">
                <a:alpha val="13000"/>
              </a:srgbClr>
            </a:outerShdw>
          </a:effectLst>
        </p:spPr>
      </p:sp>
      <p:sp>
        <p:nvSpPr>
          <p:cNvPr id="21" name="Text 18"/>
          <p:cNvSpPr txBox="1"/>
          <p:nvPr/>
        </p:nvSpPr>
        <p:spPr>
          <a:xfrm>
            <a:off x="777240" y="4425696"/>
            <a:ext cx="2834640" cy="566928"/>
          </a:xfrm>
          <a:prstGeom prst="rect">
            <a:avLst/>
          </a:prstGeom>
          <a:noFill/>
          <a:ln/>
        </p:spPr>
        <p:txBody>
          <a:bodyPr wrap="square" lIns="0" tIns="0" rIns="0" bIns="0" rtlCol="0" anchor="ctr"/>
          <a:lstStyle/>
          <a:p>
            <a:pPr indent="0" marL="0">
              <a:buNone/>
            </a:pPr>
            <a:r>
              <a:rPr lang="en-US" sz="3200" b="1" dirty="0">
                <a:solidFill>
                  <a:srgbClr val="11256A"/>
                </a:solidFill>
                <a:latin typeface="Space Grotesk" pitchFamily="34" charset="0"/>
                <a:ea typeface="Space Grotesk" pitchFamily="34" charset="-122"/>
                <a:cs typeface="Space Grotesk" pitchFamily="34" charset="-120"/>
              </a:rPr>
              <a:t>17.8</a:t>
            </a:r>
            <a:endParaRPr lang="en-US" sz="3200" dirty="0"/>
          </a:p>
        </p:txBody>
      </p:sp>
      <p:sp>
        <p:nvSpPr>
          <p:cNvPr id="22" name="Text 19"/>
          <p:cNvSpPr txBox="1"/>
          <p:nvPr/>
        </p:nvSpPr>
        <p:spPr>
          <a:xfrm>
            <a:off x="777240" y="5047488"/>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out of 20 on card quality, against a clarity, structure and completeness rubric</a:t>
            </a:r>
            <a:endParaRPr lang="en-US" sz="1150" dirty="0"/>
          </a:p>
        </p:txBody>
      </p:sp>
      <p:sp>
        <p:nvSpPr>
          <p:cNvPr id="23" name="Shape 20"/>
          <p:cNvSpPr/>
          <p:nvPr/>
        </p:nvSpPr>
        <p:spPr>
          <a:xfrm>
            <a:off x="4270248" y="4279392"/>
            <a:ext cx="3383280" cy="1517904"/>
          </a:xfrm>
          <a:prstGeom prst="roundRect">
            <a:avLst>
              <a:gd name="adj" fmla="val 4819"/>
            </a:avLst>
          </a:prstGeom>
          <a:solidFill>
            <a:srgbClr val="FDE1FD"/>
          </a:solidFill>
          <a:ln/>
          <a:effectLst>
            <a:outerShdw sx="100000" sy="100000" kx="0" ky="0" algn="bl" rotWithShape="0" blurRad="127000" dist="25400" dir="5400000">
              <a:srgbClr val="352E4A">
                <a:alpha val="13000"/>
              </a:srgbClr>
            </a:outerShdw>
          </a:effectLst>
        </p:spPr>
      </p:sp>
      <p:sp>
        <p:nvSpPr>
          <p:cNvPr id="24" name="Text 21"/>
          <p:cNvSpPr txBox="1"/>
          <p:nvPr/>
        </p:nvSpPr>
        <p:spPr>
          <a:xfrm>
            <a:off x="4544568" y="4425696"/>
            <a:ext cx="2834640" cy="566928"/>
          </a:xfrm>
          <a:prstGeom prst="rect">
            <a:avLst/>
          </a:prstGeom>
          <a:noFill/>
          <a:ln/>
        </p:spPr>
        <p:txBody>
          <a:bodyPr wrap="square" lIns="0" tIns="0" rIns="0" bIns="0" rtlCol="0" anchor="ctr"/>
          <a:lstStyle/>
          <a:p>
            <a:pPr indent="0" marL="0">
              <a:buNone/>
            </a:pPr>
            <a:r>
              <a:rPr lang="en-US" sz="3200" b="1" dirty="0">
                <a:solidFill>
                  <a:srgbClr val="800080"/>
                </a:solidFill>
                <a:latin typeface="Space Grotesk" pitchFamily="34" charset="0"/>
                <a:ea typeface="Space Grotesk" pitchFamily="34" charset="-122"/>
                <a:cs typeface="Space Grotesk" pitchFamily="34" charset="-120"/>
              </a:rPr>
              <a:t>PASS</a:t>
            </a:r>
            <a:endParaRPr lang="en-US" sz="3200" dirty="0"/>
          </a:p>
        </p:txBody>
      </p:sp>
      <p:sp>
        <p:nvSpPr>
          <p:cNvPr id="25" name="Text 22"/>
          <p:cNvSpPr txBox="1"/>
          <p:nvPr/>
        </p:nvSpPr>
        <p:spPr>
          <a:xfrm>
            <a:off x="4544568" y="5047488"/>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lifecycle and hallucination resistance — it reports “no developments” rather than inventing them</a:t>
            </a:r>
            <a:endParaRPr lang="en-US" sz="1150" dirty="0"/>
          </a:p>
        </p:txBody>
      </p:sp>
      <p:sp>
        <p:nvSpPr>
          <p:cNvPr id="26" name="Shape 23"/>
          <p:cNvSpPr/>
          <p:nvPr/>
        </p:nvSpPr>
        <p:spPr>
          <a:xfrm>
            <a:off x="8037576" y="4279392"/>
            <a:ext cx="3383280" cy="1517904"/>
          </a:xfrm>
          <a:prstGeom prst="roundRect">
            <a:avLst>
              <a:gd name="adj" fmla="val 4819"/>
            </a:avLst>
          </a:prstGeom>
          <a:solidFill>
            <a:srgbClr val="D3CAFF"/>
          </a:solidFill>
          <a:ln/>
          <a:effectLst>
            <a:outerShdw sx="100000" sy="100000" kx="0" ky="0" algn="bl" rotWithShape="0" blurRad="127000" dist="25400" dir="5400000">
              <a:srgbClr val="352E4A">
                <a:alpha val="13000"/>
              </a:srgbClr>
            </a:outerShdw>
          </a:effectLst>
        </p:spPr>
      </p:sp>
      <p:sp>
        <p:nvSpPr>
          <p:cNvPr id="27" name="Text 24"/>
          <p:cNvSpPr txBox="1"/>
          <p:nvPr/>
        </p:nvSpPr>
        <p:spPr>
          <a:xfrm>
            <a:off x="8311896" y="4425696"/>
            <a:ext cx="2834640" cy="566928"/>
          </a:xfrm>
          <a:prstGeom prst="rect">
            <a:avLst/>
          </a:prstGeom>
          <a:noFill/>
          <a:ln/>
        </p:spPr>
        <p:txBody>
          <a:bodyPr wrap="square" lIns="0" tIns="0" rIns="0" bIns="0" rtlCol="0" anchor="ctr"/>
          <a:lstStyle/>
          <a:p>
            <a:pPr indent="0" marL="0">
              <a:buNone/>
            </a:pPr>
            <a:r>
              <a:rPr lang="en-US" sz="3200" b="1" dirty="0">
                <a:solidFill>
                  <a:srgbClr val="667DFF"/>
                </a:solidFill>
                <a:latin typeface="Space Grotesk" pitchFamily="34" charset="0"/>
                <a:ea typeface="Space Grotesk" pitchFamily="34" charset="-122"/>
                <a:cs typeface="Space Grotesk" pitchFamily="34" charset="-120"/>
              </a:rPr>
              <a:t>PASS</a:t>
            </a:r>
            <a:endParaRPr lang="en-US" sz="3200" dirty="0"/>
          </a:p>
        </p:txBody>
      </p:sp>
      <p:sp>
        <p:nvSpPr>
          <p:cNvPr id="28" name="Text 25"/>
          <p:cNvSpPr txBox="1"/>
          <p:nvPr/>
        </p:nvSpPr>
        <p:spPr>
          <a:xfrm>
            <a:off x="8311896" y="5047488"/>
            <a:ext cx="2834640" cy="621792"/>
          </a:xfrm>
          <a:prstGeom prst="rect">
            <a:avLst/>
          </a:prstGeom>
          <a:noFill/>
          <a:ln/>
        </p:spPr>
        <p:txBody>
          <a:bodyPr wrap="square" lIns="0" tIns="0" rIns="0" bIns="0" rtlCol="0" anchor="t"/>
          <a:lstStyle/>
          <a:p>
            <a:pPr indent="0" marL="0">
              <a:lnSpc>
                <a:spcPct val="112000"/>
              </a:lnSpc>
              <a:buNone/>
            </a:pPr>
            <a:r>
              <a:rPr lang="en-US" sz="1150" dirty="0">
                <a:solidFill>
                  <a:srgbClr val="352E4A"/>
                </a:solidFill>
                <a:latin typeface="Inter" pitchFamily="34" charset="0"/>
                <a:ea typeface="Inter" pitchFamily="34" charset="-122"/>
                <a:cs typeface="Inter" pitchFamily="34" charset="-120"/>
              </a:rPr>
              <a:t>voice layer across 144 renderings, with the facts preserved verbatim</a:t>
            </a:r>
            <a:endParaRPr lang="en-US" sz="1150" dirty="0"/>
          </a:p>
        </p:txBody>
      </p:sp>
      <p:sp>
        <p:nvSpPr>
          <p:cNvPr id="29" name="Text 26"/>
          <p:cNvSpPr txBox="1"/>
          <p:nvPr/>
        </p:nvSpPr>
        <p:spPr>
          <a:xfrm>
            <a:off x="502920" y="5943600"/>
            <a:ext cx="11183112" cy="310896"/>
          </a:xfrm>
          <a:prstGeom prst="rect">
            <a:avLst/>
          </a:prstGeom>
          <a:noFill/>
          <a:ln/>
        </p:spPr>
        <p:txBody>
          <a:bodyPr wrap="square" lIns="0" tIns="0" rIns="0" bIns="0" rtlCol="0" anchor="ctr"/>
          <a:lstStyle/>
          <a:p>
            <a:pPr indent="0" marL="0">
              <a:buNone/>
            </a:pPr>
            <a:r>
              <a:rPr lang="en-US" sz="1000" dirty="0">
                <a:solidFill>
                  <a:srgbClr val="6E6787"/>
                </a:solidFill>
                <a:latin typeface="Inter" pitchFamily="34" charset="0"/>
                <a:ea typeface="Inter" pitchFamily="34" charset="-122"/>
                <a:cs typeface="Inter" pitchFamily="34" charset="-120"/>
              </a:rPr>
              <a:t>Reported honestly: the card-quality figure is a best-and-worst-per-arc sample scored by the model itself, and the lifecycle pass rests on three tracked stories. They are directional baselines and regression bars, not exhaustive proof.</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EE7FD"/>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TRACTION · JUDGED OUTSIDE HKUST</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Tested well beyond the coursework</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5</a:t>
            </a:r>
            <a:endParaRPr lang="en-US" sz="950" dirty="0"/>
          </a:p>
        </p:txBody>
      </p:sp>
      <p:sp>
        <p:nvSpPr>
          <p:cNvPr id="10" name="Shape 7"/>
          <p:cNvSpPr/>
          <p:nvPr/>
        </p:nvSpPr>
        <p:spPr>
          <a:xfrm>
            <a:off x="502920" y="2103120"/>
            <a:ext cx="2551176" cy="1463040"/>
          </a:xfrm>
          <a:prstGeom prst="roundRect">
            <a:avLst>
              <a:gd name="adj" fmla="val 5000"/>
            </a:avLst>
          </a:prstGeom>
          <a:solidFill>
            <a:srgbClr val="D3CAFF"/>
          </a:solidFill>
          <a:ln/>
          <a:effectLst>
            <a:outerShdw sx="100000" sy="100000" kx="0" ky="0" algn="bl" rotWithShape="0" blurRad="127000" dist="25400" dir="5400000">
              <a:srgbClr val="352E4A">
                <a:alpha val="13000"/>
              </a:srgbClr>
            </a:outerShdw>
          </a:effectLst>
        </p:spPr>
      </p:sp>
      <p:sp>
        <p:nvSpPr>
          <p:cNvPr id="11" name="Text 8"/>
          <p:cNvSpPr txBox="1"/>
          <p:nvPr/>
        </p:nvSpPr>
        <p:spPr>
          <a:xfrm>
            <a:off x="758952" y="2377440"/>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Techathon+ 2026</a:t>
            </a:r>
            <a:endParaRPr lang="en-US" sz="1400" dirty="0"/>
          </a:p>
        </p:txBody>
      </p:sp>
      <p:sp>
        <p:nvSpPr>
          <p:cNvPr id="12" name="Text 9"/>
          <p:cNvSpPr txBox="1"/>
          <p:nvPr/>
        </p:nvSpPr>
        <p:spPr>
          <a:xfrm>
            <a:off x="758952" y="2944368"/>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Silver Award — Trusted AI and Data Science</a:t>
            </a:r>
            <a:endParaRPr lang="en-US" sz="1150" dirty="0"/>
          </a:p>
        </p:txBody>
      </p:sp>
      <p:sp>
        <p:nvSpPr>
          <p:cNvPr id="13" name="Shape 10"/>
          <p:cNvSpPr/>
          <p:nvPr/>
        </p:nvSpPr>
        <p:spPr>
          <a:xfrm>
            <a:off x="3328416" y="2103120"/>
            <a:ext cx="2551176" cy="1463040"/>
          </a:xfrm>
          <a:prstGeom prst="roundRect">
            <a:avLst>
              <a:gd name="adj" fmla="val 5000"/>
            </a:avLst>
          </a:prstGeom>
          <a:solidFill>
            <a:srgbClr val="CEE7FD"/>
          </a:solidFill>
          <a:ln/>
          <a:effectLst>
            <a:outerShdw sx="100000" sy="100000" kx="0" ky="0" algn="bl" rotWithShape="0" blurRad="127000" dist="25400" dir="5400000">
              <a:srgbClr val="352E4A">
                <a:alpha val="13000"/>
              </a:srgbClr>
            </a:outerShdw>
          </a:effectLst>
        </p:spPr>
      </p:sp>
      <p:sp>
        <p:nvSpPr>
          <p:cNvPr id="14" name="Text 11"/>
          <p:cNvSpPr txBox="1"/>
          <p:nvPr/>
        </p:nvSpPr>
        <p:spPr>
          <a:xfrm>
            <a:off x="3584448" y="2377440"/>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NewsFlick Limited</a:t>
            </a:r>
            <a:endParaRPr lang="en-US" sz="1400" dirty="0"/>
          </a:p>
        </p:txBody>
      </p:sp>
      <p:sp>
        <p:nvSpPr>
          <p:cNvPr id="15" name="Text 12"/>
          <p:cNvSpPr txBox="1"/>
          <p:nvPr/>
        </p:nvSpPr>
        <p:spPr>
          <a:xfrm>
            <a:off x="3584448" y="2944368"/>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Incorporated</a:t>
            </a:r>
            <a:endParaRPr lang="en-US" sz="1150" dirty="0"/>
          </a:p>
        </p:txBody>
      </p:sp>
      <p:sp>
        <p:nvSpPr>
          <p:cNvPr id="16" name="Shape 13"/>
          <p:cNvSpPr/>
          <p:nvPr/>
        </p:nvSpPr>
        <p:spPr>
          <a:xfrm>
            <a:off x="6153912" y="2103120"/>
            <a:ext cx="2551176" cy="1463040"/>
          </a:xfrm>
          <a:prstGeom prst="roundRect">
            <a:avLst>
              <a:gd name="adj" fmla="val 5000"/>
            </a:avLst>
          </a:prstGeom>
          <a:solidFill>
            <a:srgbClr val="FDE1FD"/>
          </a:solidFill>
          <a:ln/>
          <a:effectLst>
            <a:outerShdw sx="100000" sy="100000" kx="0" ky="0" algn="bl" rotWithShape="0" blurRad="127000" dist="25400" dir="5400000">
              <a:srgbClr val="352E4A">
                <a:alpha val="13000"/>
              </a:srgbClr>
            </a:outerShdw>
          </a:effectLst>
        </p:spPr>
      </p:sp>
      <p:sp>
        <p:nvSpPr>
          <p:cNvPr id="17" name="Text 14"/>
          <p:cNvSpPr txBox="1"/>
          <p:nvPr/>
        </p:nvSpPr>
        <p:spPr>
          <a:xfrm>
            <a:off x="6409944" y="2377440"/>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Angel / family round</a:t>
            </a:r>
            <a:endParaRPr lang="en-US" sz="1400" dirty="0"/>
          </a:p>
        </p:txBody>
      </p:sp>
      <p:sp>
        <p:nvSpPr>
          <p:cNvPr id="18" name="Text 15"/>
          <p:cNvSpPr txBox="1"/>
          <p:nvPr/>
        </p:nvSpPr>
        <p:spPr>
          <a:xfrm>
            <a:off x="6409944" y="2944368"/>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Closed</a:t>
            </a:r>
            <a:endParaRPr lang="en-US" sz="1150" dirty="0"/>
          </a:p>
        </p:txBody>
      </p:sp>
      <p:sp>
        <p:nvSpPr>
          <p:cNvPr id="19" name="Shape 16"/>
          <p:cNvSpPr/>
          <p:nvPr/>
        </p:nvSpPr>
        <p:spPr>
          <a:xfrm>
            <a:off x="8979408" y="2103120"/>
            <a:ext cx="2551176" cy="1463040"/>
          </a:xfrm>
          <a:prstGeom prst="roundRect">
            <a:avLst>
              <a:gd name="adj" fmla="val 5000"/>
            </a:avLst>
          </a:prstGeom>
          <a:solidFill>
            <a:srgbClr val="F5F2FF"/>
          </a:solidFill>
          <a:ln/>
          <a:effectLst>
            <a:outerShdw sx="100000" sy="100000" kx="0" ky="0" algn="bl" rotWithShape="0" blurRad="127000" dist="25400" dir="5400000">
              <a:srgbClr val="352E4A">
                <a:alpha val="13000"/>
              </a:srgbClr>
            </a:outerShdw>
          </a:effectLst>
        </p:spPr>
      </p:sp>
      <p:sp>
        <p:nvSpPr>
          <p:cNvPr id="20" name="Text 17"/>
          <p:cNvSpPr txBox="1"/>
          <p:nvPr/>
        </p:nvSpPr>
        <p:spPr>
          <a:xfrm>
            <a:off x="9235440" y="2377440"/>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HKUST InnoBay</a:t>
            </a:r>
            <a:endParaRPr lang="en-US" sz="1400" dirty="0"/>
          </a:p>
        </p:txBody>
      </p:sp>
      <p:sp>
        <p:nvSpPr>
          <p:cNvPr id="21" name="Text 18"/>
          <p:cNvSpPr txBox="1"/>
          <p:nvPr/>
        </p:nvSpPr>
        <p:spPr>
          <a:xfrm>
            <a:off x="9235440" y="2944368"/>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2026/27 cohort</a:t>
            </a:r>
            <a:endParaRPr lang="en-US" sz="1150" dirty="0"/>
          </a:p>
        </p:txBody>
      </p:sp>
      <p:sp>
        <p:nvSpPr>
          <p:cNvPr id="22" name="Shape 19"/>
          <p:cNvSpPr/>
          <p:nvPr/>
        </p:nvSpPr>
        <p:spPr>
          <a:xfrm>
            <a:off x="502920" y="3803904"/>
            <a:ext cx="2551176" cy="1463040"/>
          </a:xfrm>
          <a:prstGeom prst="roundRect">
            <a:avLst>
              <a:gd name="adj" fmla="val 5000"/>
            </a:avLst>
          </a:prstGeom>
          <a:solidFill>
            <a:srgbClr val="CEE7FD"/>
          </a:solidFill>
          <a:ln/>
          <a:effectLst>
            <a:outerShdw sx="100000" sy="100000" kx="0" ky="0" algn="bl" rotWithShape="0" blurRad="127000" dist="25400" dir="5400000">
              <a:srgbClr val="352E4A">
                <a:alpha val="13000"/>
              </a:srgbClr>
            </a:outerShdw>
          </a:effectLst>
        </p:spPr>
      </p:sp>
      <p:sp>
        <p:nvSpPr>
          <p:cNvPr id="23" name="Text 20"/>
          <p:cNvSpPr txBox="1"/>
          <p:nvPr/>
        </p:nvSpPr>
        <p:spPr>
          <a:xfrm>
            <a:off x="758952" y="4078224"/>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HKSTP Ideation</a:t>
            </a:r>
            <a:endParaRPr lang="en-US" sz="1400" dirty="0"/>
          </a:p>
        </p:txBody>
      </p:sp>
      <p:sp>
        <p:nvSpPr>
          <p:cNvPr id="24" name="Text 21"/>
          <p:cNvSpPr txBox="1"/>
          <p:nvPr/>
        </p:nvSpPr>
        <p:spPr>
          <a:xfrm>
            <a:off x="758952" y="4645152"/>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Programme completed</a:t>
            </a:r>
            <a:endParaRPr lang="en-US" sz="1150" dirty="0"/>
          </a:p>
        </p:txBody>
      </p:sp>
      <p:sp>
        <p:nvSpPr>
          <p:cNvPr id="25" name="Shape 22"/>
          <p:cNvSpPr/>
          <p:nvPr/>
        </p:nvSpPr>
        <p:spPr>
          <a:xfrm>
            <a:off x="3328416" y="3803904"/>
            <a:ext cx="2551176" cy="1463040"/>
          </a:xfrm>
          <a:prstGeom prst="roundRect">
            <a:avLst>
              <a:gd name="adj" fmla="val 5000"/>
            </a:avLst>
          </a:prstGeom>
          <a:solidFill>
            <a:srgbClr val="FDE1FD"/>
          </a:solidFill>
          <a:ln/>
          <a:effectLst>
            <a:outerShdw sx="100000" sy="100000" kx="0" ky="0" algn="bl" rotWithShape="0" blurRad="127000" dist="25400" dir="5400000">
              <a:srgbClr val="352E4A">
                <a:alpha val="13000"/>
              </a:srgbClr>
            </a:outerShdw>
          </a:effectLst>
        </p:spPr>
      </p:sp>
      <p:sp>
        <p:nvSpPr>
          <p:cNvPr id="26" name="Text 23"/>
          <p:cNvSpPr txBox="1"/>
          <p:nvPr/>
        </p:nvSpPr>
        <p:spPr>
          <a:xfrm>
            <a:off x="3584448" y="4078224"/>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HKUST Dream Builder</a:t>
            </a:r>
            <a:endParaRPr lang="en-US" sz="1400" dirty="0"/>
          </a:p>
        </p:txBody>
      </p:sp>
      <p:sp>
        <p:nvSpPr>
          <p:cNvPr id="27" name="Text 24"/>
          <p:cNvSpPr txBox="1"/>
          <p:nvPr/>
        </p:nvSpPr>
        <p:spPr>
          <a:xfrm>
            <a:off x="3584448" y="4645152"/>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Programme completed</a:t>
            </a:r>
            <a:endParaRPr lang="en-US" sz="1150" dirty="0"/>
          </a:p>
        </p:txBody>
      </p:sp>
      <p:sp>
        <p:nvSpPr>
          <p:cNvPr id="28" name="Shape 25"/>
          <p:cNvSpPr/>
          <p:nvPr/>
        </p:nvSpPr>
        <p:spPr>
          <a:xfrm>
            <a:off x="6153912" y="3803904"/>
            <a:ext cx="2551176" cy="1463040"/>
          </a:xfrm>
          <a:prstGeom prst="roundRect">
            <a:avLst>
              <a:gd name="adj" fmla="val 5000"/>
            </a:avLst>
          </a:prstGeom>
          <a:solidFill>
            <a:srgbClr val="F5F2FF"/>
          </a:solidFill>
          <a:ln/>
          <a:effectLst>
            <a:outerShdw sx="100000" sy="100000" kx="0" ky="0" algn="bl" rotWithShape="0" blurRad="127000" dist="25400" dir="5400000">
              <a:srgbClr val="352E4A">
                <a:alpha val="13000"/>
              </a:srgbClr>
            </a:outerShdw>
          </a:effectLst>
        </p:spPr>
      </p:sp>
      <p:sp>
        <p:nvSpPr>
          <p:cNvPr id="29" name="Text 26"/>
          <p:cNvSpPr txBox="1"/>
          <p:nvPr/>
        </p:nvSpPr>
        <p:spPr>
          <a:xfrm>
            <a:off x="6409944" y="4078224"/>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AWS Activate</a:t>
            </a:r>
            <a:endParaRPr lang="en-US" sz="1400" dirty="0"/>
          </a:p>
        </p:txBody>
      </p:sp>
      <p:sp>
        <p:nvSpPr>
          <p:cNvPr id="30" name="Text 27"/>
          <p:cNvSpPr txBox="1"/>
          <p:nvPr/>
        </p:nvSpPr>
        <p:spPr>
          <a:xfrm>
            <a:off x="6409944" y="4645152"/>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Admitted</a:t>
            </a:r>
            <a:endParaRPr lang="en-US" sz="1150" dirty="0"/>
          </a:p>
        </p:txBody>
      </p:sp>
      <p:sp>
        <p:nvSpPr>
          <p:cNvPr id="31" name="Shape 28"/>
          <p:cNvSpPr/>
          <p:nvPr/>
        </p:nvSpPr>
        <p:spPr>
          <a:xfrm>
            <a:off x="8979408" y="3803904"/>
            <a:ext cx="2551176" cy="1463040"/>
          </a:xfrm>
          <a:prstGeom prst="roundRect">
            <a:avLst>
              <a:gd name="adj" fmla="val 5000"/>
            </a:avLst>
          </a:prstGeom>
          <a:solidFill>
            <a:srgbClr val="D3CAFF"/>
          </a:solidFill>
          <a:ln/>
          <a:effectLst>
            <a:outerShdw sx="100000" sy="100000" kx="0" ky="0" algn="bl" rotWithShape="0" blurRad="127000" dist="25400" dir="5400000">
              <a:srgbClr val="352E4A">
                <a:alpha val="13000"/>
              </a:srgbClr>
            </a:outerShdw>
          </a:effectLst>
        </p:spPr>
      </p:sp>
      <p:sp>
        <p:nvSpPr>
          <p:cNvPr id="32" name="Text 29"/>
          <p:cNvSpPr txBox="1"/>
          <p:nvPr/>
        </p:nvSpPr>
        <p:spPr>
          <a:xfrm>
            <a:off x="9235440" y="4078224"/>
            <a:ext cx="2039112" cy="512064"/>
          </a:xfrm>
          <a:prstGeom prst="rect">
            <a:avLst/>
          </a:prstGeom>
          <a:noFill/>
          <a:ln/>
        </p:spPr>
        <p:txBody>
          <a:bodyPr wrap="square" lIns="0" tIns="0" rIns="0" bIns="0" rtlCol="0" anchor="t"/>
          <a:lstStyle/>
          <a:p>
            <a:pPr indent="0" marL="0">
              <a:lnSpc>
                <a:spcPct val="105000"/>
              </a:lnSpc>
              <a:buNone/>
            </a:pPr>
            <a:r>
              <a:rPr lang="en-US" sz="1400" b="1" dirty="0">
                <a:solidFill>
                  <a:srgbClr val="11256A"/>
                </a:solidFill>
                <a:latin typeface="Space Grotesk" pitchFamily="34" charset="0"/>
                <a:ea typeface="Space Grotesk" pitchFamily="34" charset="-122"/>
                <a:cs typeface="Space Grotesk" pitchFamily="34" charset="-120"/>
              </a:rPr>
              <a:t>Provisional patent</a:t>
            </a:r>
            <a:endParaRPr lang="en-US" sz="1400" dirty="0"/>
          </a:p>
        </p:txBody>
      </p:sp>
      <p:sp>
        <p:nvSpPr>
          <p:cNvPr id="33" name="Text 30"/>
          <p:cNvSpPr txBox="1"/>
          <p:nvPr/>
        </p:nvSpPr>
        <p:spPr>
          <a:xfrm>
            <a:off x="9235440" y="4645152"/>
            <a:ext cx="2039112" cy="457200"/>
          </a:xfrm>
          <a:prstGeom prst="rect">
            <a:avLst/>
          </a:prstGeom>
          <a:noFill/>
          <a:ln/>
        </p:spPr>
        <p:txBody>
          <a:bodyPr wrap="square" lIns="0" tIns="0" rIns="0" bIns="0" rtlCol="0" anchor="t"/>
          <a:lstStyle/>
          <a:p>
            <a:pPr indent="0" marL="0">
              <a:lnSpc>
                <a:spcPct val="110000"/>
              </a:lnSpc>
              <a:buNone/>
            </a:pPr>
            <a:r>
              <a:rPr lang="en-US" sz="1150" dirty="0">
                <a:solidFill>
                  <a:srgbClr val="352E4A"/>
                </a:solidFill>
                <a:latin typeface="Inter" pitchFamily="34" charset="0"/>
                <a:ea typeface="Inter" pitchFamily="34" charset="-122"/>
                <a:cs typeface="Inter" pitchFamily="34" charset="-120"/>
              </a:rPr>
              <a:t>In preparation</a:t>
            </a:r>
            <a:endParaRPr lang="en-US" sz="1150" dirty="0"/>
          </a:p>
        </p:txBody>
      </p:sp>
      <p:sp>
        <p:nvSpPr>
          <p:cNvPr id="34" name="Text 31"/>
          <p:cNvSpPr txBox="1"/>
          <p:nvPr/>
        </p:nvSpPr>
        <p:spPr>
          <a:xfrm>
            <a:off x="502920" y="5797296"/>
            <a:ext cx="11183112" cy="365760"/>
          </a:xfrm>
          <a:prstGeom prst="rect">
            <a:avLst/>
          </a:prstGeom>
          <a:noFill/>
          <a:ln/>
        </p:spPr>
        <p:txBody>
          <a:bodyPr wrap="square" lIns="0" tIns="0" rIns="0" bIns="0" rtlCol="0" anchor="ctr"/>
          <a:lstStyle/>
          <a:p>
            <a:pPr indent="0" marL="0">
              <a:buNone/>
            </a:pPr>
            <a:r>
              <a:rPr lang="en-US" sz="1150" dirty="0">
                <a:solidFill>
                  <a:srgbClr val="6E6787"/>
                </a:solidFill>
                <a:latin typeface="Inter" pitchFamily="34" charset="0"/>
                <a:ea typeface="Inter" pitchFamily="34" charset="-122"/>
                <a:cs typeface="Inter" pitchFamily="34" charset="-120"/>
              </a:rPr>
              <a:t>Before all of this, our team won the HKUST-HSBC Social Entrepreneurship Competition in November 2025, with the pill dispenser we designed.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SINCE THE YEAR-3 REPORT · SUMMER 2026</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We did not stop when the course ended</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6</a:t>
            </a:r>
            <a:endParaRPr lang="en-US" sz="950" dirty="0"/>
          </a:p>
        </p:txBody>
      </p:sp>
      <p:sp>
        <p:nvSpPr>
          <p:cNvPr id="10" name="Text 7"/>
          <p:cNvSpPr txBox="1"/>
          <p:nvPr/>
        </p:nvSpPr>
        <p:spPr>
          <a:xfrm>
            <a:off x="502920" y="2103120"/>
            <a:ext cx="11183112" cy="310896"/>
          </a:xfrm>
          <a:prstGeom prst="rect">
            <a:avLst/>
          </a:prstGeom>
          <a:noFill/>
          <a:ln/>
        </p:spPr>
        <p:txBody>
          <a:bodyPr wrap="square" lIns="0" tIns="0" rIns="0" bIns="0" rtlCol="0" anchor="ctr"/>
          <a:lstStyle/>
          <a:p>
            <a:pPr indent="0" marL="0">
              <a:buNone/>
            </a:pPr>
            <a:r>
              <a:rPr lang="en-US" sz="1300" dirty="0">
                <a:solidFill>
                  <a:srgbClr val="352E4A"/>
                </a:solidFill>
                <a:latin typeface="Inter" pitchFamily="34" charset="0"/>
                <a:ea typeface="Inter" pitchFamily="34" charset="-122"/>
                <a:cs typeface="Inter" pitchFamily="34" charset="-120"/>
              </a:rPr>
              <a:t>The three months since ISDN 3002 was submitted and graded.</a:t>
            </a:r>
            <a:endParaRPr lang="en-US" sz="1300" dirty="0"/>
          </a:p>
        </p:txBody>
      </p:sp>
      <p:sp>
        <p:nvSpPr>
          <p:cNvPr id="11" name="Shape 8"/>
          <p:cNvSpPr/>
          <p:nvPr/>
        </p:nvSpPr>
        <p:spPr>
          <a:xfrm>
            <a:off x="502920" y="2615184"/>
            <a:ext cx="3383280" cy="2286000"/>
          </a:xfrm>
          <a:prstGeom prst="roundRect">
            <a:avLst>
              <a:gd name="adj" fmla="val 3200"/>
            </a:avLst>
          </a:prstGeom>
          <a:solidFill>
            <a:srgbClr val="CEE7FD"/>
          </a:solidFill>
          <a:ln/>
          <a:effectLst>
            <a:outerShdw sx="100000" sy="100000" kx="0" ky="0" algn="bl" rotWithShape="0" blurRad="127000" dist="25400" dir="5400000">
              <a:srgbClr val="352E4A">
                <a:alpha val="13000"/>
              </a:srgbClr>
            </a:outerShdw>
          </a:effectLst>
        </p:spPr>
      </p:sp>
      <p:sp>
        <p:nvSpPr>
          <p:cNvPr id="12" name="Text 9"/>
          <p:cNvSpPr txBox="1"/>
          <p:nvPr/>
        </p:nvSpPr>
        <p:spPr>
          <a:xfrm>
            <a:off x="777240" y="2816352"/>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SUMMER 2026</a:t>
            </a:r>
            <a:endParaRPr lang="en-US" sz="950" dirty="0"/>
          </a:p>
        </p:txBody>
      </p:sp>
      <p:sp>
        <p:nvSpPr>
          <p:cNvPr id="13" name="Text 10"/>
          <p:cNvSpPr txBox="1"/>
          <p:nvPr/>
        </p:nvSpPr>
        <p:spPr>
          <a:xfrm>
            <a:off x="777240" y="3108960"/>
            <a:ext cx="2834640" cy="713232"/>
          </a:xfrm>
          <a:prstGeom prst="rect">
            <a:avLst/>
          </a:prstGeom>
          <a:noFill/>
          <a:ln/>
        </p:spPr>
        <p:txBody>
          <a:bodyPr wrap="square" lIns="0" tIns="0" rIns="0" bIns="0" rtlCol="0" anchor="t"/>
          <a:lstStyle/>
          <a:p>
            <a:pPr indent="0" marL="0">
              <a:lnSpc>
                <a:spcPct val="105000"/>
              </a:lnSpc>
              <a:buNone/>
            </a:pPr>
            <a:r>
              <a:rPr lang="en-US" sz="1900" b="1" dirty="0">
                <a:solidFill>
                  <a:srgbClr val="11256A"/>
                </a:solidFill>
                <a:latin typeface="Space Grotesk" pitchFamily="34" charset="0"/>
                <a:ea typeface="Space Grotesk" pitchFamily="34" charset="-122"/>
                <a:cs typeface="Space Grotesk" pitchFamily="34" charset="-120"/>
              </a:rPr>
              <a:t>IET Young Professionals</a:t>
            </a:r>
            <a:endParaRPr lang="en-US" sz="1900" dirty="0"/>
          </a:p>
        </p:txBody>
      </p:sp>
      <p:sp>
        <p:nvSpPr>
          <p:cNvPr id="14" name="Text 11"/>
          <p:cNvSpPr txBox="1"/>
          <p:nvPr/>
        </p:nvSpPr>
        <p:spPr>
          <a:xfrm>
            <a:off x="777240" y="3913632"/>
            <a:ext cx="2834640" cy="804672"/>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Exhibition and Competition — Undergraduate Champion.</a:t>
            </a:r>
            <a:endParaRPr lang="en-US" sz="1300" dirty="0"/>
          </a:p>
        </p:txBody>
      </p:sp>
      <p:sp>
        <p:nvSpPr>
          <p:cNvPr id="15" name="Shape 12"/>
          <p:cNvSpPr/>
          <p:nvPr/>
        </p:nvSpPr>
        <p:spPr>
          <a:xfrm>
            <a:off x="4270248" y="2615184"/>
            <a:ext cx="3383280" cy="2286000"/>
          </a:xfrm>
          <a:prstGeom prst="roundRect">
            <a:avLst>
              <a:gd name="adj" fmla="val 3200"/>
            </a:avLst>
          </a:prstGeom>
          <a:solidFill>
            <a:srgbClr val="CEE7FD"/>
          </a:solidFill>
          <a:ln/>
          <a:effectLst>
            <a:outerShdw sx="100000" sy="100000" kx="0" ky="0" algn="bl" rotWithShape="0" blurRad="127000" dist="25400" dir="5400000">
              <a:srgbClr val="352E4A">
                <a:alpha val="13000"/>
              </a:srgbClr>
            </a:outerShdw>
          </a:effectLst>
        </p:spPr>
      </p:sp>
      <p:sp>
        <p:nvSpPr>
          <p:cNvPr id="16" name="Text 13"/>
          <p:cNvSpPr txBox="1"/>
          <p:nvPr/>
        </p:nvSpPr>
        <p:spPr>
          <a:xfrm>
            <a:off x="4544568" y="2816352"/>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SUMMER 2026</a:t>
            </a:r>
            <a:endParaRPr lang="en-US" sz="950" dirty="0"/>
          </a:p>
        </p:txBody>
      </p:sp>
      <p:sp>
        <p:nvSpPr>
          <p:cNvPr id="17" name="Text 14"/>
          <p:cNvSpPr txBox="1"/>
          <p:nvPr/>
        </p:nvSpPr>
        <p:spPr>
          <a:xfrm>
            <a:off x="4544568" y="3108960"/>
            <a:ext cx="2834640" cy="713232"/>
          </a:xfrm>
          <a:prstGeom prst="rect">
            <a:avLst/>
          </a:prstGeom>
          <a:noFill/>
          <a:ln/>
        </p:spPr>
        <p:txBody>
          <a:bodyPr wrap="square" lIns="0" tIns="0" rIns="0" bIns="0" rtlCol="0" anchor="t"/>
          <a:lstStyle/>
          <a:p>
            <a:pPr indent="0" marL="0">
              <a:lnSpc>
                <a:spcPct val="105000"/>
              </a:lnSpc>
              <a:buNone/>
            </a:pPr>
            <a:r>
              <a:rPr lang="en-US" sz="1900" b="1" dirty="0">
                <a:solidFill>
                  <a:srgbClr val="11256A"/>
                </a:solidFill>
                <a:latin typeface="Space Grotesk" pitchFamily="34" charset="0"/>
                <a:ea typeface="Space Grotesk" pitchFamily="34" charset="-122"/>
                <a:cs typeface="Space Grotesk" pitchFamily="34" charset="-120"/>
              </a:rPr>
              <a:t>Enactus Hong Kong</a:t>
            </a:r>
            <a:endParaRPr lang="en-US" sz="1900" dirty="0"/>
          </a:p>
        </p:txBody>
      </p:sp>
      <p:sp>
        <p:nvSpPr>
          <p:cNvPr id="18" name="Text 15"/>
          <p:cNvSpPr txBox="1"/>
          <p:nvPr/>
        </p:nvSpPr>
        <p:spPr>
          <a:xfrm>
            <a:off x="4544568" y="3913632"/>
            <a:ext cx="2834640" cy="804672"/>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Regional Champion.</a:t>
            </a:r>
            <a:endParaRPr lang="en-US" sz="1300" dirty="0"/>
          </a:p>
        </p:txBody>
      </p:sp>
      <p:sp>
        <p:nvSpPr>
          <p:cNvPr id="19" name="Shape 16"/>
          <p:cNvSpPr/>
          <p:nvPr/>
        </p:nvSpPr>
        <p:spPr>
          <a:xfrm>
            <a:off x="8037576" y="2615184"/>
            <a:ext cx="3383280" cy="2286000"/>
          </a:xfrm>
          <a:prstGeom prst="roundRect">
            <a:avLst>
              <a:gd name="adj" fmla="val 3200"/>
            </a:avLst>
          </a:prstGeom>
          <a:solidFill>
            <a:srgbClr val="C9FA85"/>
          </a:solidFill>
          <a:ln/>
          <a:effectLst>
            <a:outerShdw sx="100000" sy="100000" kx="0" ky="0" algn="bl" rotWithShape="0" blurRad="127000" dist="25400" dir="5400000">
              <a:srgbClr val="352E4A">
                <a:alpha val="13000"/>
              </a:srgbClr>
            </a:outerShdw>
          </a:effectLst>
        </p:spPr>
      </p:sp>
      <p:sp>
        <p:nvSpPr>
          <p:cNvPr id="20" name="Text 17"/>
          <p:cNvSpPr txBox="1"/>
          <p:nvPr/>
        </p:nvSpPr>
        <p:spPr>
          <a:xfrm>
            <a:off x="8311896" y="2816352"/>
            <a:ext cx="2834640" cy="237744"/>
          </a:xfrm>
          <a:prstGeom prst="rect">
            <a:avLst/>
          </a:prstGeom>
          <a:noFill/>
          <a:ln/>
        </p:spPr>
        <p:txBody>
          <a:bodyPr wrap="square" lIns="0" tIns="0" rIns="0" bIns="0" rtlCol="0" anchor="ctr"/>
          <a:lstStyle/>
          <a:p>
            <a:pPr indent="0" marL="0">
              <a:buNone/>
            </a:pPr>
            <a:r>
              <a:rPr lang="en-US" sz="950" b="1" dirty="0">
                <a:solidFill>
                  <a:srgbClr val="800080"/>
                </a:solidFill>
                <a:latin typeface="Inter" pitchFamily="34" charset="0"/>
                <a:ea typeface="Inter" pitchFamily="34" charset="-122"/>
                <a:cs typeface="Inter" pitchFamily="34" charset="-120"/>
              </a:rPr>
              <a:t>IN PROGRESS NOW</a:t>
            </a:r>
            <a:endParaRPr lang="en-US" sz="950" dirty="0"/>
          </a:p>
        </p:txBody>
      </p:sp>
      <p:sp>
        <p:nvSpPr>
          <p:cNvPr id="21" name="Text 18"/>
          <p:cNvSpPr txBox="1"/>
          <p:nvPr/>
        </p:nvSpPr>
        <p:spPr>
          <a:xfrm>
            <a:off x="8311896" y="3108960"/>
            <a:ext cx="2834640" cy="713232"/>
          </a:xfrm>
          <a:prstGeom prst="rect">
            <a:avLst/>
          </a:prstGeom>
          <a:noFill/>
          <a:ln/>
        </p:spPr>
        <p:txBody>
          <a:bodyPr wrap="square" lIns="0" tIns="0" rIns="0" bIns="0" rtlCol="0" anchor="t"/>
          <a:lstStyle/>
          <a:p>
            <a:pPr indent="0" marL="0">
              <a:lnSpc>
                <a:spcPct val="105000"/>
              </a:lnSpc>
              <a:buNone/>
            </a:pPr>
            <a:r>
              <a:rPr lang="en-US" sz="1900" b="1" dirty="0">
                <a:solidFill>
                  <a:srgbClr val="11256A"/>
                </a:solidFill>
                <a:latin typeface="Space Grotesk" pitchFamily="34" charset="0"/>
                <a:ea typeface="Space Grotesk" pitchFamily="34" charset="-122"/>
                <a:cs typeface="Space Grotesk" pitchFamily="34" charset="-120"/>
              </a:rPr>
              <a:t>The app is in build</a:t>
            </a:r>
            <a:endParaRPr lang="en-US" sz="1900" dirty="0"/>
          </a:p>
        </p:txBody>
      </p:sp>
      <p:sp>
        <p:nvSpPr>
          <p:cNvPr id="22" name="Text 19"/>
          <p:cNvSpPr txBox="1"/>
          <p:nvPr/>
        </p:nvSpPr>
        <p:spPr>
          <a:xfrm>
            <a:off x="8311896" y="3913632"/>
            <a:ext cx="2834640" cy="804672"/>
          </a:xfrm>
          <a:prstGeom prst="rect">
            <a:avLst/>
          </a:prstGeom>
          <a:noFill/>
          <a:ln/>
        </p:spPr>
        <p:txBody>
          <a:bodyPr wrap="square" lIns="0" tIns="0" rIns="0" bIns="0" rtlCol="0" anchor="t"/>
          <a:lstStyle/>
          <a:p>
            <a:pPr indent="0" marL="0">
              <a:lnSpc>
                <a:spcPct val="116000"/>
              </a:lnSpc>
              <a:buNone/>
            </a:pPr>
            <a:r>
              <a:rPr lang="en-US" sz="1300" dirty="0">
                <a:solidFill>
                  <a:srgbClr val="352E4A"/>
                </a:solidFill>
                <a:latin typeface="Inter" pitchFamily="34" charset="0"/>
                <a:ea typeface="Inter" pitchFamily="34" charset="-122"/>
                <a:cs typeface="Inter" pitchFamily="34" charset="-120"/>
              </a:rPr>
              <a:t>We are building the application itself — the step from a validated design to something real readers can open.</a:t>
            </a:r>
            <a:endParaRPr lang="en-US" sz="1300" dirty="0"/>
          </a:p>
        </p:txBody>
      </p:sp>
      <p:sp>
        <p:nvSpPr>
          <p:cNvPr id="23" name="Shape 20"/>
          <p:cNvSpPr/>
          <p:nvPr/>
        </p:nvSpPr>
        <p:spPr>
          <a:xfrm>
            <a:off x="502920" y="5138928"/>
            <a:ext cx="11183112" cy="1005840"/>
          </a:xfrm>
          <a:prstGeom prst="roundRect">
            <a:avLst>
              <a:gd name="adj" fmla="val 7273"/>
            </a:avLst>
          </a:prstGeom>
          <a:solidFill>
            <a:srgbClr val="11256A"/>
          </a:solidFill>
          <a:ln/>
        </p:spPr>
      </p:sp>
      <p:sp>
        <p:nvSpPr>
          <p:cNvPr id="24" name="Text 21"/>
          <p:cNvSpPr txBox="1"/>
          <p:nvPr/>
        </p:nvSpPr>
        <p:spPr>
          <a:xfrm>
            <a:off x="886968" y="5138928"/>
            <a:ext cx="10415016" cy="1005840"/>
          </a:xfrm>
          <a:prstGeom prst="rect">
            <a:avLst/>
          </a:prstGeom>
          <a:noFill/>
          <a:ln/>
        </p:spPr>
        <p:txBody>
          <a:bodyPr wrap="square" lIns="0" tIns="0" rIns="0" bIns="0" rtlCol="0" anchor="ctr"/>
          <a:lstStyle/>
          <a:p>
            <a:pPr indent="0" marL="0">
              <a:buNone/>
            </a:pPr>
            <a:r>
              <a:rPr lang="en-US" sz="1700" b="1" dirty="0">
                <a:solidFill>
                  <a:srgbClr val="C9FA85"/>
                </a:solidFill>
                <a:latin typeface="Space Grotesk" pitchFamily="34" charset="0"/>
                <a:ea typeface="Space Grotesk" pitchFamily="34" charset="-122"/>
                <a:cs typeface="Space Grotesk" pitchFamily="34" charset="-120"/>
              </a:rPr>
              <a:t>This is a live venture with momentum — not a finished piece of coursework we are asking to hand in twice.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ALIGNMENT · THE FOUR OUTCOMES YOU SET OUT</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Where we think we stand</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7</a:t>
            </a:r>
            <a:endParaRPr lang="en-US" sz="950" dirty="0"/>
          </a:p>
        </p:txBody>
      </p:sp>
      <p:sp>
        <p:nvSpPr>
          <p:cNvPr id="10" name="Shape 7"/>
          <p:cNvSpPr/>
          <p:nvPr/>
        </p:nvSpPr>
        <p:spPr>
          <a:xfrm>
            <a:off x="1463040" y="2103120"/>
            <a:ext cx="10222992" cy="877824"/>
          </a:xfrm>
          <a:prstGeom prst="roundRect">
            <a:avLst>
              <a:gd name="adj" fmla="val 8333"/>
            </a:avLst>
          </a:prstGeom>
          <a:solidFill>
            <a:srgbClr val="F5F2FF"/>
          </a:solidFill>
          <a:ln/>
          <a:effectLst>
            <a:outerShdw sx="100000" sy="100000" kx="0" ky="0" algn="bl" rotWithShape="0" blurRad="127000" dist="25400" dir="5400000">
              <a:srgbClr val="352E4A">
                <a:alpha val="13000"/>
              </a:srgbClr>
            </a:outerShdw>
          </a:effectLst>
        </p:spPr>
      </p:sp>
      <p:sp>
        <p:nvSpPr>
          <p:cNvPr id="11" name="Shape 8"/>
          <p:cNvSpPr/>
          <p:nvPr/>
        </p:nvSpPr>
        <p:spPr>
          <a:xfrm>
            <a:off x="502920" y="2103120"/>
            <a:ext cx="914400" cy="877824"/>
          </a:xfrm>
          <a:prstGeom prst="roundRect">
            <a:avLst>
              <a:gd name="adj" fmla="val 8333"/>
            </a:avLst>
          </a:prstGeom>
          <a:solidFill>
            <a:srgbClr val="11256A"/>
          </a:solidFill>
          <a:ln/>
        </p:spPr>
      </p:sp>
      <p:sp>
        <p:nvSpPr>
          <p:cNvPr id="12" name="Text 9"/>
          <p:cNvSpPr txBox="1"/>
          <p:nvPr/>
        </p:nvSpPr>
        <p:spPr>
          <a:xfrm>
            <a:off x="502920" y="2103120"/>
            <a:ext cx="914400" cy="877824"/>
          </a:xfrm>
          <a:prstGeom prst="rect">
            <a:avLst/>
          </a:prstGeom>
          <a:noFill/>
          <a:ln/>
        </p:spPr>
        <p:txBody>
          <a:bodyPr wrap="square" lIns="0" tIns="0" rIns="0" bIns="0" rtlCol="0" anchor="ctr"/>
          <a:lstStyle/>
          <a:p>
            <a:pPr algn="ctr" indent="0" marL="0">
              <a:buNone/>
            </a:pPr>
            <a:r>
              <a:rPr lang="en-US" sz="3000" b="1" dirty="0">
                <a:solidFill>
                  <a:srgbClr val="FFFFFF"/>
                </a:solidFill>
                <a:latin typeface="Space Grotesk" pitchFamily="34" charset="0"/>
                <a:ea typeface="Space Grotesk" pitchFamily="34" charset="-122"/>
                <a:cs typeface="Space Grotesk" pitchFamily="34" charset="-120"/>
              </a:rPr>
              <a:t>1</a:t>
            </a:r>
            <a:endParaRPr lang="en-US" sz="3000" dirty="0"/>
          </a:p>
        </p:txBody>
      </p:sp>
      <p:sp>
        <p:nvSpPr>
          <p:cNvPr id="13" name="Text 10"/>
          <p:cNvSpPr txBox="1"/>
          <p:nvPr/>
        </p:nvSpPr>
        <p:spPr>
          <a:xfrm>
            <a:off x="1737360" y="2249424"/>
            <a:ext cx="4023360" cy="640080"/>
          </a:xfrm>
          <a:prstGeom prst="rect">
            <a:avLst/>
          </a:prstGeom>
          <a:noFill/>
          <a:ln/>
        </p:spPr>
        <p:txBody>
          <a:bodyPr wrap="square" lIns="0" tIns="0" rIns="0" bIns="0" rtlCol="0" anchor="ctr"/>
          <a:lstStyle/>
          <a:p>
            <a:pPr indent="0" marL="0">
              <a:lnSpc>
                <a:spcPct val="105000"/>
              </a:lnSpc>
              <a:buNone/>
            </a:pPr>
            <a:r>
              <a:rPr lang="en-US" sz="1200" b="1" dirty="0">
                <a:solidFill>
                  <a:srgbClr val="11256A"/>
                </a:solidFill>
                <a:latin typeface="Inter" pitchFamily="34" charset="0"/>
                <a:ea typeface="Inter" pitchFamily="34" charset="-122"/>
                <a:cs typeface="Inter" pitchFamily="34" charset="-120"/>
              </a:rPr>
              <a:t>A STRONG PROTOTYPE</a:t>
            </a:r>
            <a:endParaRPr lang="en-US" sz="1200" dirty="0"/>
          </a:p>
        </p:txBody>
      </p:sp>
      <p:sp>
        <p:nvSpPr>
          <p:cNvPr id="14" name="Text 11"/>
          <p:cNvSpPr txBox="1"/>
          <p:nvPr/>
        </p:nvSpPr>
        <p:spPr>
          <a:xfrm>
            <a:off x="5943600" y="2231136"/>
            <a:ext cx="5486400" cy="676656"/>
          </a:xfrm>
          <a:prstGeom prst="rect">
            <a:avLst/>
          </a:prstGeom>
          <a:noFill/>
          <a:ln/>
        </p:spPr>
        <p:txBody>
          <a:bodyPr wrap="square" lIns="0" tIns="0" rIns="0" bIns="0" rtlCol="0" anchor="ctr"/>
          <a:lstStyle/>
          <a:p>
            <a:pPr indent="0" marL="0">
              <a:lnSpc>
                <a:spcPct val="114000"/>
              </a:lnSpc>
              <a:buNone/>
            </a:pPr>
            <a:r>
              <a:rPr lang="en-US" sz="1200" dirty="0">
                <a:solidFill>
                  <a:srgbClr val="352E4A"/>
                </a:solidFill>
                <a:latin typeface="Inter" pitchFamily="34" charset="0"/>
                <a:ea typeface="Inter" pitchFamily="34" charset="-122"/>
                <a:cs typeface="Inter" pitchFamily="34" charset="-120"/>
              </a:rPr>
              <a:t>An AI-native pipeline with a frozen system specification and four documented test passes behind it — a system, not a demo.</a:t>
            </a:r>
            <a:endParaRPr lang="en-US" sz="1200" dirty="0"/>
          </a:p>
        </p:txBody>
      </p:sp>
      <p:sp>
        <p:nvSpPr>
          <p:cNvPr id="15" name="Shape 12"/>
          <p:cNvSpPr/>
          <p:nvPr/>
        </p:nvSpPr>
        <p:spPr>
          <a:xfrm>
            <a:off x="1463040" y="3072384"/>
            <a:ext cx="10222992" cy="877824"/>
          </a:xfrm>
          <a:prstGeom prst="roundRect">
            <a:avLst>
              <a:gd name="adj" fmla="val 8333"/>
            </a:avLst>
          </a:prstGeom>
          <a:solidFill>
            <a:srgbClr val="F5F2FF"/>
          </a:solidFill>
          <a:ln/>
          <a:effectLst>
            <a:outerShdw sx="100000" sy="100000" kx="0" ky="0" algn="bl" rotWithShape="0" blurRad="127000" dist="25400" dir="5400000">
              <a:srgbClr val="352E4A">
                <a:alpha val="13000"/>
              </a:srgbClr>
            </a:outerShdw>
          </a:effectLst>
        </p:spPr>
      </p:sp>
      <p:sp>
        <p:nvSpPr>
          <p:cNvPr id="16" name="Shape 13"/>
          <p:cNvSpPr/>
          <p:nvPr/>
        </p:nvSpPr>
        <p:spPr>
          <a:xfrm>
            <a:off x="502920" y="3072384"/>
            <a:ext cx="914400" cy="877824"/>
          </a:xfrm>
          <a:prstGeom prst="roundRect">
            <a:avLst>
              <a:gd name="adj" fmla="val 8333"/>
            </a:avLst>
          </a:prstGeom>
          <a:solidFill>
            <a:srgbClr val="800080"/>
          </a:solidFill>
          <a:ln/>
        </p:spPr>
      </p:sp>
      <p:sp>
        <p:nvSpPr>
          <p:cNvPr id="17" name="Text 14"/>
          <p:cNvSpPr txBox="1"/>
          <p:nvPr/>
        </p:nvSpPr>
        <p:spPr>
          <a:xfrm>
            <a:off x="502920" y="3072384"/>
            <a:ext cx="914400" cy="877824"/>
          </a:xfrm>
          <a:prstGeom prst="rect">
            <a:avLst/>
          </a:prstGeom>
          <a:noFill/>
          <a:ln/>
        </p:spPr>
        <p:txBody>
          <a:bodyPr wrap="square" lIns="0" tIns="0" rIns="0" bIns="0" rtlCol="0" anchor="ctr"/>
          <a:lstStyle/>
          <a:p>
            <a:pPr algn="ctr" indent="0" marL="0">
              <a:buNone/>
            </a:pPr>
            <a:r>
              <a:rPr lang="en-US" sz="3000" b="1" dirty="0">
                <a:solidFill>
                  <a:srgbClr val="FFFFFF"/>
                </a:solidFill>
                <a:latin typeface="Space Grotesk" pitchFamily="34" charset="0"/>
                <a:ea typeface="Space Grotesk" pitchFamily="34" charset="-122"/>
                <a:cs typeface="Space Grotesk" pitchFamily="34" charset="-120"/>
              </a:rPr>
              <a:t>2</a:t>
            </a:r>
            <a:endParaRPr lang="en-US" sz="3000" dirty="0"/>
          </a:p>
        </p:txBody>
      </p:sp>
      <p:sp>
        <p:nvSpPr>
          <p:cNvPr id="18" name="Text 15"/>
          <p:cNvSpPr txBox="1"/>
          <p:nvPr/>
        </p:nvSpPr>
        <p:spPr>
          <a:xfrm>
            <a:off x="1737360" y="3218688"/>
            <a:ext cx="4023360" cy="640080"/>
          </a:xfrm>
          <a:prstGeom prst="rect">
            <a:avLst/>
          </a:prstGeom>
          <a:noFill/>
          <a:ln/>
        </p:spPr>
        <p:txBody>
          <a:bodyPr wrap="square" lIns="0" tIns="0" rIns="0" bIns="0" rtlCol="0" anchor="ctr"/>
          <a:lstStyle/>
          <a:p>
            <a:pPr indent="0" marL="0">
              <a:lnSpc>
                <a:spcPct val="105000"/>
              </a:lnSpc>
              <a:buNone/>
            </a:pPr>
            <a:r>
              <a:rPr lang="en-US" sz="1200" b="1" dirty="0">
                <a:solidFill>
                  <a:srgbClr val="11256A"/>
                </a:solidFill>
                <a:latin typeface="Inter" pitchFamily="34" charset="0"/>
                <a:ea typeface="Inter" pitchFamily="34" charset="-122"/>
                <a:cs typeface="Inter" pitchFamily="34" charset="-120"/>
              </a:rPr>
              <a:t>A CONVINCING STORY</a:t>
            </a:r>
            <a:endParaRPr lang="en-US" sz="1200" dirty="0"/>
          </a:p>
        </p:txBody>
      </p:sp>
      <p:sp>
        <p:nvSpPr>
          <p:cNvPr id="19" name="Text 16"/>
          <p:cNvSpPr txBox="1"/>
          <p:nvPr/>
        </p:nvSpPr>
        <p:spPr>
          <a:xfrm>
            <a:off x="5943600" y="3200400"/>
            <a:ext cx="5486400" cy="676656"/>
          </a:xfrm>
          <a:prstGeom prst="rect">
            <a:avLst/>
          </a:prstGeom>
          <a:noFill/>
          <a:ln/>
        </p:spPr>
        <p:txBody>
          <a:bodyPr wrap="square" lIns="0" tIns="0" rIns="0" bIns="0" rtlCol="0" anchor="ctr"/>
          <a:lstStyle/>
          <a:p>
            <a:pPr indent="0" marL="0">
              <a:lnSpc>
                <a:spcPct val="114000"/>
              </a:lnSpc>
              <a:buNone/>
            </a:pPr>
            <a:r>
              <a:rPr lang="en-US" sz="1200" dirty="0">
                <a:solidFill>
                  <a:srgbClr val="352E4A"/>
                </a:solidFill>
                <a:latin typeface="Inter" pitchFamily="34" charset="0"/>
                <a:ea typeface="Inter" pitchFamily="34" charset="-122"/>
                <a:cs typeface="Inter" pitchFamily="34" charset="-120"/>
              </a:rPr>
              <a:t>Trust is the scarce resource in news. We measured that ourselves rather than borrowing it from a market report.</a:t>
            </a:r>
            <a:endParaRPr lang="en-US" sz="1200" dirty="0"/>
          </a:p>
        </p:txBody>
      </p:sp>
      <p:sp>
        <p:nvSpPr>
          <p:cNvPr id="20" name="Shape 17"/>
          <p:cNvSpPr/>
          <p:nvPr/>
        </p:nvSpPr>
        <p:spPr>
          <a:xfrm>
            <a:off x="1463040" y="4041648"/>
            <a:ext cx="10222992" cy="877824"/>
          </a:xfrm>
          <a:prstGeom prst="roundRect">
            <a:avLst>
              <a:gd name="adj" fmla="val 8333"/>
            </a:avLst>
          </a:prstGeom>
          <a:solidFill>
            <a:srgbClr val="F5F2FF"/>
          </a:solidFill>
          <a:ln/>
          <a:effectLst>
            <a:outerShdw sx="100000" sy="100000" kx="0" ky="0" algn="bl" rotWithShape="0" blurRad="127000" dist="25400" dir="5400000">
              <a:srgbClr val="352E4A">
                <a:alpha val="13000"/>
              </a:srgbClr>
            </a:outerShdw>
          </a:effectLst>
        </p:spPr>
      </p:sp>
      <p:sp>
        <p:nvSpPr>
          <p:cNvPr id="21" name="Shape 18"/>
          <p:cNvSpPr/>
          <p:nvPr/>
        </p:nvSpPr>
        <p:spPr>
          <a:xfrm>
            <a:off x="502920" y="4041648"/>
            <a:ext cx="914400" cy="877824"/>
          </a:xfrm>
          <a:prstGeom prst="roundRect">
            <a:avLst>
              <a:gd name="adj" fmla="val 8333"/>
            </a:avLst>
          </a:prstGeom>
          <a:solidFill>
            <a:srgbClr val="11256A"/>
          </a:solidFill>
          <a:ln/>
        </p:spPr>
      </p:sp>
      <p:sp>
        <p:nvSpPr>
          <p:cNvPr id="22" name="Text 19"/>
          <p:cNvSpPr txBox="1"/>
          <p:nvPr/>
        </p:nvSpPr>
        <p:spPr>
          <a:xfrm>
            <a:off x="502920" y="4041648"/>
            <a:ext cx="914400" cy="877824"/>
          </a:xfrm>
          <a:prstGeom prst="rect">
            <a:avLst/>
          </a:prstGeom>
          <a:noFill/>
          <a:ln/>
        </p:spPr>
        <p:txBody>
          <a:bodyPr wrap="square" lIns="0" tIns="0" rIns="0" bIns="0" rtlCol="0" anchor="ctr"/>
          <a:lstStyle/>
          <a:p>
            <a:pPr algn="ctr" indent="0" marL="0">
              <a:buNone/>
            </a:pPr>
            <a:r>
              <a:rPr lang="en-US" sz="3000" b="1" dirty="0">
                <a:solidFill>
                  <a:srgbClr val="FFFFFF"/>
                </a:solidFill>
                <a:latin typeface="Space Grotesk" pitchFamily="34" charset="0"/>
                <a:ea typeface="Space Grotesk" pitchFamily="34" charset="-122"/>
                <a:cs typeface="Space Grotesk" pitchFamily="34" charset="-120"/>
              </a:rPr>
              <a:t>3</a:t>
            </a:r>
            <a:endParaRPr lang="en-US" sz="3000" dirty="0"/>
          </a:p>
        </p:txBody>
      </p:sp>
      <p:sp>
        <p:nvSpPr>
          <p:cNvPr id="23" name="Text 20"/>
          <p:cNvSpPr txBox="1"/>
          <p:nvPr/>
        </p:nvSpPr>
        <p:spPr>
          <a:xfrm>
            <a:off x="1737360" y="4187952"/>
            <a:ext cx="4023360" cy="640080"/>
          </a:xfrm>
          <a:prstGeom prst="rect">
            <a:avLst/>
          </a:prstGeom>
          <a:noFill/>
          <a:ln/>
        </p:spPr>
        <p:txBody>
          <a:bodyPr wrap="square" lIns="0" tIns="0" rIns="0" bIns="0" rtlCol="0" anchor="ctr"/>
          <a:lstStyle/>
          <a:p>
            <a:pPr indent="0" marL="0">
              <a:lnSpc>
                <a:spcPct val="105000"/>
              </a:lnSpc>
              <a:buNone/>
            </a:pPr>
            <a:r>
              <a:rPr lang="en-US" sz="1200" b="1" dirty="0">
                <a:solidFill>
                  <a:srgbClr val="11256A"/>
                </a:solidFill>
                <a:latin typeface="Inter" pitchFamily="34" charset="0"/>
                <a:ea typeface="Inter" pitchFamily="34" charset="-122"/>
                <a:cs typeface="Inter" pitchFamily="34" charset="-120"/>
              </a:rPr>
              <a:t>EVIDENCE OF SOLVING A MEANINGFUL PROBLEM</a:t>
            </a:r>
            <a:endParaRPr lang="en-US" sz="1200" dirty="0"/>
          </a:p>
        </p:txBody>
      </p:sp>
      <p:sp>
        <p:nvSpPr>
          <p:cNvPr id="24" name="Text 21"/>
          <p:cNvSpPr txBox="1"/>
          <p:nvPr/>
        </p:nvSpPr>
        <p:spPr>
          <a:xfrm>
            <a:off x="5943600" y="4169664"/>
            <a:ext cx="5486400" cy="676656"/>
          </a:xfrm>
          <a:prstGeom prst="rect">
            <a:avLst/>
          </a:prstGeom>
          <a:noFill/>
          <a:ln/>
        </p:spPr>
        <p:txBody>
          <a:bodyPr wrap="square" lIns="0" tIns="0" rIns="0" bIns="0" rtlCol="0" anchor="ctr"/>
          <a:lstStyle/>
          <a:p>
            <a:pPr indent="0" marL="0">
              <a:lnSpc>
                <a:spcPct val="114000"/>
              </a:lnSpc>
              <a:buNone/>
            </a:pPr>
            <a:r>
              <a:rPr lang="en-US" sz="1200" dirty="0">
                <a:solidFill>
                  <a:srgbClr val="352E4A"/>
                </a:solidFill>
                <a:latin typeface="Inter" pitchFamily="34" charset="0"/>
                <a:ea typeface="Inter" pitchFamily="34" charset="-122"/>
                <a:cs typeface="Inter" pitchFamily="34" charset="-120"/>
              </a:rPr>
              <a:t>Our research reframed the problem from information overload to trust, and the whole product follows from that finding.</a:t>
            </a:r>
            <a:endParaRPr lang="en-US" sz="1200" dirty="0"/>
          </a:p>
        </p:txBody>
      </p:sp>
      <p:sp>
        <p:nvSpPr>
          <p:cNvPr id="25" name="Shape 22"/>
          <p:cNvSpPr/>
          <p:nvPr/>
        </p:nvSpPr>
        <p:spPr>
          <a:xfrm>
            <a:off x="1463040" y="5010912"/>
            <a:ext cx="10222992" cy="877824"/>
          </a:xfrm>
          <a:prstGeom prst="roundRect">
            <a:avLst>
              <a:gd name="adj" fmla="val 8333"/>
            </a:avLst>
          </a:prstGeom>
          <a:solidFill>
            <a:srgbClr val="F5F2FF"/>
          </a:solidFill>
          <a:ln/>
          <a:effectLst>
            <a:outerShdw sx="100000" sy="100000" kx="0" ky="0" algn="bl" rotWithShape="0" blurRad="127000" dist="25400" dir="5400000">
              <a:srgbClr val="352E4A">
                <a:alpha val="13000"/>
              </a:srgbClr>
            </a:outerShdw>
          </a:effectLst>
        </p:spPr>
      </p:sp>
      <p:sp>
        <p:nvSpPr>
          <p:cNvPr id="26" name="Shape 23"/>
          <p:cNvSpPr/>
          <p:nvPr/>
        </p:nvSpPr>
        <p:spPr>
          <a:xfrm>
            <a:off x="502920" y="5010912"/>
            <a:ext cx="914400" cy="877824"/>
          </a:xfrm>
          <a:prstGeom prst="roundRect">
            <a:avLst>
              <a:gd name="adj" fmla="val 8333"/>
            </a:avLst>
          </a:prstGeom>
          <a:solidFill>
            <a:srgbClr val="800080"/>
          </a:solidFill>
          <a:ln/>
        </p:spPr>
      </p:sp>
      <p:sp>
        <p:nvSpPr>
          <p:cNvPr id="27" name="Text 24"/>
          <p:cNvSpPr txBox="1"/>
          <p:nvPr/>
        </p:nvSpPr>
        <p:spPr>
          <a:xfrm>
            <a:off x="502920" y="5010912"/>
            <a:ext cx="914400" cy="877824"/>
          </a:xfrm>
          <a:prstGeom prst="rect">
            <a:avLst/>
          </a:prstGeom>
          <a:noFill/>
          <a:ln/>
        </p:spPr>
        <p:txBody>
          <a:bodyPr wrap="square" lIns="0" tIns="0" rIns="0" bIns="0" rtlCol="0" anchor="ctr"/>
          <a:lstStyle/>
          <a:p>
            <a:pPr algn="ctr" indent="0" marL="0">
              <a:buNone/>
            </a:pPr>
            <a:r>
              <a:rPr lang="en-US" sz="3000" b="1" dirty="0">
                <a:solidFill>
                  <a:srgbClr val="FFFFFF"/>
                </a:solidFill>
                <a:latin typeface="Space Grotesk" pitchFamily="34" charset="0"/>
                <a:ea typeface="Space Grotesk" pitchFamily="34" charset="-122"/>
                <a:cs typeface="Space Grotesk" pitchFamily="34" charset="-120"/>
              </a:rPr>
              <a:t>4</a:t>
            </a:r>
            <a:endParaRPr lang="en-US" sz="3000" dirty="0"/>
          </a:p>
        </p:txBody>
      </p:sp>
      <p:sp>
        <p:nvSpPr>
          <p:cNvPr id="28" name="Text 25"/>
          <p:cNvSpPr txBox="1"/>
          <p:nvPr/>
        </p:nvSpPr>
        <p:spPr>
          <a:xfrm>
            <a:off x="1737360" y="5157216"/>
            <a:ext cx="4023360" cy="640080"/>
          </a:xfrm>
          <a:prstGeom prst="rect">
            <a:avLst/>
          </a:prstGeom>
          <a:noFill/>
          <a:ln/>
        </p:spPr>
        <p:txBody>
          <a:bodyPr wrap="square" lIns="0" tIns="0" rIns="0" bIns="0" rtlCol="0" anchor="ctr"/>
          <a:lstStyle/>
          <a:p>
            <a:pPr indent="0" marL="0">
              <a:lnSpc>
                <a:spcPct val="105000"/>
              </a:lnSpc>
              <a:buNone/>
            </a:pPr>
            <a:r>
              <a:rPr lang="en-US" sz="1200" b="1" dirty="0">
                <a:solidFill>
                  <a:srgbClr val="11256A"/>
                </a:solidFill>
                <a:latin typeface="Inter" pitchFamily="34" charset="0"/>
                <a:ea typeface="Inter" pitchFamily="34" charset="-122"/>
                <a:cs typeface="Inter" pitchFamily="34" charset="-120"/>
              </a:rPr>
              <a:t>SOMETHING TO SHOW AFTER GRADUATION</a:t>
            </a:r>
            <a:endParaRPr lang="en-US" sz="1200" dirty="0"/>
          </a:p>
        </p:txBody>
      </p:sp>
      <p:sp>
        <p:nvSpPr>
          <p:cNvPr id="29" name="Text 26"/>
          <p:cNvSpPr txBox="1"/>
          <p:nvPr/>
        </p:nvSpPr>
        <p:spPr>
          <a:xfrm>
            <a:off x="5943600" y="5138928"/>
            <a:ext cx="5486400" cy="676656"/>
          </a:xfrm>
          <a:prstGeom prst="rect">
            <a:avLst/>
          </a:prstGeom>
          <a:noFill/>
          <a:ln/>
        </p:spPr>
        <p:txBody>
          <a:bodyPr wrap="square" lIns="0" tIns="0" rIns="0" bIns="0" rtlCol="0" anchor="ctr"/>
          <a:lstStyle/>
          <a:p>
            <a:pPr indent="0" marL="0">
              <a:lnSpc>
                <a:spcPct val="114000"/>
              </a:lnSpc>
              <a:buNone/>
            </a:pPr>
            <a:r>
              <a:rPr lang="en-US" sz="1200" dirty="0">
                <a:solidFill>
                  <a:srgbClr val="352E4A"/>
                </a:solidFill>
                <a:latin typeface="Inter" pitchFamily="34" charset="0"/>
                <a:ea typeface="Inter" pitchFamily="34" charset="-122"/>
                <a:cs typeface="Inter" pitchFamily="34" charset="-120"/>
              </a:rPr>
              <a:t>An incorporated company, an application heading for public beta, and a provisional patent in preparation.</a:t>
            </a:r>
            <a:endParaRPr lang="en-US" sz="1200" dirty="0"/>
          </a:p>
        </p:txBody>
      </p:sp>
      <p:sp>
        <p:nvSpPr>
          <p:cNvPr id="30" name="Text 27"/>
          <p:cNvSpPr txBox="1"/>
          <p:nvPr/>
        </p:nvSpPr>
        <p:spPr>
          <a:xfrm>
            <a:off x="502920" y="5998464"/>
            <a:ext cx="11183112" cy="256032"/>
          </a:xfrm>
          <a:prstGeom prst="rect">
            <a:avLst/>
          </a:prstGeom>
          <a:noFill/>
          <a:ln/>
        </p:spPr>
        <p:txBody>
          <a:bodyPr wrap="square" lIns="0" tIns="0" rIns="0" bIns="0" rtlCol="0" anchor="ctr"/>
          <a:lstStyle/>
          <a:p>
            <a:pPr indent="0" marL="0">
              <a:buNone/>
            </a:pPr>
            <a:r>
              <a:rPr lang="en-US" sz="1000" dirty="0">
                <a:solidFill>
                  <a:srgbClr val="6E6787"/>
                </a:solidFill>
                <a:latin typeface="Inter" pitchFamily="34" charset="0"/>
                <a:ea typeface="Inter" pitchFamily="34" charset="-122"/>
                <a:cs typeface="Inter" pitchFamily="34" charset="-120"/>
              </a:rPr>
              <a:t>The four outcomes set out at the ISDN 4001 kick-off meeting.</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TRACK · WHICH OF THE THREE WE WOULD DECLARE</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Entrepreneurship and Venture</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8</a:t>
            </a:r>
            <a:endParaRPr lang="en-US" sz="950" dirty="0"/>
          </a:p>
        </p:txBody>
      </p:sp>
      <p:sp>
        <p:nvSpPr>
          <p:cNvPr id="10" name="Text 7"/>
          <p:cNvSpPr txBox="1"/>
          <p:nvPr/>
        </p:nvSpPr>
        <p:spPr>
          <a:xfrm>
            <a:off x="502920" y="2103120"/>
            <a:ext cx="11183112" cy="310896"/>
          </a:xfrm>
          <a:prstGeom prst="rect">
            <a:avLst/>
          </a:prstGeom>
          <a:noFill/>
          <a:ln/>
        </p:spPr>
        <p:txBody>
          <a:bodyPr wrap="square" lIns="0" tIns="0" rIns="0" bIns="0" rtlCol="0" anchor="ctr"/>
          <a:lstStyle/>
          <a:p>
            <a:pPr indent="0" marL="0">
              <a:buNone/>
            </a:pPr>
            <a:r>
              <a:rPr lang="en-US" sz="1300" dirty="0">
                <a:solidFill>
                  <a:srgbClr val="352E4A"/>
                </a:solidFill>
                <a:latin typeface="Inter" pitchFamily="34" charset="0"/>
                <a:ea typeface="Inter" pitchFamily="34" charset="-122"/>
                <a:cs typeface="Inter" pitchFamily="34" charset="-120"/>
              </a:rPr>
              <a:t>The three deliverables set for this track, and what we can already put against each.</a:t>
            </a:r>
            <a:endParaRPr lang="en-US" sz="1300" dirty="0"/>
          </a:p>
        </p:txBody>
      </p:sp>
      <p:sp>
        <p:nvSpPr>
          <p:cNvPr id="11" name="Shape 8"/>
          <p:cNvSpPr/>
          <p:nvPr/>
        </p:nvSpPr>
        <p:spPr>
          <a:xfrm>
            <a:off x="502920" y="2615184"/>
            <a:ext cx="3383280" cy="2286000"/>
          </a:xfrm>
          <a:prstGeom prst="roundRect">
            <a:avLst>
              <a:gd name="adj" fmla="val 3200"/>
            </a:avLst>
          </a:prstGeom>
          <a:solidFill>
            <a:srgbClr val="D3CAFF"/>
          </a:solidFill>
          <a:ln/>
          <a:effectLst>
            <a:outerShdw sx="100000" sy="100000" kx="0" ky="0" algn="bl" rotWithShape="0" blurRad="127000" dist="25400" dir="5400000">
              <a:srgbClr val="352E4A">
                <a:alpha val="13000"/>
              </a:srgbClr>
            </a:outerShdw>
          </a:effectLst>
        </p:spPr>
      </p:sp>
      <p:sp>
        <p:nvSpPr>
          <p:cNvPr id="12" name="Text 9"/>
          <p:cNvSpPr txBox="1"/>
          <p:nvPr/>
        </p:nvSpPr>
        <p:spPr>
          <a:xfrm>
            <a:off x="777240" y="2852928"/>
            <a:ext cx="2834640" cy="603504"/>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Market / value contribution</a:t>
            </a:r>
            <a:endParaRPr lang="en-US" sz="1600" dirty="0"/>
          </a:p>
        </p:txBody>
      </p:sp>
      <p:sp>
        <p:nvSpPr>
          <p:cNvPr id="13" name="Text 10"/>
          <p:cNvSpPr txBox="1"/>
          <p:nvPr/>
        </p:nvSpPr>
        <p:spPr>
          <a:xfrm>
            <a:off x="777240" y="3547872"/>
            <a:ext cx="2834640" cy="1170432"/>
          </a:xfrm>
          <a:prstGeom prst="rect">
            <a:avLst/>
          </a:prstGeom>
          <a:noFill/>
          <a:ln/>
        </p:spPr>
        <p:txBody>
          <a:bodyPr wrap="square" lIns="0" tIns="0" rIns="0" bIns="0" rtlCol="0" anchor="t"/>
          <a:lstStyle/>
          <a:p>
            <a:pPr indent="0" marL="0">
              <a:lnSpc>
                <a:spcPct val="116000"/>
              </a:lnSpc>
              <a:buNone/>
            </a:pPr>
            <a:r>
              <a:rPr lang="en-US" sz="1250" dirty="0">
                <a:solidFill>
                  <a:srgbClr val="352E4A"/>
                </a:solidFill>
                <a:latin typeface="Inter" pitchFamily="34" charset="0"/>
                <a:ea typeface="Inter" pitchFamily="34" charset="-122"/>
                <a:cs typeface="Inter" pitchFamily="34" charset="-120"/>
              </a:rPr>
              <a:t>An incorporated company, a subscription-plus-advertising model built on what people told us they would actually pay, and a closed angel round.</a:t>
            </a:r>
            <a:endParaRPr lang="en-US" sz="1250" dirty="0"/>
          </a:p>
        </p:txBody>
      </p:sp>
      <p:sp>
        <p:nvSpPr>
          <p:cNvPr id="14" name="Shape 11"/>
          <p:cNvSpPr/>
          <p:nvPr/>
        </p:nvSpPr>
        <p:spPr>
          <a:xfrm>
            <a:off x="4270248" y="2615184"/>
            <a:ext cx="3383280" cy="2286000"/>
          </a:xfrm>
          <a:prstGeom prst="roundRect">
            <a:avLst>
              <a:gd name="adj" fmla="val 3200"/>
            </a:avLst>
          </a:prstGeom>
          <a:solidFill>
            <a:srgbClr val="CEE7FD"/>
          </a:solidFill>
          <a:ln/>
          <a:effectLst>
            <a:outerShdw sx="100000" sy="100000" kx="0" ky="0" algn="bl" rotWithShape="0" blurRad="127000" dist="25400" dir="5400000">
              <a:srgbClr val="352E4A">
                <a:alpha val="13000"/>
              </a:srgbClr>
            </a:outerShdw>
          </a:effectLst>
        </p:spPr>
      </p:sp>
      <p:sp>
        <p:nvSpPr>
          <p:cNvPr id="15" name="Text 12"/>
          <p:cNvSpPr txBox="1"/>
          <p:nvPr/>
        </p:nvSpPr>
        <p:spPr>
          <a:xfrm>
            <a:off x="4544568" y="2852928"/>
            <a:ext cx="2834640" cy="603504"/>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MVP / business concept</a:t>
            </a:r>
            <a:endParaRPr lang="en-US" sz="1600" dirty="0"/>
          </a:p>
        </p:txBody>
      </p:sp>
      <p:sp>
        <p:nvSpPr>
          <p:cNvPr id="16" name="Text 13"/>
          <p:cNvSpPr txBox="1"/>
          <p:nvPr/>
        </p:nvSpPr>
        <p:spPr>
          <a:xfrm>
            <a:off x="4544568" y="3547872"/>
            <a:ext cx="2834640" cy="1170432"/>
          </a:xfrm>
          <a:prstGeom prst="rect">
            <a:avLst/>
          </a:prstGeom>
          <a:noFill/>
          <a:ln/>
        </p:spPr>
        <p:txBody>
          <a:bodyPr wrap="square" lIns="0" tIns="0" rIns="0" bIns="0" rtlCol="0" anchor="t"/>
          <a:lstStyle/>
          <a:p>
            <a:pPr indent="0" marL="0">
              <a:lnSpc>
                <a:spcPct val="116000"/>
              </a:lnSpc>
              <a:buNone/>
            </a:pPr>
            <a:r>
              <a:rPr lang="en-US" sz="1250" dirty="0">
                <a:solidFill>
                  <a:srgbClr val="352E4A"/>
                </a:solidFill>
                <a:latin typeface="Inter" pitchFamily="34" charset="0"/>
                <a:ea typeface="Inter" pitchFamily="34" charset="-122"/>
                <a:cs typeface="Inter" pitchFamily="34" charset="-120"/>
              </a:rPr>
              <a:t>A pre-launch MVP with a frozen specification and an architecture that scales by adding licensed source pools — now moving into app development.</a:t>
            </a:r>
            <a:endParaRPr lang="en-US" sz="1250" dirty="0"/>
          </a:p>
        </p:txBody>
      </p:sp>
      <p:sp>
        <p:nvSpPr>
          <p:cNvPr id="17" name="Shape 14"/>
          <p:cNvSpPr/>
          <p:nvPr/>
        </p:nvSpPr>
        <p:spPr>
          <a:xfrm>
            <a:off x="8037576" y="2615184"/>
            <a:ext cx="3383280" cy="2286000"/>
          </a:xfrm>
          <a:prstGeom prst="roundRect">
            <a:avLst>
              <a:gd name="adj" fmla="val 3200"/>
            </a:avLst>
          </a:prstGeom>
          <a:solidFill>
            <a:srgbClr val="FDE1FD"/>
          </a:solidFill>
          <a:ln/>
          <a:effectLst>
            <a:outerShdw sx="100000" sy="100000" kx="0" ky="0" algn="bl" rotWithShape="0" blurRad="127000" dist="25400" dir="5400000">
              <a:srgbClr val="352E4A">
                <a:alpha val="13000"/>
              </a:srgbClr>
            </a:outerShdw>
          </a:effectLst>
        </p:spPr>
      </p:sp>
      <p:sp>
        <p:nvSpPr>
          <p:cNvPr id="18" name="Text 15"/>
          <p:cNvSpPr txBox="1"/>
          <p:nvPr/>
        </p:nvSpPr>
        <p:spPr>
          <a:xfrm>
            <a:off x="8311896" y="2852928"/>
            <a:ext cx="2834640" cy="603504"/>
          </a:xfrm>
          <a:prstGeom prst="rect">
            <a:avLst/>
          </a:prstGeom>
          <a:noFill/>
          <a:ln/>
        </p:spPr>
        <p:txBody>
          <a:bodyPr wrap="square" lIns="0" tIns="0" rIns="0" bIns="0" rtlCol="0" anchor="t"/>
          <a:lstStyle/>
          <a:p>
            <a:pPr indent="0" marL="0">
              <a:lnSpc>
                <a:spcPct val="105000"/>
              </a:lnSpc>
              <a:buNone/>
            </a:pPr>
            <a:r>
              <a:rPr lang="en-US" sz="1600" b="1" dirty="0">
                <a:solidFill>
                  <a:srgbClr val="11256A"/>
                </a:solidFill>
                <a:latin typeface="Space Grotesk" pitchFamily="34" charset="0"/>
                <a:ea typeface="Space Grotesk" pitchFamily="34" charset="-122"/>
                <a:cs typeface="Space Grotesk" pitchFamily="34" charset="-120"/>
              </a:rPr>
              <a:t>Pitch / customer validation</a:t>
            </a:r>
            <a:endParaRPr lang="en-US" sz="1600" dirty="0"/>
          </a:p>
        </p:txBody>
      </p:sp>
      <p:sp>
        <p:nvSpPr>
          <p:cNvPr id="19" name="Text 16"/>
          <p:cNvSpPr txBox="1"/>
          <p:nvPr/>
        </p:nvSpPr>
        <p:spPr>
          <a:xfrm>
            <a:off x="8311896" y="3547872"/>
            <a:ext cx="2834640" cy="1170432"/>
          </a:xfrm>
          <a:prstGeom prst="rect">
            <a:avLst/>
          </a:prstGeom>
          <a:noFill/>
          <a:ln/>
        </p:spPr>
        <p:txBody>
          <a:bodyPr wrap="square" lIns="0" tIns="0" rIns="0" bIns="0" rtlCol="0" anchor="t"/>
          <a:lstStyle/>
          <a:p>
            <a:pPr indent="0" marL="0">
              <a:lnSpc>
                <a:spcPct val="116000"/>
              </a:lnSpc>
              <a:buNone/>
            </a:pPr>
            <a:r>
              <a:rPr lang="en-US" sz="1250" dirty="0">
                <a:solidFill>
                  <a:srgbClr val="352E4A"/>
                </a:solidFill>
                <a:latin typeface="Inter" pitchFamily="34" charset="0"/>
                <a:ea typeface="Inter" pitchFamily="34" charset="-122"/>
                <a:cs typeface="Inter" pitchFamily="34" charset="-120"/>
              </a:rPr>
              <a:t>An 86-participant A/B test, roughly 30 interviews, two questionnaires, and four competitions judged by panels outside the university.</a:t>
            </a:r>
            <a:endParaRPr lang="en-US" sz="1250" dirty="0"/>
          </a:p>
        </p:txBody>
      </p:sp>
      <p:sp>
        <p:nvSpPr>
          <p:cNvPr id="20" name="Shape 17"/>
          <p:cNvSpPr/>
          <p:nvPr/>
        </p:nvSpPr>
        <p:spPr>
          <a:xfrm>
            <a:off x="502920" y="5138928"/>
            <a:ext cx="11183112" cy="1005840"/>
          </a:xfrm>
          <a:prstGeom prst="roundRect">
            <a:avLst>
              <a:gd name="adj" fmla="val 7273"/>
            </a:avLst>
          </a:prstGeom>
          <a:solidFill>
            <a:srgbClr val="F5F2FF"/>
          </a:solidFill>
          <a:ln/>
        </p:spPr>
      </p:sp>
      <p:sp>
        <p:nvSpPr>
          <p:cNvPr id="21" name="Text 18"/>
          <p:cNvSpPr txBox="1"/>
          <p:nvPr/>
        </p:nvSpPr>
        <p:spPr>
          <a:xfrm>
            <a:off x="886968" y="5138928"/>
            <a:ext cx="10415016" cy="1005840"/>
          </a:xfrm>
          <a:prstGeom prst="rect">
            <a:avLst/>
          </a:prstGeom>
          <a:noFill/>
          <a:ln/>
        </p:spPr>
        <p:txBody>
          <a:bodyPr wrap="square" lIns="0" tIns="0" rIns="0" bIns="0" rtlCol="0" anchor="ctr"/>
          <a:lstStyle/>
          <a:p>
            <a:pPr indent="0" marL="0">
              <a:lnSpc>
                <a:spcPct val="120000"/>
              </a:lnSpc>
              <a:buNone/>
            </a:pPr>
            <a:r>
              <a:rPr lang="en-US" sz="1250" dirty="0">
                <a:solidFill>
                  <a:srgbClr val="352E4A"/>
                </a:solidFill>
                <a:latin typeface="Inter" pitchFamily="34" charset="0"/>
                <a:ea typeface="Inter" pitchFamily="34" charset="-122"/>
                <a:cs typeface="Inter" pitchFamily="34" charset="-120"/>
              </a:rPr>
              <a:t>We would bring Research and Technology depth into the track as well — </a:t>
            </a:r>
            <a:pPr indent="0" marL="0">
              <a:lnSpc>
                <a:spcPct val="120000"/>
              </a:lnSpc>
              <a:buNone/>
            </a:pPr>
            <a:r>
              <a:rPr lang="en-US" sz="1250" dirty="0">
                <a:solidFill>
                  <a:srgbClr val="352E4A"/>
                </a:solidFill>
                <a:latin typeface="Inter" pitchFamily="34" charset="0"/>
                <a:ea typeface="Inter" pitchFamily="34" charset="-122"/>
                <a:cs typeface="Inter" pitchFamily="34" charset="-120"/>
              </a:rPr>
              <a:t>the AI-native pipeline, the two-pools-one-gate ingestion architecture, and the four stress-test passes that keep the confidence signal defensible.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D3CA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THE NEW CONTRIBUTION · CONTINUATION IS NOT REPETITION</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What Year 4 adds that Year 3 did not</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9</a:t>
            </a:r>
            <a:endParaRPr lang="en-US" sz="950" dirty="0"/>
          </a:p>
        </p:txBody>
      </p:sp>
      <p:sp>
        <p:nvSpPr>
          <p:cNvPr id="10" name="Shape 7"/>
          <p:cNvSpPr/>
          <p:nvPr/>
        </p:nvSpPr>
        <p:spPr>
          <a:xfrm>
            <a:off x="502920" y="2103120"/>
            <a:ext cx="5394960" cy="3200400"/>
          </a:xfrm>
          <a:prstGeom prst="roundRect">
            <a:avLst>
              <a:gd name="adj" fmla="val 2286"/>
            </a:avLst>
          </a:prstGeom>
          <a:solidFill>
            <a:srgbClr val="F5F2FF"/>
          </a:solidFill>
          <a:ln/>
          <a:effectLst>
            <a:outerShdw sx="100000" sy="100000" kx="0" ky="0" algn="bl" rotWithShape="0" blurRad="127000" dist="25400" dir="5400000">
              <a:srgbClr val="352E4A">
                <a:alpha val="13000"/>
              </a:srgbClr>
            </a:outerShdw>
          </a:effectLst>
        </p:spPr>
      </p:sp>
      <p:sp>
        <p:nvSpPr>
          <p:cNvPr id="11" name="Text 8"/>
          <p:cNvSpPr txBox="1"/>
          <p:nvPr/>
        </p:nvSpPr>
        <p:spPr>
          <a:xfrm>
            <a:off x="832104" y="2340864"/>
            <a:ext cx="4736592" cy="256032"/>
          </a:xfrm>
          <a:prstGeom prst="rect">
            <a:avLst/>
          </a:prstGeom>
          <a:noFill/>
          <a:ln/>
        </p:spPr>
        <p:txBody>
          <a:bodyPr wrap="square" lIns="0" tIns="0" rIns="0" bIns="0" rtlCol="0" anchor="ctr"/>
          <a:lstStyle/>
          <a:p>
            <a:pPr indent="0" marL="0">
              <a:buNone/>
            </a:pPr>
            <a:r>
              <a:rPr lang="en-US" sz="1050" b="1" dirty="0">
                <a:solidFill>
                  <a:srgbClr val="6E6787"/>
                </a:solidFill>
                <a:latin typeface="Inter" pitchFamily="34" charset="0"/>
                <a:ea typeface="Inter" pitchFamily="34" charset="-122"/>
                <a:cs typeface="Inter" pitchFamily="34" charset="-120"/>
              </a:rPr>
              <a:t>YEAR 3 — ALREADY DONE</a:t>
            </a:r>
            <a:endParaRPr lang="en-US" sz="1050" dirty="0"/>
          </a:p>
        </p:txBody>
      </p:sp>
      <p:sp>
        <p:nvSpPr>
          <p:cNvPr id="12" name="Text 9"/>
          <p:cNvSpPr txBox="1"/>
          <p:nvPr/>
        </p:nvSpPr>
        <p:spPr>
          <a:xfrm>
            <a:off x="832104" y="2743200"/>
            <a:ext cx="4736592" cy="237744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The problem defined and measured</a:t>
            </a:r>
            <a:endParaRPr lang="en-US" sz="1300" dirty="0"/>
          </a:p>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Five design generations, user-tested</a:t>
            </a:r>
            <a:endParaRPr lang="en-US" sz="1300" dirty="0"/>
          </a:p>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A decided confidence-signal design</a:t>
            </a:r>
            <a:endParaRPr lang="en-US" sz="1300" dirty="0"/>
          </a:p>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Four documented stress-test passes</a:t>
            </a:r>
            <a:endParaRPr lang="en-US" sz="1300" dirty="0"/>
          </a:p>
          <a:p>
            <a:pPr marL="342900" indent="-342900">
              <a:spcAft>
                <a:spcPts val="1000"/>
              </a:spcAft>
              <a:buSzPct val="100000"/>
              <a:buChar char="•"/>
            </a:pPr>
            <a:r>
              <a:rPr lang="en-US" sz="1300" dirty="0">
                <a:solidFill>
                  <a:srgbClr val="352E4A"/>
                </a:solidFill>
                <a:latin typeface="Inter" pitchFamily="34" charset="0"/>
                <a:ea typeface="Inter" pitchFamily="34" charset="-122"/>
                <a:cs typeface="Inter" pitchFamily="34" charset="-120"/>
              </a:rPr>
              <a:t>A pre-launch MVP that has never met a real reader</a:t>
            </a:r>
            <a:endParaRPr lang="en-US" sz="1300" dirty="0"/>
          </a:p>
        </p:txBody>
      </p:sp>
      <p:sp>
        <p:nvSpPr>
          <p:cNvPr id="13" name="Shape 10"/>
          <p:cNvSpPr/>
          <p:nvPr/>
        </p:nvSpPr>
        <p:spPr>
          <a:xfrm>
            <a:off x="6291072" y="2103120"/>
            <a:ext cx="5394960" cy="3200400"/>
          </a:xfrm>
          <a:prstGeom prst="roundRect">
            <a:avLst>
              <a:gd name="adj" fmla="val 2286"/>
            </a:avLst>
          </a:prstGeom>
          <a:solidFill>
            <a:srgbClr val="11256A"/>
          </a:solidFill>
          <a:ln/>
        </p:spPr>
      </p:sp>
      <p:sp>
        <p:nvSpPr>
          <p:cNvPr id="14" name="Text 11"/>
          <p:cNvSpPr txBox="1"/>
          <p:nvPr/>
        </p:nvSpPr>
        <p:spPr>
          <a:xfrm>
            <a:off x="6620256" y="2340864"/>
            <a:ext cx="4736592" cy="256032"/>
          </a:xfrm>
          <a:prstGeom prst="rect">
            <a:avLst/>
          </a:prstGeom>
          <a:noFill/>
          <a:ln/>
        </p:spPr>
        <p:txBody>
          <a:bodyPr wrap="square" lIns="0" tIns="0" rIns="0" bIns="0" rtlCol="0" anchor="ctr"/>
          <a:lstStyle/>
          <a:p>
            <a:pPr indent="0" marL="0">
              <a:buNone/>
            </a:pPr>
            <a:r>
              <a:rPr lang="en-US" sz="1050" b="1" dirty="0">
                <a:solidFill>
                  <a:srgbClr val="C9FA85"/>
                </a:solidFill>
                <a:latin typeface="Inter" pitchFamily="34" charset="0"/>
                <a:ea typeface="Inter" pitchFamily="34" charset="-122"/>
                <a:cs typeface="Inter" pitchFamily="34" charset="-120"/>
              </a:rPr>
              <a:t>YEAR 4 — THE NEW CONTRIBUTION</a:t>
            </a:r>
            <a:endParaRPr lang="en-US" sz="1050" dirty="0"/>
          </a:p>
        </p:txBody>
      </p:sp>
      <p:sp>
        <p:nvSpPr>
          <p:cNvPr id="15" name="Text 12"/>
          <p:cNvSpPr txBox="1"/>
          <p:nvPr/>
        </p:nvSpPr>
        <p:spPr>
          <a:xfrm>
            <a:off x="6620256" y="2743200"/>
            <a:ext cx="4736592" cy="237744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Ship it — a public beta on real, live news</a:t>
            </a:r>
            <a:endParaRPr lang="en-US" sz="1300" dirty="0"/>
          </a:p>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Real readers in real sessions, measured</a:t>
            </a:r>
            <a:endParaRPr lang="en-US" sz="1300" dirty="0"/>
          </a:p>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First paying users, and the pricing tested</a:t>
            </a:r>
            <a:endParaRPr lang="en-US" sz="1300" dirty="0"/>
          </a:p>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The stress tests automated as a regression suite</a:t>
            </a:r>
            <a:endParaRPr lang="en-US" sz="1300" dirty="0"/>
          </a:p>
          <a:p>
            <a:pPr marL="342900" indent="-342900">
              <a:spcAft>
                <a:spcPts val="1000"/>
              </a:spcAft>
              <a:buSzPct val="100000"/>
              <a:buChar char="•"/>
            </a:pPr>
            <a:r>
              <a:rPr lang="en-US" sz="1300" dirty="0">
                <a:solidFill>
                  <a:srgbClr val="FFFFFF"/>
                </a:solidFill>
                <a:latin typeface="Inter" pitchFamily="34" charset="0"/>
                <a:ea typeface="Inter" pitchFamily="34" charset="-122"/>
                <a:cs typeface="Inter" pitchFamily="34" charset="-120"/>
              </a:rPr>
              <a:t>The provisional patent filed</a:t>
            </a:r>
            <a:endParaRPr lang="en-US" sz="1300" dirty="0"/>
          </a:p>
        </p:txBody>
      </p:sp>
      <p:sp>
        <p:nvSpPr>
          <p:cNvPr id="16" name="Shape 13"/>
          <p:cNvSpPr/>
          <p:nvPr/>
        </p:nvSpPr>
        <p:spPr>
          <a:xfrm>
            <a:off x="502920" y="5504688"/>
            <a:ext cx="11183112" cy="658368"/>
          </a:xfrm>
          <a:prstGeom prst="roundRect">
            <a:avLst>
              <a:gd name="adj" fmla="val 11111"/>
            </a:avLst>
          </a:prstGeom>
          <a:solidFill>
            <a:srgbClr val="C9FA85"/>
          </a:solidFill>
          <a:ln/>
        </p:spPr>
      </p:sp>
      <p:sp>
        <p:nvSpPr>
          <p:cNvPr id="17" name="Text 14"/>
          <p:cNvSpPr txBox="1"/>
          <p:nvPr/>
        </p:nvSpPr>
        <p:spPr>
          <a:xfrm>
            <a:off x="886968" y="5504688"/>
            <a:ext cx="10415016" cy="658368"/>
          </a:xfrm>
          <a:prstGeom prst="rect">
            <a:avLst/>
          </a:prstGeom>
          <a:noFill/>
          <a:ln/>
        </p:spPr>
        <p:txBody>
          <a:bodyPr wrap="square" lIns="0" tIns="0" rIns="0" bIns="0" rtlCol="0" anchor="ctr"/>
          <a:lstStyle/>
          <a:p>
            <a:pPr indent="0" marL="0">
              <a:buNone/>
            </a:pPr>
            <a:r>
              <a:rPr lang="en-US" sz="1600" b="1" dirty="0">
                <a:solidFill>
                  <a:srgbClr val="11256A"/>
                </a:solidFill>
                <a:latin typeface="Space Grotesk" pitchFamily="34" charset="0"/>
                <a:ea typeface="Space Grotesk" pitchFamily="34" charset="-122"/>
                <a:cs typeface="Space Grotesk" pitchFamily="34" charset="-120"/>
              </a:rPr>
              <a:t>Year 3 showed that people want this. Year 4 has to show that they will use it, and pay for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7D1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PLAN · THE NEXT TEN MONTHS</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How Year 4 runs on the FYP calendar</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10</a:t>
            </a:r>
            <a:endParaRPr lang="en-US" sz="950" dirty="0"/>
          </a:p>
        </p:txBody>
      </p:sp>
      <p:sp>
        <p:nvSpPr>
          <p:cNvPr id="10" name="Shape 7"/>
          <p:cNvSpPr/>
          <p:nvPr/>
        </p:nvSpPr>
        <p:spPr>
          <a:xfrm>
            <a:off x="1051560" y="4905756"/>
            <a:ext cx="10085832" cy="27432"/>
          </a:xfrm>
          <a:prstGeom prst="rect">
            <a:avLst/>
          </a:prstGeom>
          <a:solidFill>
            <a:srgbClr val="E2DBF0"/>
          </a:solidFill>
          <a:ln/>
        </p:spPr>
      </p:sp>
      <p:sp>
        <p:nvSpPr>
          <p:cNvPr id="11" name="Shape 8"/>
          <p:cNvSpPr/>
          <p:nvPr/>
        </p:nvSpPr>
        <p:spPr>
          <a:xfrm>
            <a:off x="502920" y="2103120"/>
            <a:ext cx="2057400" cy="2487168"/>
          </a:xfrm>
          <a:prstGeom prst="roundRect">
            <a:avLst>
              <a:gd name="adj" fmla="val 3556"/>
            </a:avLst>
          </a:prstGeom>
          <a:solidFill>
            <a:srgbClr val="D3CAFF"/>
          </a:solidFill>
          <a:ln/>
          <a:effectLst>
            <a:outerShdw sx="100000" sy="100000" kx="0" ky="0" algn="bl" rotWithShape="0" blurRad="127000" dist="25400" dir="5400000">
              <a:srgbClr val="352E4A">
                <a:alpha val="13000"/>
              </a:srgbClr>
            </a:outerShdw>
          </a:effectLst>
        </p:spPr>
      </p:sp>
      <p:sp>
        <p:nvSpPr>
          <p:cNvPr id="12" name="Shape 9"/>
          <p:cNvSpPr/>
          <p:nvPr/>
        </p:nvSpPr>
        <p:spPr>
          <a:xfrm>
            <a:off x="521208" y="2103120"/>
            <a:ext cx="2020824" cy="73152"/>
          </a:xfrm>
          <a:prstGeom prst="rect">
            <a:avLst/>
          </a:prstGeom>
          <a:solidFill>
            <a:srgbClr val="C9FA85"/>
          </a:solidFill>
          <a:ln/>
        </p:spPr>
      </p:sp>
      <p:sp>
        <p:nvSpPr>
          <p:cNvPr id="13" name="Text 10"/>
          <p:cNvSpPr txBox="1"/>
          <p:nvPr/>
        </p:nvSpPr>
        <p:spPr>
          <a:xfrm>
            <a:off x="72237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SEP 2026</a:t>
            </a:r>
            <a:endParaRPr lang="en-US" sz="1050" dirty="0"/>
          </a:p>
        </p:txBody>
      </p:sp>
      <p:sp>
        <p:nvSpPr>
          <p:cNvPr id="14" name="Text 11"/>
          <p:cNvSpPr txBox="1"/>
          <p:nvPr/>
        </p:nvSpPr>
        <p:spPr>
          <a:xfrm>
            <a:off x="72237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Lock and pitch</a:t>
            </a:r>
            <a:endParaRPr lang="en-US" sz="1500" dirty="0"/>
          </a:p>
        </p:txBody>
      </p:sp>
      <p:sp>
        <p:nvSpPr>
          <p:cNvPr id="15" name="Text 12"/>
          <p:cNvSpPr txBox="1"/>
          <p:nvPr/>
        </p:nvSpPr>
        <p:spPr>
          <a:xfrm>
            <a:off x="72237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Confirm topic, advisor and track. InnoX bootcamp, 19–20 September: two rounds of pitching.</a:t>
            </a:r>
            <a:endParaRPr lang="en-US" sz="1100" dirty="0"/>
          </a:p>
        </p:txBody>
      </p:sp>
      <p:sp>
        <p:nvSpPr>
          <p:cNvPr id="16" name="Shape 13"/>
          <p:cNvSpPr/>
          <p:nvPr/>
        </p:nvSpPr>
        <p:spPr>
          <a:xfrm>
            <a:off x="1440180" y="4828032"/>
            <a:ext cx="182880" cy="182880"/>
          </a:xfrm>
          <a:prstGeom prst="ellipse">
            <a:avLst/>
          </a:prstGeom>
          <a:solidFill>
            <a:srgbClr val="C9FA85"/>
          </a:solidFill>
          <a:ln w="19050">
            <a:solidFill>
              <a:srgbClr val="FFFFFF"/>
            </a:solidFill>
            <a:prstDash val="solid"/>
          </a:ln>
        </p:spPr>
      </p:sp>
      <p:sp>
        <p:nvSpPr>
          <p:cNvPr id="17" name="Shape 14"/>
          <p:cNvSpPr/>
          <p:nvPr/>
        </p:nvSpPr>
        <p:spPr>
          <a:xfrm>
            <a:off x="2743200" y="2103120"/>
            <a:ext cx="2057400" cy="2487168"/>
          </a:xfrm>
          <a:prstGeom prst="roundRect">
            <a:avLst>
              <a:gd name="adj" fmla="val 3556"/>
            </a:avLst>
          </a:prstGeom>
          <a:solidFill>
            <a:srgbClr val="F5F2FF"/>
          </a:solidFill>
          <a:ln/>
          <a:effectLst>
            <a:outerShdw sx="100000" sy="100000" kx="0" ky="0" algn="bl" rotWithShape="0" blurRad="127000" dist="25400" dir="5400000">
              <a:srgbClr val="352E4A">
                <a:alpha val="13000"/>
              </a:srgbClr>
            </a:outerShdw>
          </a:effectLst>
        </p:spPr>
      </p:sp>
      <p:sp>
        <p:nvSpPr>
          <p:cNvPr id="18" name="Shape 15"/>
          <p:cNvSpPr/>
          <p:nvPr/>
        </p:nvSpPr>
        <p:spPr>
          <a:xfrm>
            <a:off x="2761488" y="2103120"/>
            <a:ext cx="2020824" cy="73152"/>
          </a:xfrm>
          <a:prstGeom prst="rect">
            <a:avLst/>
          </a:prstGeom>
          <a:solidFill>
            <a:srgbClr val="800080"/>
          </a:solidFill>
          <a:ln/>
        </p:spPr>
      </p:sp>
      <p:sp>
        <p:nvSpPr>
          <p:cNvPr id="19" name="Text 16"/>
          <p:cNvSpPr txBox="1"/>
          <p:nvPr/>
        </p:nvSpPr>
        <p:spPr>
          <a:xfrm>
            <a:off x="296265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OCT 2026</a:t>
            </a:r>
            <a:endParaRPr lang="en-US" sz="1050" dirty="0"/>
          </a:p>
        </p:txBody>
      </p:sp>
      <p:sp>
        <p:nvSpPr>
          <p:cNvPr id="20" name="Text 17"/>
          <p:cNvSpPr txBox="1"/>
          <p:nvPr/>
        </p:nvSpPr>
        <p:spPr>
          <a:xfrm>
            <a:off x="296265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Plan and prove</a:t>
            </a:r>
            <a:endParaRPr lang="en-US" sz="1500" dirty="0"/>
          </a:p>
        </p:txBody>
      </p:sp>
      <p:sp>
        <p:nvSpPr>
          <p:cNvPr id="21" name="Text 18"/>
          <p:cNvSpPr txBox="1"/>
          <p:nvPr/>
        </p:nvSpPr>
        <p:spPr>
          <a:xfrm>
            <a:off x="296265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Detailed project plan and feasibility: ingestion breadth, cost model, and the scope of the beta.</a:t>
            </a:r>
            <a:endParaRPr lang="en-US" sz="1100" dirty="0"/>
          </a:p>
        </p:txBody>
      </p:sp>
      <p:sp>
        <p:nvSpPr>
          <p:cNvPr id="22" name="Shape 19"/>
          <p:cNvSpPr/>
          <p:nvPr/>
        </p:nvSpPr>
        <p:spPr>
          <a:xfrm>
            <a:off x="3680460" y="4828032"/>
            <a:ext cx="182880" cy="182880"/>
          </a:xfrm>
          <a:prstGeom prst="ellipse">
            <a:avLst/>
          </a:prstGeom>
          <a:solidFill>
            <a:srgbClr val="800080"/>
          </a:solidFill>
          <a:ln w="19050">
            <a:solidFill>
              <a:srgbClr val="FFFFFF"/>
            </a:solidFill>
            <a:prstDash val="solid"/>
          </a:ln>
        </p:spPr>
      </p:sp>
      <p:sp>
        <p:nvSpPr>
          <p:cNvPr id="23" name="Shape 20"/>
          <p:cNvSpPr/>
          <p:nvPr/>
        </p:nvSpPr>
        <p:spPr>
          <a:xfrm>
            <a:off x="4983480" y="2103120"/>
            <a:ext cx="2057400" cy="2487168"/>
          </a:xfrm>
          <a:prstGeom prst="roundRect">
            <a:avLst>
              <a:gd name="adj" fmla="val 3556"/>
            </a:avLst>
          </a:prstGeom>
          <a:solidFill>
            <a:srgbClr val="F5F2FF"/>
          </a:solidFill>
          <a:ln/>
          <a:effectLst>
            <a:outerShdw sx="100000" sy="100000" kx="0" ky="0" algn="bl" rotWithShape="0" blurRad="127000" dist="25400" dir="5400000">
              <a:srgbClr val="352E4A">
                <a:alpha val="13000"/>
              </a:srgbClr>
            </a:outerShdw>
          </a:effectLst>
        </p:spPr>
      </p:sp>
      <p:sp>
        <p:nvSpPr>
          <p:cNvPr id="24" name="Shape 21"/>
          <p:cNvSpPr/>
          <p:nvPr/>
        </p:nvSpPr>
        <p:spPr>
          <a:xfrm>
            <a:off x="5001768" y="2103120"/>
            <a:ext cx="2020824" cy="73152"/>
          </a:xfrm>
          <a:prstGeom prst="rect">
            <a:avLst/>
          </a:prstGeom>
          <a:solidFill>
            <a:srgbClr val="11256A"/>
          </a:solidFill>
          <a:ln/>
        </p:spPr>
      </p:sp>
      <p:sp>
        <p:nvSpPr>
          <p:cNvPr id="25" name="Text 22"/>
          <p:cNvSpPr txBox="1"/>
          <p:nvPr/>
        </p:nvSpPr>
        <p:spPr>
          <a:xfrm>
            <a:off x="520293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NOV – DEC 2026</a:t>
            </a:r>
            <a:endParaRPr lang="en-US" sz="1050" dirty="0"/>
          </a:p>
        </p:txBody>
      </p:sp>
      <p:sp>
        <p:nvSpPr>
          <p:cNvPr id="26" name="Text 23"/>
          <p:cNvSpPr txBox="1"/>
          <p:nvPr/>
        </p:nvSpPr>
        <p:spPr>
          <a:xfrm>
            <a:off x="520293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Build and launch</a:t>
            </a:r>
            <a:endParaRPr lang="en-US" sz="1500" dirty="0"/>
          </a:p>
        </p:txBody>
      </p:sp>
      <p:sp>
        <p:nvSpPr>
          <p:cNvPr id="27" name="Text 24"/>
          <p:cNvSpPr txBox="1"/>
          <p:nvPr/>
        </p:nvSpPr>
        <p:spPr>
          <a:xfrm>
            <a:off x="520293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Ship the public beta. First real readers on real news, alongside the mid-term deliverables.</a:t>
            </a:r>
            <a:endParaRPr lang="en-US" sz="1100" dirty="0"/>
          </a:p>
        </p:txBody>
      </p:sp>
      <p:sp>
        <p:nvSpPr>
          <p:cNvPr id="28" name="Shape 25"/>
          <p:cNvSpPr/>
          <p:nvPr/>
        </p:nvSpPr>
        <p:spPr>
          <a:xfrm>
            <a:off x="5920740" y="4828032"/>
            <a:ext cx="182880" cy="182880"/>
          </a:xfrm>
          <a:prstGeom prst="ellipse">
            <a:avLst/>
          </a:prstGeom>
          <a:solidFill>
            <a:srgbClr val="11256A"/>
          </a:solidFill>
          <a:ln w="19050">
            <a:solidFill>
              <a:srgbClr val="FFFFFF"/>
            </a:solidFill>
            <a:prstDash val="solid"/>
          </a:ln>
        </p:spPr>
      </p:sp>
      <p:sp>
        <p:nvSpPr>
          <p:cNvPr id="29" name="Shape 26"/>
          <p:cNvSpPr/>
          <p:nvPr/>
        </p:nvSpPr>
        <p:spPr>
          <a:xfrm>
            <a:off x="7223760" y="2103120"/>
            <a:ext cx="2057400" cy="2487168"/>
          </a:xfrm>
          <a:prstGeom prst="roundRect">
            <a:avLst>
              <a:gd name="adj" fmla="val 3556"/>
            </a:avLst>
          </a:prstGeom>
          <a:solidFill>
            <a:srgbClr val="F5F2FF"/>
          </a:solidFill>
          <a:ln/>
          <a:effectLst>
            <a:outerShdw sx="100000" sy="100000" kx="0" ky="0" algn="bl" rotWithShape="0" blurRad="127000" dist="25400" dir="5400000">
              <a:srgbClr val="352E4A">
                <a:alpha val="13000"/>
              </a:srgbClr>
            </a:outerShdw>
          </a:effectLst>
        </p:spPr>
      </p:sp>
      <p:sp>
        <p:nvSpPr>
          <p:cNvPr id="30" name="Shape 27"/>
          <p:cNvSpPr/>
          <p:nvPr/>
        </p:nvSpPr>
        <p:spPr>
          <a:xfrm>
            <a:off x="7242048" y="2103120"/>
            <a:ext cx="2020824" cy="73152"/>
          </a:xfrm>
          <a:prstGeom prst="rect">
            <a:avLst/>
          </a:prstGeom>
          <a:solidFill>
            <a:srgbClr val="667DFF"/>
          </a:solidFill>
          <a:ln/>
        </p:spPr>
      </p:sp>
      <p:sp>
        <p:nvSpPr>
          <p:cNvPr id="31" name="Text 28"/>
          <p:cNvSpPr txBox="1"/>
          <p:nvPr/>
        </p:nvSpPr>
        <p:spPr>
          <a:xfrm>
            <a:off x="744321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JAN – MAY 2027</a:t>
            </a:r>
            <a:endParaRPr lang="en-US" sz="1050" dirty="0"/>
          </a:p>
        </p:txBody>
      </p:sp>
      <p:sp>
        <p:nvSpPr>
          <p:cNvPr id="32" name="Text 29"/>
          <p:cNvSpPr txBox="1"/>
          <p:nvPr/>
        </p:nvSpPr>
        <p:spPr>
          <a:xfrm>
            <a:off x="744321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Live iteration</a:t>
            </a:r>
            <a:endParaRPr lang="en-US" sz="1500" dirty="0"/>
          </a:p>
        </p:txBody>
      </p:sp>
      <p:sp>
        <p:nvSpPr>
          <p:cNvPr id="33" name="Text 30"/>
          <p:cNvSpPr txBox="1"/>
          <p:nvPr/>
        </p:nvSpPr>
        <p:spPr>
          <a:xfrm>
            <a:off x="744321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User testing on genuine sessions, commercial validation, first paying users, patent filed.</a:t>
            </a:r>
            <a:endParaRPr lang="en-US" sz="1100" dirty="0"/>
          </a:p>
        </p:txBody>
      </p:sp>
      <p:sp>
        <p:nvSpPr>
          <p:cNvPr id="34" name="Shape 31"/>
          <p:cNvSpPr/>
          <p:nvPr/>
        </p:nvSpPr>
        <p:spPr>
          <a:xfrm>
            <a:off x="8161020" y="4828032"/>
            <a:ext cx="182880" cy="182880"/>
          </a:xfrm>
          <a:prstGeom prst="ellipse">
            <a:avLst/>
          </a:prstGeom>
          <a:solidFill>
            <a:srgbClr val="667DFF"/>
          </a:solidFill>
          <a:ln w="19050">
            <a:solidFill>
              <a:srgbClr val="FFFFFF"/>
            </a:solidFill>
            <a:prstDash val="solid"/>
          </a:ln>
        </p:spPr>
      </p:sp>
      <p:sp>
        <p:nvSpPr>
          <p:cNvPr id="35" name="Shape 32"/>
          <p:cNvSpPr/>
          <p:nvPr/>
        </p:nvSpPr>
        <p:spPr>
          <a:xfrm>
            <a:off x="9464040" y="2103120"/>
            <a:ext cx="2057400" cy="2487168"/>
          </a:xfrm>
          <a:prstGeom prst="roundRect">
            <a:avLst>
              <a:gd name="adj" fmla="val 3556"/>
            </a:avLst>
          </a:prstGeom>
          <a:solidFill>
            <a:srgbClr val="F5F2FF"/>
          </a:solidFill>
          <a:ln/>
          <a:effectLst>
            <a:outerShdw sx="100000" sy="100000" kx="0" ky="0" algn="bl" rotWithShape="0" blurRad="127000" dist="25400" dir="5400000">
              <a:srgbClr val="352E4A">
                <a:alpha val="13000"/>
              </a:srgbClr>
            </a:outerShdw>
          </a:effectLst>
        </p:spPr>
      </p:sp>
      <p:sp>
        <p:nvSpPr>
          <p:cNvPr id="36" name="Shape 33"/>
          <p:cNvSpPr/>
          <p:nvPr/>
        </p:nvSpPr>
        <p:spPr>
          <a:xfrm>
            <a:off x="9482328" y="2103120"/>
            <a:ext cx="2020824" cy="73152"/>
          </a:xfrm>
          <a:prstGeom prst="rect">
            <a:avLst/>
          </a:prstGeom>
          <a:solidFill>
            <a:srgbClr val="800080"/>
          </a:solidFill>
          <a:ln/>
        </p:spPr>
      </p:sp>
      <p:sp>
        <p:nvSpPr>
          <p:cNvPr id="37" name="Text 34"/>
          <p:cNvSpPr txBox="1"/>
          <p:nvPr/>
        </p:nvSpPr>
        <p:spPr>
          <a:xfrm>
            <a:off x="9683496" y="2322576"/>
            <a:ext cx="1645920" cy="237744"/>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JUN 2027</a:t>
            </a:r>
            <a:endParaRPr lang="en-US" sz="1050" dirty="0"/>
          </a:p>
        </p:txBody>
      </p:sp>
      <p:sp>
        <p:nvSpPr>
          <p:cNvPr id="38" name="Text 35"/>
          <p:cNvSpPr txBox="1"/>
          <p:nvPr/>
        </p:nvSpPr>
        <p:spPr>
          <a:xfrm>
            <a:off x="9683496" y="2615184"/>
            <a:ext cx="1645920" cy="329184"/>
          </a:xfrm>
          <a:prstGeom prst="rect">
            <a:avLst/>
          </a:prstGeom>
          <a:noFill/>
          <a:ln/>
        </p:spPr>
        <p:txBody>
          <a:bodyPr wrap="square" lIns="0" tIns="0" rIns="0" bIns="0" rtlCol="0" anchor="ctr"/>
          <a:lstStyle/>
          <a:p>
            <a:pPr indent="0" marL="0">
              <a:buNone/>
            </a:pPr>
            <a:r>
              <a:rPr lang="en-US" sz="1500" b="1" dirty="0">
                <a:solidFill>
                  <a:srgbClr val="11256A"/>
                </a:solidFill>
                <a:latin typeface="Space Grotesk" pitchFamily="34" charset="0"/>
                <a:ea typeface="Space Grotesk" pitchFamily="34" charset="-122"/>
                <a:cs typeface="Space Grotesk" pitchFamily="34" charset="-120"/>
              </a:rPr>
              <a:t>Final demo</a:t>
            </a:r>
            <a:endParaRPr lang="en-US" sz="1500" dirty="0"/>
          </a:p>
        </p:txBody>
      </p:sp>
      <p:sp>
        <p:nvSpPr>
          <p:cNvPr id="39" name="Text 36"/>
          <p:cNvSpPr txBox="1"/>
          <p:nvPr/>
        </p:nvSpPr>
        <p:spPr>
          <a:xfrm>
            <a:off x="9683496" y="3017520"/>
            <a:ext cx="1645920" cy="1371600"/>
          </a:xfrm>
          <a:prstGeom prst="rect">
            <a:avLst/>
          </a:prstGeom>
          <a:noFill/>
          <a:ln/>
        </p:spPr>
        <p:txBody>
          <a:bodyPr wrap="square" lIns="0" tIns="0" rIns="0" bIns="0" rtlCol="0" anchor="t"/>
          <a:lstStyle/>
          <a:p>
            <a:pPr indent="0" marL="0">
              <a:lnSpc>
                <a:spcPct val="114000"/>
              </a:lnSpc>
              <a:buNone/>
            </a:pPr>
            <a:r>
              <a:rPr lang="en-US" sz="1100" dirty="0">
                <a:solidFill>
                  <a:srgbClr val="352E4A"/>
                </a:solidFill>
                <a:latin typeface="Inter" pitchFamily="34" charset="0"/>
                <a:ea typeface="Inter" pitchFamily="34" charset="-122"/>
                <a:cs typeface="Inter" pitchFamily="34" charset="-120"/>
              </a:rPr>
              <a:t>A live product with real users and traction data behind it.</a:t>
            </a:r>
            <a:endParaRPr lang="en-US" sz="1100" dirty="0"/>
          </a:p>
        </p:txBody>
      </p:sp>
      <p:sp>
        <p:nvSpPr>
          <p:cNvPr id="40" name="Shape 37"/>
          <p:cNvSpPr/>
          <p:nvPr/>
        </p:nvSpPr>
        <p:spPr>
          <a:xfrm>
            <a:off x="10401300" y="4828032"/>
            <a:ext cx="182880" cy="182880"/>
          </a:xfrm>
          <a:prstGeom prst="ellipse">
            <a:avLst/>
          </a:prstGeom>
          <a:solidFill>
            <a:srgbClr val="800080"/>
          </a:solidFill>
          <a:ln w="19050">
            <a:solidFill>
              <a:srgbClr val="FFFFFF"/>
            </a:solidFill>
            <a:prstDash val="solid"/>
          </a:ln>
        </p:spPr>
      </p:sp>
      <p:sp>
        <p:nvSpPr>
          <p:cNvPr id="41" name="Shape 38"/>
          <p:cNvSpPr/>
          <p:nvPr/>
        </p:nvSpPr>
        <p:spPr>
          <a:xfrm>
            <a:off x="502920" y="5321808"/>
            <a:ext cx="11183112" cy="822960"/>
          </a:xfrm>
          <a:prstGeom prst="roundRect">
            <a:avLst>
              <a:gd name="adj" fmla="val 8889"/>
            </a:avLst>
          </a:prstGeom>
          <a:solidFill>
            <a:srgbClr val="F5F2FF"/>
          </a:solidFill>
          <a:ln/>
        </p:spPr>
      </p:sp>
      <p:sp>
        <p:nvSpPr>
          <p:cNvPr id="42" name="Text 39"/>
          <p:cNvSpPr txBox="1"/>
          <p:nvPr/>
        </p:nvSpPr>
        <p:spPr>
          <a:xfrm>
            <a:off x="886968" y="5321808"/>
            <a:ext cx="10415016" cy="822960"/>
          </a:xfrm>
          <a:prstGeom prst="rect">
            <a:avLst/>
          </a:prstGeom>
          <a:noFill/>
          <a:ln/>
        </p:spPr>
        <p:txBody>
          <a:bodyPr wrap="square" lIns="0" tIns="0" rIns="0" bIns="0" rtlCol="0" anchor="ctr"/>
          <a:lstStyle/>
          <a:p>
            <a:pPr indent="0" marL="0">
              <a:buNone/>
            </a:pPr>
            <a:r>
              <a:rPr lang="en-US" sz="1250" b="1" dirty="0">
                <a:solidFill>
                  <a:srgbClr val="800080"/>
                </a:solidFill>
                <a:latin typeface="Inter" pitchFamily="34" charset="0"/>
                <a:ea typeface="Inter" pitchFamily="34" charset="-122"/>
                <a:cs typeface="Inter" pitchFamily="34" charset="-120"/>
              </a:rPr>
              <a:t>ON INNOX:  </a:t>
            </a:r>
            <a:pPr indent="0" marL="0">
              <a:buNone/>
            </a:pPr>
            <a:r>
              <a:rPr lang="en-US" sz="1250" dirty="0">
                <a:solidFill>
                  <a:srgbClr val="352E4A"/>
                </a:solidFill>
                <a:latin typeface="Inter" pitchFamily="34" charset="0"/>
                <a:ea typeface="Inter" pitchFamily="34" charset="-122"/>
                <a:cs typeface="Inter" pitchFamily="34" charset="-120"/>
              </a:rPr>
              <a:t>the bootcamp lands at a useful moment for us. We would use its two pitching rounds to pressure-test the scope of the beta, not to look for a topic.</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 y="-18288"/>
            <a:ext cx="12234672" cy="1892808"/>
          </a:xfrm>
          <a:prstGeom prst="rect">
            <a:avLst/>
          </a:prstGeom>
          <a:solidFill>
            <a:srgbClr val="C7D1FF"/>
          </a:solidFill>
          <a:ln/>
        </p:spPr>
      </p:sp>
      <p:pic>
        <p:nvPicPr>
          <p:cNvPr id="3" name="Image 0" descr="preencoded.png">    </p:cNvPr>
          <p:cNvPicPr>
            <a:picLocks noChangeAspect="1"/>
          </p:cNvPicPr>
          <p:nvPr/>
        </p:nvPicPr>
        <p:blipFill>
          <a:blip r:embed="rId1"/>
          <a:stretch>
            <a:fillRect/>
          </a:stretch>
        </p:blipFill>
        <p:spPr>
          <a:xfrm>
            <a:off x="429768" y="219456"/>
            <a:ext cx="1143000" cy="420624"/>
          </a:xfrm>
          <a:prstGeom prst="rect">
            <a:avLst/>
          </a:prstGeom>
        </p:spPr>
      </p:pic>
      <p:sp>
        <p:nvSpPr>
          <p:cNvPr id="4" name="Text 1"/>
          <p:cNvSpPr txBox="1"/>
          <p:nvPr/>
        </p:nvSpPr>
        <p:spPr>
          <a:xfrm>
            <a:off x="6766560" y="338328"/>
            <a:ext cx="4919472" cy="274320"/>
          </a:xfrm>
          <a:prstGeom prst="rect">
            <a:avLst/>
          </a:prstGeom>
          <a:noFill/>
          <a:ln/>
        </p:spPr>
        <p:txBody>
          <a:bodyPr wrap="square" lIns="0" tIns="0" rIns="0" bIns="0" rtlCol="0" anchor="ctr"/>
          <a:lstStyle/>
          <a:p>
            <a:pPr algn="r" indent="0" marL="0">
              <a:buNone/>
            </a:pPr>
            <a:r>
              <a:rPr lang="en-US" sz="900" dirty="0">
                <a:solidFill>
                  <a:srgbClr val="3A466E"/>
                </a:solidFill>
                <a:latin typeface="Inter" pitchFamily="34" charset="0"/>
                <a:ea typeface="Inter" pitchFamily="34" charset="-122"/>
                <a:cs typeface="Inter" pitchFamily="34" charset="-120"/>
              </a:rPr>
              <a:t>ISDN 4001 · FYP PROPOSAL · 28 AUGUST 2026</a:t>
            </a:r>
            <a:endParaRPr lang="en-US" sz="900" dirty="0"/>
          </a:p>
        </p:txBody>
      </p:sp>
      <p:sp>
        <p:nvSpPr>
          <p:cNvPr id="5" name="Text 2"/>
          <p:cNvSpPr txBox="1"/>
          <p:nvPr/>
        </p:nvSpPr>
        <p:spPr>
          <a:xfrm>
            <a:off x="502920" y="804672"/>
            <a:ext cx="11183112" cy="292608"/>
          </a:xfrm>
          <a:prstGeom prst="rect">
            <a:avLst/>
          </a:prstGeom>
          <a:noFill/>
          <a:ln/>
        </p:spPr>
        <p:txBody>
          <a:bodyPr wrap="square" lIns="0" tIns="0" rIns="0" bIns="0" rtlCol="0" anchor="ctr"/>
          <a:lstStyle/>
          <a:p>
            <a:pPr indent="0" marL="0">
              <a:buNone/>
            </a:pPr>
            <a:r>
              <a:rPr lang="en-US" sz="1050" b="1" dirty="0">
                <a:solidFill>
                  <a:srgbClr val="800080"/>
                </a:solidFill>
                <a:latin typeface="Inter" pitchFamily="34" charset="0"/>
                <a:ea typeface="Inter" pitchFamily="34" charset="-122"/>
                <a:cs typeface="Inter" pitchFamily="34" charset="-120"/>
              </a:rPr>
              <a:t>TEAM · AND AN HONEST WORD ON TEAM SIZE</a:t>
            </a:r>
            <a:endParaRPr lang="en-US" sz="1050" dirty="0"/>
          </a:p>
        </p:txBody>
      </p:sp>
      <p:sp>
        <p:nvSpPr>
          <p:cNvPr id="6" name="Text 3"/>
          <p:cNvSpPr txBox="1"/>
          <p:nvPr/>
        </p:nvSpPr>
        <p:spPr>
          <a:xfrm>
            <a:off x="502920" y="1069848"/>
            <a:ext cx="11183112" cy="777240"/>
          </a:xfrm>
          <a:prstGeom prst="rect">
            <a:avLst/>
          </a:prstGeom>
          <a:noFill/>
          <a:ln/>
        </p:spPr>
        <p:txBody>
          <a:bodyPr wrap="square" lIns="0" tIns="0" rIns="0" bIns="0" rtlCol="0" anchor="t"/>
          <a:lstStyle/>
          <a:p>
            <a:pPr indent="0" marL="0">
              <a:buNone/>
            </a:pPr>
            <a:r>
              <a:rPr lang="en-US" sz="3300" b="1" dirty="0">
                <a:solidFill>
                  <a:srgbClr val="11256A"/>
                </a:solidFill>
                <a:latin typeface="Space Grotesk" pitchFamily="34" charset="0"/>
                <a:ea typeface="Space Grotesk" pitchFamily="34" charset="-122"/>
                <a:cs typeface="Space Grotesk" pitchFamily="34" charset="-120"/>
              </a:rPr>
              <a:t>The two of us</a:t>
            </a:r>
            <a:endParaRPr lang="en-US" sz="3300" dirty="0"/>
          </a:p>
        </p:txBody>
      </p:sp>
      <p:sp>
        <p:nvSpPr>
          <p:cNvPr id="7" name="Shape 4"/>
          <p:cNvSpPr/>
          <p:nvPr/>
        </p:nvSpPr>
        <p:spPr>
          <a:xfrm>
            <a:off x="502920" y="6382512"/>
            <a:ext cx="11183112" cy="10973"/>
          </a:xfrm>
          <a:prstGeom prst="rect">
            <a:avLst/>
          </a:prstGeom>
          <a:solidFill>
            <a:srgbClr val="E2DBF0"/>
          </a:solidFill>
          <a:ln/>
        </p:spPr>
      </p:sp>
      <p:sp>
        <p:nvSpPr>
          <p:cNvPr id="8" name="Text 5"/>
          <p:cNvSpPr txBox="1"/>
          <p:nvPr/>
        </p:nvSpPr>
        <p:spPr>
          <a:xfrm>
            <a:off x="502920" y="6437376"/>
            <a:ext cx="9601200" cy="274320"/>
          </a:xfrm>
          <a:prstGeom prst="rect">
            <a:avLst/>
          </a:prstGeom>
          <a:noFill/>
          <a:ln/>
        </p:spPr>
        <p:txBody>
          <a:bodyPr wrap="square" lIns="0" tIns="0" rIns="0" bIns="0" rtlCol="0" anchor="ctr"/>
          <a:lstStyle/>
          <a:p>
            <a:pPr indent="0" marL="0">
              <a:buNone/>
            </a:pPr>
            <a:r>
              <a:rPr lang="en-US" sz="900" dirty="0">
                <a:solidFill>
                  <a:srgbClr val="6E6787"/>
                </a:solidFill>
                <a:latin typeface="Inter" pitchFamily="34" charset="0"/>
                <a:ea typeface="Inter" pitchFamily="34" charset="-122"/>
                <a:cs typeface="Inter" pitchFamily="34" charset="-120"/>
              </a:rPr>
              <a:t>Fliq: News That Moves Like You Do</a:t>
            </a:r>
            <a:endParaRPr lang="en-US" sz="900" dirty="0"/>
          </a:p>
        </p:txBody>
      </p:sp>
      <p:sp>
        <p:nvSpPr>
          <p:cNvPr id="9" name="Text 6"/>
          <p:cNvSpPr txBox="1"/>
          <p:nvPr/>
        </p:nvSpPr>
        <p:spPr>
          <a:xfrm>
            <a:off x="10881360" y="6437376"/>
            <a:ext cx="804672" cy="274320"/>
          </a:xfrm>
          <a:prstGeom prst="rect">
            <a:avLst/>
          </a:prstGeom>
          <a:noFill/>
          <a:ln/>
        </p:spPr>
        <p:txBody>
          <a:bodyPr wrap="square" lIns="0" tIns="0" rIns="0" bIns="0" rtlCol="0" anchor="ctr"/>
          <a:lstStyle/>
          <a:p>
            <a:pPr algn="r" indent="0" marL="0">
              <a:buNone/>
            </a:pPr>
            <a:r>
              <a:rPr lang="en-US" sz="950" dirty="0">
                <a:solidFill>
                  <a:srgbClr val="6E6787"/>
                </a:solidFill>
                <a:latin typeface="Inter" pitchFamily="34" charset="0"/>
                <a:ea typeface="Inter" pitchFamily="34" charset="-122"/>
                <a:cs typeface="Inter" pitchFamily="34" charset="-120"/>
              </a:rPr>
              <a:t>11</a:t>
            </a:r>
            <a:endParaRPr lang="en-US" sz="950" dirty="0"/>
          </a:p>
        </p:txBody>
      </p:sp>
      <p:sp>
        <p:nvSpPr>
          <p:cNvPr id="10" name="Shape 7"/>
          <p:cNvSpPr/>
          <p:nvPr/>
        </p:nvSpPr>
        <p:spPr>
          <a:xfrm>
            <a:off x="502920" y="2103120"/>
            <a:ext cx="5394960" cy="1828800"/>
          </a:xfrm>
          <a:prstGeom prst="roundRect">
            <a:avLst>
              <a:gd name="adj" fmla="val 4000"/>
            </a:avLst>
          </a:prstGeom>
          <a:solidFill>
            <a:srgbClr val="D3CAFF"/>
          </a:solidFill>
          <a:ln/>
          <a:effectLst>
            <a:outerShdw sx="100000" sy="100000" kx="0" ky="0" algn="bl" rotWithShape="0" blurRad="127000" dist="25400" dir="5400000">
              <a:srgbClr val="352E4A">
                <a:alpha val="13000"/>
              </a:srgbClr>
            </a:outerShdw>
          </a:effectLst>
        </p:spPr>
      </p:sp>
      <p:sp>
        <p:nvSpPr>
          <p:cNvPr id="11" name="Text 8"/>
          <p:cNvSpPr txBox="1"/>
          <p:nvPr/>
        </p:nvSpPr>
        <p:spPr>
          <a:xfrm>
            <a:off x="795528" y="2286000"/>
            <a:ext cx="4809744" cy="310896"/>
          </a:xfrm>
          <a:prstGeom prst="rect">
            <a:avLst/>
          </a:prstGeom>
          <a:noFill/>
          <a:ln/>
        </p:spPr>
        <p:txBody>
          <a:bodyPr wrap="square" lIns="0" tIns="0" rIns="0" bIns="0" rtlCol="0" anchor="ctr"/>
          <a:lstStyle/>
          <a:p>
            <a:pPr indent="0" marL="0">
              <a:buNone/>
            </a:pPr>
            <a:r>
              <a:rPr lang="en-US" sz="1700" b="1" dirty="0">
                <a:solidFill>
                  <a:srgbClr val="11256A"/>
                </a:solidFill>
                <a:latin typeface="Space Grotesk" pitchFamily="34" charset="0"/>
                <a:ea typeface="Space Grotesk" pitchFamily="34" charset="-122"/>
                <a:cs typeface="Space Grotesk" pitchFamily="34" charset="-120"/>
              </a:rPr>
              <a:t>Victor Nesteruk</a:t>
            </a:r>
            <a:endParaRPr lang="en-US" sz="1700" dirty="0"/>
          </a:p>
        </p:txBody>
      </p:sp>
      <p:sp>
        <p:nvSpPr>
          <p:cNvPr id="12" name="Text 9"/>
          <p:cNvSpPr txBox="1"/>
          <p:nvPr/>
        </p:nvSpPr>
        <p:spPr>
          <a:xfrm>
            <a:off x="795528" y="2615184"/>
            <a:ext cx="4809744" cy="237744"/>
          </a:xfrm>
          <a:prstGeom prst="rect">
            <a:avLst/>
          </a:prstGeom>
          <a:noFill/>
          <a:ln/>
        </p:spPr>
        <p:txBody>
          <a:bodyPr wrap="square" lIns="0" tIns="0" rIns="0" bIns="0" rtlCol="0" anchor="ctr"/>
          <a:lstStyle/>
          <a:p>
            <a:pPr indent="0" marL="0">
              <a:buNone/>
            </a:pPr>
            <a:r>
              <a:rPr lang="en-US" sz="1100" b="1" dirty="0">
                <a:solidFill>
                  <a:srgbClr val="800080"/>
                </a:solidFill>
                <a:latin typeface="Inter" pitchFamily="34" charset="0"/>
                <a:ea typeface="Inter" pitchFamily="34" charset="-122"/>
                <a:cs typeface="Inter" pitchFamily="34" charset="-120"/>
              </a:rPr>
              <a:t>Co-founder / CEO — product, design and research</a:t>
            </a:r>
            <a:endParaRPr lang="en-US" sz="1100" dirty="0"/>
          </a:p>
        </p:txBody>
      </p:sp>
      <p:sp>
        <p:nvSpPr>
          <p:cNvPr id="13" name="Text 10"/>
          <p:cNvSpPr txBox="1"/>
          <p:nvPr/>
        </p:nvSpPr>
        <p:spPr>
          <a:xfrm>
            <a:off x="795528" y="2926080"/>
            <a:ext cx="4809744" cy="914400"/>
          </a:xfrm>
          <a:prstGeom prst="rect">
            <a:avLst/>
          </a:prstGeom>
          <a:noFill/>
          <a:ln/>
        </p:spPr>
        <p:txBody>
          <a:bodyPr wrap="square" lIns="0" tIns="0" rIns="0" bIns="0" rtlCol="0" anchor="t"/>
          <a:lstStyle/>
          <a:p>
            <a:pPr indent="0" marL="0">
              <a:lnSpc>
                <a:spcPct val="114000"/>
              </a:lnSpc>
              <a:buNone/>
            </a:pPr>
            <a:r>
              <a:rPr lang="en-US" sz="1150" dirty="0">
                <a:solidFill>
                  <a:srgbClr val="352E4A"/>
                </a:solidFill>
                <a:latin typeface="Inter" pitchFamily="34" charset="0"/>
                <a:ea typeface="Inter" pitchFamily="34" charset="-122"/>
                <a:cs typeface="Inter" pitchFamily="34" charset="-120"/>
              </a:rPr>
              <a:t>Product direction and the positioning around radical transparency; the design-thinking process across generations; user research and competitive analysis; the card-and-arc and confidence-signal design.</a:t>
            </a:r>
            <a:endParaRPr lang="en-US" sz="1150" dirty="0"/>
          </a:p>
        </p:txBody>
      </p:sp>
      <p:sp>
        <p:nvSpPr>
          <p:cNvPr id="14" name="Shape 11"/>
          <p:cNvSpPr/>
          <p:nvPr/>
        </p:nvSpPr>
        <p:spPr>
          <a:xfrm>
            <a:off x="6291072" y="2103120"/>
            <a:ext cx="5394960" cy="1828800"/>
          </a:xfrm>
          <a:prstGeom prst="roundRect">
            <a:avLst>
              <a:gd name="adj" fmla="val 4000"/>
            </a:avLst>
          </a:prstGeom>
          <a:solidFill>
            <a:srgbClr val="CEE7FD"/>
          </a:solidFill>
          <a:ln/>
          <a:effectLst>
            <a:outerShdw sx="100000" sy="100000" kx="0" ky="0" algn="bl" rotWithShape="0" blurRad="127000" dist="25400" dir="5400000">
              <a:srgbClr val="352E4A">
                <a:alpha val="13000"/>
              </a:srgbClr>
            </a:outerShdw>
          </a:effectLst>
        </p:spPr>
      </p:sp>
      <p:sp>
        <p:nvSpPr>
          <p:cNvPr id="15" name="Text 12"/>
          <p:cNvSpPr txBox="1"/>
          <p:nvPr/>
        </p:nvSpPr>
        <p:spPr>
          <a:xfrm>
            <a:off x="6583680" y="2286000"/>
            <a:ext cx="4809744" cy="310896"/>
          </a:xfrm>
          <a:prstGeom prst="rect">
            <a:avLst/>
          </a:prstGeom>
          <a:noFill/>
          <a:ln/>
        </p:spPr>
        <p:txBody>
          <a:bodyPr wrap="square" lIns="0" tIns="0" rIns="0" bIns="0" rtlCol="0" anchor="ctr"/>
          <a:lstStyle/>
          <a:p>
            <a:pPr indent="0" marL="0">
              <a:buNone/>
            </a:pPr>
            <a:r>
              <a:rPr lang="en-US" sz="1700" b="1" dirty="0">
                <a:solidFill>
                  <a:srgbClr val="11256A"/>
                </a:solidFill>
                <a:latin typeface="Space Grotesk" pitchFamily="34" charset="0"/>
                <a:ea typeface="Space Grotesk" pitchFamily="34" charset="-122"/>
                <a:cs typeface="Space Grotesk" pitchFamily="34" charset="-120"/>
              </a:rPr>
              <a:t>Ling Bo “Adam” Zeng</a:t>
            </a:r>
            <a:endParaRPr lang="en-US" sz="1700" dirty="0"/>
          </a:p>
        </p:txBody>
      </p:sp>
      <p:sp>
        <p:nvSpPr>
          <p:cNvPr id="16" name="Text 13"/>
          <p:cNvSpPr txBox="1"/>
          <p:nvPr/>
        </p:nvSpPr>
        <p:spPr>
          <a:xfrm>
            <a:off x="6583680" y="2615184"/>
            <a:ext cx="4809744" cy="237744"/>
          </a:xfrm>
          <a:prstGeom prst="rect">
            <a:avLst/>
          </a:prstGeom>
          <a:noFill/>
          <a:ln/>
        </p:spPr>
        <p:txBody>
          <a:bodyPr wrap="square" lIns="0" tIns="0" rIns="0" bIns="0" rtlCol="0" anchor="ctr"/>
          <a:lstStyle/>
          <a:p>
            <a:pPr indent="0" marL="0">
              <a:buNone/>
            </a:pPr>
            <a:r>
              <a:rPr lang="en-US" sz="1100" b="1" dirty="0">
                <a:solidFill>
                  <a:srgbClr val="800080"/>
                </a:solidFill>
                <a:latin typeface="Inter" pitchFamily="34" charset="0"/>
                <a:ea typeface="Inter" pitchFamily="34" charset="-122"/>
                <a:cs typeface="Inter" pitchFamily="34" charset="-120"/>
              </a:rPr>
              <a:t>Co-founder — engineering and business</a:t>
            </a:r>
            <a:endParaRPr lang="en-US" sz="1100" dirty="0"/>
          </a:p>
        </p:txBody>
      </p:sp>
      <p:sp>
        <p:nvSpPr>
          <p:cNvPr id="17" name="Text 14"/>
          <p:cNvSpPr txBox="1"/>
          <p:nvPr/>
        </p:nvSpPr>
        <p:spPr>
          <a:xfrm>
            <a:off x="6583680" y="2926080"/>
            <a:ext cx="4809744" cy="914400"/>
          </a:xfrm>
          <a:prstGeom prst="rect">
            <a:avLst/>
          </a:prstGeom>
          <a:noFill/>
          <a:ln/>
        </p:spPr>
        <p:txBody>
          <a:bodyPr wrap="square" lIns="0" tIns="0" rIns="0" bIns="0" rtlCol="0" anchor="t"/>
          <a:lstStyle/>
          <a:p>
            <a:pPr indent="0" marL="0">
              <a:lnSpc>
                <a:spcPct val="114000"/>
              </a:lnSpc>
              <a:buNone/>
            </a:pPr>
            <a:r>
              <a:rPr lang="en-US" sz="1150" dirty="0">
                <a:solidFill>
                  <a:srgbClr val="352E4A"/>
                </a:solidFill>
                <a:latin typeface="Inter" pitchFamily="34" charset="0"/>
                <a:ea typeface="Inter" pitchFamily="34" charset="-122"/>
                <a:cs typeface="Inter" pitchFamily="34" charset="-120"/>
              </a:rPr>
              <a:t>Technical co-lead: the two-pools-one-gate ingestion architecture, the generation and analysis pipeline, MVP implementation, the four-pass stress-test programme, and the commercial model.</a:t>
            </a:r>
            <a:endParaRPr lang="en-US" sz="1150" dirty="0"/>
          </a:p>
        </p:txBody>
      </p:sp>
      <p:sp>
        <p:nvSpPr>
          <p:cNvPr id="18" name="Shape 15"/>
          <p:cNvSpPr/>
          <p:nvPr/>
        </p:nvSpPr>
        <p:spPr>
          <a:xfrm>
            <a:off x="502920" y="4114800"/>
            <a:ext cx="11183112" cy="2121408"/>
          </a:xfrm>
          <a:prstGeom prst="roundRect">
            <a:avLst>
              <a:gd name="adj" fmla="val 3448"/>
            </a:avLst>
          </a:prstGeom>
          <a:solidFill>
            <a:srgbClr val="11256A"/>
          </a:solidFill>
          <a:ln/>
        </p:spPr>
      </p:sp>
      <p:sp>
        <p:nvSpPr>
          <p:cNvPr id="19" name="Text 16"/>
          <p:cNvSpPr txBox="1"/>
          <p:nvPr/>
        </p:nvSpPr>
        <p:spPr>
          <a:xfrm>
            <a:off x="886968" y="4315968"/>
            <a:ext cx="10415016" cy="256032"/>
          </a:xfrm>
          <a:prstGeom prst="rect">
            <a:avLst/>
          </a:prstGeom>
          <a:noFill/>
          <a:ln/>
        </p:spPr>
        <p:txBody>
          <a:bodyPr wrap="square" lIns="0" tIns="0" rIns="0" bIns="0" rtlCol="0" anchor="ctr"/>
          <a:lstStyle/>
          <a:p>
            <a:pPr indent="0" marL="0">
              <a:buNone/>
            </a:pPr>
            <a:r>
              <a:rPr lang="en-US" sz="1050" b="1" dirty="0">
                <a:solidFill>
                  <a:srgbClr val="C9FA85"/>
                </a:solidFill>
                <a:latin typeface="Inter" pitchFamily="34" charset="0"/>
                <a:ea typeface="Inter" pitchFamily="34" charset="-122"/>
                <a:cs typeface="Inter" pitchFamily="34" charset="-120"/>
              </a:rPr>
              <a:t>ON THE TEAM-SIZE GUIDELINE</a:t>
            </a:r>
            <a:endParaRPr lang="en-US" sz="1050" dirty="0"/>
          </a:p>
        </p:txBody>
      </p:sp>
      <p:sp>
        <p:nvSpPr>
          <p:cNvPr id="20" name="Text 17"/>
          <p:cNvSpPr txBox="1"/>
          <p:nvPr/>
        </p:nvSpPr>
        <p:spPr>
          <a:xfrm>
            <a:off x="886968" y="4590288"/>
            <a:ext cx="10415016" cy="365760"/>
          </a:xfrm>
          <a:prstGeom prst="rect">
            <a:avLst/>
          </a:prstGeom>
          <a:noFill/>
          <a:ln/>
        </p:spPr>
        <p:txBody>
          <a:bodyPr wrap="square" lIns="0" tIns="0" rIns="0" bIns="0" rtlCol="0" anchor="ctr"/>
          <a:lstStyle/>
          <a:p>
            <a:pPr indent="0" marL="0">
              <a:buNone/>
            </a:pPr>
            <a:r>
              <a:rPr lang="en-US" sz="1600" b="1" dirty="0">
                <a:solidFill>
                  <a:srgbClr val="FFFFFF"/>
                </a:solidFill>
                <a:latin typeface="Space Grotesk" pitchFamily="34" charset="0"/>
                <a:ea typeface="Space Grotesk" pitchFamily="34" charset="-122"/>
                <a:cs typeface="Space Grotesk" pitchFamily="34" charset="-120"/>
              </a:rPr>
              <a:t>We know a pair is provisional. We would like to make the case for the two of us.</a:t>
            </a:r>
            <a:endParaRPr lang="en-US" sz="1600" dirty="0"/>
          </a:p>
        </p:txBody>
      </p:sp>
      <p:sp>
        <p:nvSpPr>
          <p:cNvPr id="21" name="Shape 18"/>
          <p:cNvSpPr/>
          <p:nvPr/>
        </p:nvSpPr>
        <p:spPr>
          <a:xfrm>
            <a:off x="905256" y="5120640"/>
            <a:ext cx="91440" cy="91440"/>
          </a:xfrm>
          <a:prstGeom prst="ellipse">
            <a:avLst/>
          </a:prstGeom>
          <a:solidFill>
            <a:srgbClr val="C9FA85"/>
          </a:solidFill>
          <a:ln/>
        </p:spPr>
      </p:sp>
      <p:sp>
        <p:nvSpPr>
          <p:cNvPr id="22" name="Text 19"/>
          <p:cNvSpPr txBox="1"/>
          <p:nvPr/>
        </p:nvSpPr>
        <p:spPr>
          <a:xfrm>
            <a:off x="1143000" y="5029200"/>
            <a:ext cx="10085832" cy="274320"/>
          </a:xfrm>
          <a:prstGeom prst="rect">
            <a:avLst/>
          </a:prstGeom>
          <a:noFill/>
          <a:ln/>
        </p:spPr>
        <p:txBody>
          <a:bodyPr wrap="square" lIns="0" tIns="0" rIns="0" bIns="0" rtlCol="0" anchor="ctr"/>
          <a:lstStyle/>
          <a:p>
            <a:pPr indent="0" marL="0">
              <a:buNone/>
            </a:pPr>
            <a:r>
              <a:rPr lang="en-US" sz="1200" dirty="0">
                <a:solidFill>
                  <a:srgbClr val="E8E2FF"/>
                </a:solidFill>
                <a:latin typeface="Inter" pitchFamily="34" charset="0"/>
                <a:ea typeface="Inter" pitchFamily="34" charset="-122"/>
                <a:cs typeface="Inter" pitchFamily="34" charset="-120"/>
              </a:rPr>
              <a:t>Everything on the previous slides was delivered by these two, alongside a full course load.</a:t>
            </a:r>
            <a:endParaRPr lang="en-US" sz="1200" dirty="0"/>
          </a:p>
        </p:txBody>
      </p:sp>
      <p:sp>
        <p:nvSpPr>
          <p:cNvPr id="23" name="Shape 20"/>
          <p:cNvSpPr/>
          <p:nvPr/>
        </p:nvSpPr>
        <p:spPr>
          <a:xfrm>
            <a:off x="905256" y="5431536"/>
            <a:ext cx="91440" cy="91440"/>
          </a:xfrm>
          <a:prstGeom prst="ellipse">
            <a:avLst/>
          </a:prstGeom>
          <a:solidFill>
            <a:srgbClr val="C9FA85"/>
          </a:solidFill>
          <a:ln/>
        </p:spPr>
      </p:sp>
      <p:sp>
        <p:nvSpPr>
          <p:cNvPr id="24" name="Text 21"/>
          <p:cNvSpPr txBox="1"/>
          <p:nvPr/>
        </p:nvSpPr>
        <p:spPr>
          <a:xfrm>
            <a:off x="1143000" y="5340096"/>
            <a:ext cx="10085832" cy="274320"/>
          </a:xfrm>
          <a:prstGeom prst="rect">
            <a:avLst/>
          </a:prstGeom>
          <a:noFill/>
          <a:ln/>
        </p:spPr>
        <p:txBody>
          <a:bodyPr wrap="square" lIns="0" tIns="0" rIns="0" bIns="0" rtlCol="0" anchor="ctr"/>
          <a:lstStyle/>
          <a:p>
            <a:pPr indent="0" marL="0">
              <a:buNone/>
            </a:pPr>
            <a:r>
              <a:rPr lang="en-US" sz="1200" dirty="0">
                <a:solidFill>
                  <a:srgbClr val="E8E2FF"/>
                </a:solidFill>
                <a:latin typeface="Inter" pitchFamily="34" charset="0"/>
                <a:ea typeface="Inter" pitchFamily="34" charset="-122"/>
                <a:cs typeface="Inter" pitchFamily="34" charset="-120"/>
              </a:rPr>
              <a:t>The company is incorporated, with roles and equity already settled between us.</a:t>
            </a:r>
            <a:endParaRPr lang="en-US" sz="1200" dirty="0"/>
          </a:p>
        </p:txBody>
      </p:sp>
      <p:sp>
        <p:nvSpPr>
          <p:cNvPr id="25" name="Shape 22"/>
          <p:cNvSpPr/>
          <p:nvPr/>
        </p:nvSpPr>
        <p:spPr>
          <a:xfrm>
            <a:off x="905256" y="5742432"/>
            <a:ext cx="91440" cy="91440"/>
          </a:xfrm>
          <a:prstGeom prst="ellipse">
            <a:avLst/>
          </a:prstGeom>
          <a:solidFill>
            <a:srgbClr val="C9FA85"/>
          </a:solidFill>
          <a:ln/>
        </p:spPr>
      </p:sp>
      <p:sp>
        <p:nvSpPr>
          <p:cNvPr id="26" name="Text 23"/>
          <p:cNvSpPr txBox="1"/>
          <p:nvPr/>
        </p:nvSpPr>
        <p:spPr>
          <a:xfrm>
            <a:off x="1143000" y="5650992"/>
            <a:ext cx="10085832" cy="274320"/>
          </a:xfrm>
          <a:prstGeom prst="rect">
            <a:avLst/>
          </a:prstGeom>
          <a:noFill/>
          <a:ln/>
        </p:spPr>
        <p:txBody>
          <a:bodyPr wrap="square" lIns="0" tIns="0" rIns="0" bIns="0" rtlCol="0" anchor="ctr"/>
          <a:lstStyle/>
          <a:p>
            <a:pPr indent="0" marL="0">
              <a:buNone/>
            </a:pPr>
            <a:r>
              <a:rPr lang="en-US" sz="1200" dirty="0">
                <a:solidFill>
                  <a:srgbClr val="E8E2FF"/>
                </a:solidFill>
                <a:latin typeface="Inter" pitchFamily="34" charset="0"/>
                <a:ea typeface="Inter" pitchFamily="34" charset="-122"/>
                <a:cs typeface="Inter" pitchFamily="34" charset="-120"/>
              </a:rPr>
              <a:t>Two faculty advisors are already engaged with the project and know its history.</a:t>
            </a:r>
            <a:endParaRPr lang="en-US" sz="1200" dirty="0"/>
          </a:p>
        </p:txBody>
      </p:sp>
      <p:sp>
        <p:nvSpPr>
          <p:cNvPr id="27" name="Text 24"/>
          <p:cNvSpPr txBox="1"/>
          <p:nvPr/>
        </p:nvSpPr>
        <p:spPr>
          <a:xfrm>
            <a:off x="886968" y="5943600"/>
            <a:ext cx="10415016" cy="256032"/>
          </a:xfrm>
          <a:prstGeom prst="rect">
            <a:avLst/>
          </a:prstGeom>
          <a:noFill/>
          <a:ln/>
        </p:spPr>
        <p:txBody>
          <a:bodyPr wrap="square" lIns="0" tIns="0" rIns="0" bIns="0" rtlCol="0" anchor="ctr"/>
          <a:lstStyle/>
          <a:p>
            <a:pPr indent="0" marL="0">
              <a:buNone/>
            </a:pPr>
            <a:r>
              <a:rPr lang="en-US" sz="1100" dirty="0">
                <a:solidFill>
                  <a:srgbClr val="D3CAFF"/>
                </a:solidFill>
                <a:latin typeface="Inter" pitchFamily="34" charset="0"/>
                <a:ea typeface="Inter" pitchFamily="34" charset="-122"/>
                <a:cs typeface="Inter" pitchFamily="34" charset="-120"/>
              </a:rPr>
              <a:t>If the Division would prefer a larger team, we would welcome your guidance on how to bring people in well.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800080"/>
        </a:solidFill>
      </p:bgPr>
    </p:bg>
    <p:spTree>
      <p:nvGrpSpPr>
        <p:cNvPr id="1" name=""/>
        <p:cNvGrpSpPr/>
        <p:nvPr/>
      </p:nvGrpSpPr>
      <p:grpSpPr>
        <a:xfrm>
          <a:off x="0" y="0"/>
          <a:ext cx="0" cy="0"/>
          <a:chOff x="0" y="0"/>
          <a:chExt cx="0" cy="0"/>
        </a:xfrm>
      </p:grpSpPr>
      <p:sp>
        <p:nvSpPr>
          <p:cNvPr id="2" name="Shape 0"/>
          <p:cNvSpPr/>
          <p:nvPr/>
        </p:nvSpPr>
        <p:spPr>
          <a:xfrm>
            <a:off x="0" y="0"/>
            <a:ext cx="777240" cy="91440"/>
          </a:xfrm>
          <a:prstGeom prst="rect">
            <a:avLst/>
          </a:prstGeom>
          <a:solidFill>
            <a:srgbClr val="C9FA85"/>
          </a:solidFill>
          <a:ln/>
        </p:spPr>
      </p:sp>
      <p:pic>
        <p:nvPicPr>
          <p:cNvPr id="3" name="Image 0" descr="preencoded.png">    </p:cNvPr>
          <p:cNvPicPr>
            <a:picLocks noChangeAspect="1"/>
          </p:cNvPicPr>
          <p:nvPr/>
        </p:nvPicPr>
        <p:blipFill>
          <a:blip r:embed="rId1"/>
          <a:stretch>
            <a:fillRect/>
          </a:stretch>
        </p:blipFill>
        <p:spPr>
          <a:xfrm>
            <a:off x="8503920" y="2514600"/>
            <a:ext cx="3657600" cy="3584448"/>
          </a:xfrm>
          <a:prstGeom prst="rect">
            <a:avLst/>
          </a:prstGeom>
        </p:spPr>
      </p:pic>
      <p:pic>
        <p:nvPicPr>
          <p:cNvPr id="4" name="Image 1" descr="preencoded.png">    </p:cNvPr>
          <p:cNvPicPr>
            <a:picLocks noChangeAspect="1"/>
          </p:cNvPicPr>
          <p:nvPr/>
        </p:nvPicPr>
        <p:blipFill>
          <a:blip r:embed="rId2"/>
          <a:stretch>
            <a:fillRect/>
          </a:stretch>
        </p:blipFill>
        <p:spPr>
          <a:xfrm>
            <a:off x="402336" y="384048"/>
            <a:ext cx="1788566" cy="658368"/>
          </a:xfrm>
          <a:prstGeom prst="rect">
            <a:avLst/>
          </a:prstGeom>
        </p:spPr>
      </p:pic>
      <p:sp>
        <p:nvSpPr>
          <p:cNvPr id="5" name="Text 1"/>
          <p:cNvSpPr txBox="1"/>
          <p:nvPr/>
        </p:nvSpPr>
        <p:spPr>
          <a:xfrm>
            <a:off x="640080" y="1572768"/>
            <a:ext cx="7863840" cy="310896"/>
          </a:xfrm>
          <a:prstGeom prst="rect">
            <a:avLst/>
          </a:prstGeom>
          <a:noFill/>
          <a:ln/>
        </p:spPr>
        <p:txBody>
          <a:bodyPr wrap="square" lIns="0" tIns="0" rIns="0" bIns="0" rtlCol="0" anchor="ctr"/>
          <a:lstStyle/>
          <a:p>
            <a:pPr indent="0" marL="0">
              <a:buNone/>
            </a:pPr>
            <a:r>
              <a:rPr lang="en-US" sz="1300" b="1" dirty="0">
                <a:solidFill>
                  <a:srgbClr val="C9FA85"/>
                </a:solidFill>
                <a:latin typeface="Inter" pitchFamily="34" charset="0"/>
                <a:ea typeface="Inter" pitchFamily="34" charset="-122"/>
                <a:cs typeface="Inter" pitchFamily="34" charset="-120"/>
              </a:rPr>
              <a:t>THREE THINGS WE WOULD LIKE TO ASK YOU</a:t>
            </a:r>
            <a:endParaRPr lang="en-US" sz="1300" dirty="0"/>
          </a:p>
        </p:txBody>
      </p:sp>
      <p:sp>
        <p:nvSpPr>
          <p:cNvPr id="6" name="Shape 2"/>
          <p:cNvSpPr/>
          <p:nvPr/>
        </p:nvSpPr>
        <p:spPr>
          <a:xfrm>
            <a:off x="640080" y="2103120"/>
            <a:ext cx="7589520" cy="786384"/>
          </a:xfrm>
          <a:prstGeom prst="roundRect">
            <a:avLst>
              <a:gd name="adj" fmla="val 9302"/>
            </a:avLst>
          </a:prstGeom>
          <a:solidFill>
            <a:srgbClr val="8F1A8F"/>
          </a:solidFill>
          <a:ln/>
        </p:spPr>
      </p:sp>
      <p:sp>
        <p:nvSpPr>
          <p:cNvPr id="7" name="Text 3"/>
          <p:cNvSpPr txBox="1"/>
          <p:nvPr/>
        </p:nvSpPr>
        <p:spPr>
          <a:xfrm>
            <a:off x="859536" y="2276856"/>
            <a:ext cx="438912" cy="438912"/>
          </a:xfrm>
          <a:prstGeom prst="rect">
            <a:avLst/>
          </a:prstGeom>
          <a:noFill/>
          <a:ln/>
        </p:spPr>
        <p:txBody>
          <a:bodyPr wrap="square" lIns="0" tIns="0" rIns="0" bIns="0" rtlCol="0" anchor="ctr"/>
          <a:lstStyle/>
          <a:p>
            <a:pPr algn="ctr" indent="0" marL="0">
              <a:buNone/>
            </a:pPr>
            <a:r>
              <a:rPr lang="en-US" sz="1900" b="1" dirty="0">
                <a:solidFill>
                  <a:srgbClr val="C9FA85"/>
                </a:solidFill>
                <a:latin typeface="Space Grotesk" pitchFamily="34" charset="0"/>
                <a:ea typeface="Space Grotesk" pitchFamily="34" charset="-122"/>
                <a:cs typeface="Space Grotesk" pitchFamily="34" charset="-120"/>
              </a:rPr>
              <a:t>1</a:t>
            </a:r>
            <a:endParaRPr lang="en-US" sz="1900" dirty="0"/>
          </a:p>
        </p:txBody>
      </p:sp>
      <p:sp>
        <p:nvSpPr>
          <p:cNvPr id="8" name="Text 4"/>
          <p:cNvSpPr txBox="1"/>
          <p:nvPr/>
        </p:nvSpPr>
        <p:spPr>
          <a:xfrm>
            <a:off x="1426464" y="2103120"/>
            <a:ext cx="6583680" cy="786384"/>
          </a:xfrm>
          <a:prstGeom prst="rect">
            <a:avLst/>
          </a:prstGeom>
          <a:noFill/>
          <a:ln/>
        </p:spPr>
        <p:txBody>
          <a:bodyPr wrap="square" lIns="0" tIns="0" rIns="0" bIns="0" rtlCol="0" anchor="ctr"/>
          <a:lstStyle/>
          <a:p>
            <a:pPr indent="0" marL="0">
              <a:lnSpc>
                <a:spcPct val="110000"/>
              </a:lnSpc>
              <a:buNone/>
            </a:pPr>
            <a:r>
              <a:rPr lang="en-US" sz="1350" dirty="0">
                <a:solidFill>
                  <a:srgbClr val="FFFFFF"/>
                </a:solidFill>
                <a:latin typeface="Inter" pitchFamily="34" charset="0"/>
                <a:ea typeface="Inter" pitchFamily="34" charset="-122"/>
                <a:cs typeface="Inter" pitchFamily="34" charset="-120"/>
              </a:rPr>
              <a:t>May we register Fliq as our FYP topic, under the Entrepreneurship and Venture track?</a:t>
            </a:r>
            <a:endParaRPr lang="en-US" sz="1350" dirty="0"/>
          </a:p>
        </p:txBody>
      </p:sp>
      <p:sp>
        <p:nvSpPr>
          <p:cNvPr id="9" name="Shape 5"/>
          <p:cNvSpPr/>
          <p:nvPr/>
        </p:nvSpPr>
        <p:spPr>
          <a:xfrm>
            <a:off x="640080" y="3035808"/>
            <a:ext cx="7589520" cy="786384"/>
          </a:xfrm>
          <a:prstGeom prst="roundRect">
            <a:avLst>
              <a:gd name="adj" fmla="val 9302"/>
            </a:avLst>
          </a:prstGeom>
          <a:solidFill>
            <a:srgbClr val="8F1A8F"/>
          </a:solidFill>
          <a:ln/>
        </p:spPr>
      </p:sp>
      <p:sp>
        <p:nvSpPr>
          <p:cNvPr id="10" name="Text 6"/>
          <p:cNvSpPr txBox="1"/>
          <p:nvPr/>
        </p:nvSpPr>
        <p:spPr>
          <a:xfrm>
            <a:off x="859536" y="3209544"/>
            <a:ext cx="438912" cy="438912"/>
          </a:xfrm>
          <a:prstGeom prst="rect">
            <a:avLst/>
          </a:prstGeom>
          <a:noFill/>
          <a:ln/>
        </p:spPr>
        <p:txBody>
          <a:bodyPr wrap="square" lIns="0" tIns="0" rIns="0" bIns="0" rtlCol="0" anchor="ctr"/>
          <a:lstStyle/>
          <a:p>
            <a:pPr algn="ctr" indent="0" marL="0">
              <a:buNone/>
            </a:pPr>
            <a:r>
              <a:rPr lang="en-US" sz="1900" b="1" dirty="0">
                <a:solidFill>
                  <a:srgbClr val="C9FA85"/>
                </a:solidFill>
                <a:latin typeface="Space Grotesk" pitchFamily="34" charset="0"/>
                <a:ea typeface="Space Grotesk" pitchFamily="34" charset="-122"/>
                <a:cs typeface="Space Grotesk" pitchFamily="34" charset="-120"/>
              </a:rPr>
              <a:t>2</a:t>
            </a:r>
            <a:endParaRPr lang="en-US" sz="1900" dirty="0"/>
          </a:p>
        </p:txBody>
      </p:sp>
      <p:sp>
        <p:nvSpPr>
          <p:cNvPr id="11" name="Text 7"/>
          <p:cNvSpPr txBox="1"/>
          <p:nvPr/>
        </p:nvSpPr>
        <p:spPr>
          <a:xfrm>
            <a:off x="1426464" y="3035808"/>
            <a:ext cx="6583680" cy="786384"/>
          </a:xfrm>
          <a:prstGeom prst="rect">
            <a:avLst/>
          </a:prstGeom>
          <a:noFill/>
          <a:ln/>
        </p:spPr>
        <p:txBody>
          <a:bodyPr wrap="square" lIns="0" tIns="0" rIns="0" bIns="0" rtlCol="0" anchor="ctr"/>
          <a:lstStyle/>
          <a:p>
            <a:pPr indent="0" marL="0">
              <a:lnSpc>
                <a:spcPct val="110000"/>
              </a:lnSpc>
              <a:buNone/>
            </a:pPr>
            <a:r>
              <a:rPr lang="en-US" sz="1350" dirty="0">
                <a:solidFill>
                  <a:srgbClr val="FFFFFF"/>
                </a:solidFill>
                <a:latin typeface="Inter" pitchFamily="34" charset="0"/>
                <a:ea typeface="Inter" pitchFamily="34" charset="-122"/>
                <a:cs typeface="Inter" pitchFamily="34" charset="-120"/>
              </a:rPr>
              <a:t>How would you advise us on advisor arrangements for the year ahead?</a:t>
            </a:r>
            <a:endParaRPr lang="en-US" sz="1350" dirty="0"/>
          </a:p>
        </p:txBody>
      </p:sp>
      <p:sp>
        <p:nvSpPr>
          <p:cNvPr id="12" name="Shape 8"/>
          <p:cNvSpPr/>
          <p:nvPr/>
        </p:nvSpPr>
        <p:spPr>
          <a:xfrm>
            <a:off x="640080" y="3968496"/>
            <a:ext cx="7589520" cy="786384"/>
          </a:xfrm>
          <a:prstGeom prst="roundRect">
            <a:avLst>
              <a:gd name="adj" fmla="val 9302"/>
            </a:avLst>
          </a:prstGeom>
          <a:solidFill>
            <a:srgbClr val="8F1A8F"/>
          </a:solidFill>
          <a:ln/>
        </p:spPr>
      </p:sp>
      <p:sp>
        <p:nvSpPr>
          <p:cNvPr id="13" name="Text 9"/>
          <p:cNvSpPr txBox="1"/>
          <p:nvPr/>
        </p:nvSpPr>
        <p:spPr>
          <a:xfrm>
            <a:off x="859536" y="4142232"/>
            <a:ext cx="438912" cy="438912"/>
          </a:xfrm>
          <a:prstGeom prst="rect">
            <a:avLst/>
          </a:prstGeom>
          <a:noFill/>
          <a:ln/>
        </p:spPr>
        <p:txBody>
          <a:bodyPr wrap="square" lIns="0" tIns="0" rIns="0" bIns="0" rtlCol="0" anchor="ctr"/>
          <a:lstStyle/>
          <a:p>
            <a:pPr algn="ctr" indent="0" marL="0">
              <a:buNone/>
            </a:pPr>
            <a:r>
              <a:rPr lang="en-US" sz="1900" b="1" dirty="0">
                <a:solidFill>
                  <a:srgbClr val="C9FA85"/>
                </a:solidFill>
                <a:latin typeface="Space Grotesk" pitchFamily="34" charset="0"/>
                <a:ea typeface="Space Grotesk" pitchFamily="34" charset="-122"/>
                <a:cs typeface="Space Grotesk" pitchFamily="34" charset="-120"/>
              </a:rPr>
              <a:t>3</a:t>
            </a:r>
            <a:endParaRPr lang="en-US" sz="1900" dirty="0"/>
          </a:p>
        </p:txBody>
      </p:sp>
      <p:sp>
        <p:nvSpPr>
          <p:cNvPr id="14" name="Text 10"/>
          <p:cNvSpPr txBox="1"/>
          <p:nvPr/>
        </p:nvSpPr>
        <p:spPr>
          <a:xfrm>
            <a:off x="1426464" y="3968496"/>
            <a:ext cx="6583680" cy="786384"/>
          </a:xfrm>
          <a:prstGeom prst="rect">
            <a:avLst/>
          </a:prstGeom>
          <a:noFill/>
          <a:ln/>
        </p:spPr>
        <p:txBody>
          <a:bodyPr wrap="square" lIns="0" tIns="0" rIns="0" bIns="0" rtlCol="0" anchor="ctr"/>
          <a:lstStyle/>
          <a:p>
            <a:pPr indent="0" marL="0">
              <a:lnSpc>
                <a:spcPct val="110000"/>
              </a:lnSpc>
              <a:buNone/>
            </a:pPr>
            <a:r>
              <a:rPr lang="en-US" sz="1350" dirty="0">
                <a:solidFill>
                  <a:srgbClr val="FFFFFF"/>
                </a:solidFill>
                <a:latin typeface="Inter" pitchFamily="34" charset="0"/>
                <a:ea typeface="Inter" pitchFamily="34" charset="-122"/>
                <a:cs typeface="Inter" pitchFamily="34" charset="-120"/>
              </a:rPr>
              <a:t>What would you like to see from us before the first class on 3 September, and before InnoX?</a:t>
            </a:r>
            <a:endParaRPr lang="en-US" sz="1350" dirty="0"/>
          </a:p>
        </p:txBody>
      </p:sp>
      <p:sp>
        <p:nvSpPr>
          <p:cNvPr id="15" name="Text 11"/>
          <p:cNvSpPr txBox="1"/>
          <p:nvPr/>
        </p:nvSpPr>
        <p:spPr>
          <a:xfrm>
            <a:off x="640080" y="5138928"/>
            <a:ext cx="7863840" cy="402336"/>
          </a:xfrm>
          <a:prstGeom prst="rect">
            <a:avLst/>
          </a:prstGeom>
          <a:noFill/>
          <a:ln/>
        </p:spPr>
        <p:txBody>
          <a:bodyPr wrap="square" lIns="0" tIns="0" rIns="0" bIns="0" rtlCol="0" anchor="ctr"/>
          <a:lstStyle/>
          <a:p>
            <a:pPr indent="0" marL="0">
              <a:buNone/>
            </a:pPr>
            <a:r>
              <a:rPr lang="en-US" sz="2200" b="1" dirty="0">
                <a:solidFill>
                  <a:srgbClr val="FFF9FF"/>
                </a:solidFill>
                <a:latin typeface="Space Grotesk" pitchFamily="34" charset="0"/>
                <a:ea typeface="Space Grotesk" pitchFamily="34" charset="-122"/>
                <a:cs typeface="Space Grotesk" pitchFamily="34" charset="-120"/>
              </a:rPr>
              <a:t>Thank you for making the time before term begins.</a:t>
            </a:r>
            <a:endParaRPr lang="en-US" sz="2200" dirty="0"/>
          </a:p>
        </p:txBody>
      </p:sp>
      <p:sp>
        <p:nvSpPr>
          <p:cNvPr id="16" name="Shape 12"/>
          <p:cNvSpPr/>
          <p:nvPr/>
        </p:nvSpPr>
        <p:spPr>
          <a:xfrm>
            <a:off x="640080" y="5989320"/>
            <a:ext cx="7918704" cy="12802"/>
          </a:xfrm>
          <a:prstGeom prst="rect">
            <a:avLst/>
          </a:prstGeom>
          <a:solidFill>
            <a:srgbClr val="C9FA85"/>
          </a:solidFill>
          <a:ln/>
        </p:spPr>
      </p:sp>
      <p:sp>
        <p:nvSpPr>
          <p:cNvPr id="17" name="Text 13"/>
          <p:cNvSpPr txBox="1"/>
          <p:nvPr/>
        </p:nvSpPr>
        <p:spPr>
          <a:xfrm>
            <a:off x="640080" y="6144768"/>
            <a:ext cx="8961120" cy="292608"/>
          </a:xfrm>
          <a:prstGeom prst="rect">
            <a:avLst/>
          </a:prstGeom>
          <a:noFill/>
          <a:ln/>
        </p:spPr>
        <p:txBody>
          <a:bodyPr wrap="square" lIns="0" tIns="0" rIns="0" bIns="0" rtlCol="0" anchor="ctr"/>
          <a:lstStyle/>
          <a:p>
            <a:pPr indent="0" marL="0">
              <a:buNone/>
            </a:pPr>
            <a:r>
              <a:rPr lang="en-US" sz="1300" b="1" dirty="0">
                <a:solidFill>
                  <a:srgbClr val="FFF9FF"/>
                </a:solidFill>
                <a:latin typeface="Inter" pitchFamily="34" charset="0"/>
                <a:ea typeface="Inter" pitchFamily="34" charset="-122"/>
                <a:cs typeface="Inter" pitchFamily="34" charset="-120"/>
              </a:rPr>
              <a:t>Victor Nesteruk · Ling Bo Zeng</a:t>
            </a:r>
            <a:pPr indent="0" marL="0">
              <a:buNone/>
            </a:pPr>
            <a:r>
              <a:rPr lang="en-US" sz="1300" dirty="0">
                <a:solidFill>
                  <a:srgbClr val="E8E2FF"/>
                </a:solidFill>
                <a:latin typeface="Inter" pitchFamily="34" charset="0"/>
                <a:ea typeface="Inter" pitchFamily="34" charset="-122"/>
                <a:cs typeface="Inter" pitchFamily="34" charset="-120"/>
              </a:rPr>
              <a:t>     |     HKUST ISDN, Year 4     |     </a:t>
            </a:r>
            <a:pPr indent="0" marL="0">
              <a:buNone/>
            </a:pPr>
            <a:r>
              <a:rPr lang="en-US" sz="1300" dirty="0">
                <a:solidFill>
                  <a:srgbClr val="E8E2FF"/>
                </a:solidFill>
                <a:latin typeface="Inter" pitchFamily="34" charset="0"/>
                <a:ea typeface="Inter" pitchFamily="34" charset="-122"/>
                <a:cs typeface="Inter" pitchFamily="34" charset="-120"/>
              </a:rPr>
              <a:t>NewsFlick Limited     |     fliq.news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NewsFlick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Fliq — ISDN 4001 FYP Proposal</dc:title>
  <dc:subject>PptxGenJS Presentation</dc:subject>
  <dc:creator>Victor Nesteruk and Ling Bo Zeng</dc:creator>
  <cp:lastModifiedBy>Victor Nesteruk and Ling Bo Zeng</cp:lastModifiedBy>
  <cp:revision>1</cp:revision>
  <dcterms:created xsi:type="dcterms:W3CDTF">2026-08-27T05:52:32Z</dcterms:created>
  <dcterms:modified xsi:type="dcterms:W3CDTF">2026-08-27T05:52:32Z</dcterms:modified>
</cp:coreProperties>
</file>
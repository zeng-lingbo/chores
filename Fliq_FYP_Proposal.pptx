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them for making time before term starts, and CY for moving the meeting to Friday.
One line of framing: we are here to ask whether we may carry this project into ISDN 4001, and to show you what it already is.
Note the name early: the project you saw as NewsFlick in our email now ships as Fliq — NewsFlick Limited is still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ask so nothing is ambiguous — we are not fishing, we are asking one specific question.
The middle card matters: the kick-off deck told students with their own idea to start before September. That is exactly why we wrote in August rather than turning up in week three.
Do not oversell here. The evidence is on the next five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line to land: readers are not short of news, they are unsure what to believe.
We did not assume that problem — the numbers on the left are our own study, not a market report.
If asked why there is no single trust score: interviews told us a bare number is semantically empty — “a percentage out of what?” — so we show the evidence instead of averaging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is process, not features: we iterated in generations and let evidence drive each transition.
G4 is the story worth telling aloud — the A/B test mildly preferred a numeric score, but interviews showed the number was meaningless to people. We followed the deeper evidence and dropped it. That is the judgement we want to bring to Year 4.
Credit Prof. Joneja and Prof. Huang clearly and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“is it real?”
Say plainly: we treated the AI pipeline as a system to be validated, not demonstrated. Each figure comes from a documented pass and now serves as a regression baseline.
Read the caveat line aloud if they press on the numbers — volunteering the limits is stronger than being caught by them, and it is in our ISDN 3002 report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grid out item by item — let them scan it. One sentence: the project has had to survive judging by people outside HKUST, repeatedly.
If asked about the angel round: a small angel and family round, closed. We are not claiming institutional investment.
The pill dispenser is where we last met Prof. Tsui — a natural, warm callback.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argument in miniature. Deliver it with energy but no boasting.
Two competition wins over the summer, while the course was not running — nobody asked us to enter them.
The third card is what matters for this conversation: we are mid-build on the app right now, and that is exactly the work Year 4 would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their own words back to them — these four outcomes are quoted from the kick-off deck.
Keep this quick, about forty seconds. It is a checkpoint, not an argument.
Point four is the one professors tend to care about most: what does the student actually walk away with in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Declare the track clearly — the deadline to lock it is end of September, so showing we have already chosen is a good signal.
If they suggest Research and Technology instead, take it seriously rather than defending. The band at the bottom exists to show the project has that depth too, and we would genuinely welcome their advice on which track serves it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strongest objection — that we are asking to hand in the same project twice.
Say it directly: the MVP has never met a real reader. Everything measured so far was measured on prototypes and mockups. Year 4 is when it goes live and faces actual users and actual money.
The lime line is the sentence to leave in their heads.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we have read the calendar: topic locked end of September, mid-term in the winter, final demo June 2027.
The band at the bottom pre-empts a fair worry — that a team arriving with a finished idea will treat the bootcamp as a formality. We would use it properly, on scope.
Confirm we have both reserved 19–20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team size ourselves rather than waiting to be asked — it shows we read the kick-off deck properly and are not hoping it slips past.
The case in one sentence: two people carried this through two courses, four competitions and an incorporation, so a pair is not a shortfall in capacity.
Then genuinely stop and listen. If they want us larger, the last line is honest — we would rather be guided than argue. Do not fight this point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questions, not on us talking. Ask all three, then be quiet.
Question two matters practically: CY suggested Prof. Gu and Prof. Song meet us first, so the advisor arrangement is genuinely open and worth asking about rather than assuming.
Thank them again for shifting the meeting to Friday, and offer to send the ISDN 3002 report and the stress-test evidence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00080"/>
        </a:solidFill>
      </p:bgPr>
    </p:bg>
    <p:spTree>
      <p:nvGrpSpPr>
        <p:cNvPr id="1" name=""/>
        <p:cNvGrpSpPr/>
        <p:nvPr/>
      </p:nvGrpSpPr>
      <p:grpSpPr>
        <a:xfrm>
          <a:off x="0" y="0"/>
          <a:ext cx="0" cy="0"/>
          <a:chOff x="0" y="0"/>
          <a:chExt cx="0" cy="0"/>
        </a:xfrm>
      </p:grpSpPr>
      <p:sp>
        <p:nvSpPr>
          <p:cNvPr id="2" name="Shape 0"/>
          <p:cNvSpPr/>
          <p:nvPr/>
        </p:nvSpPr>
        <p:spPr>
          <a:xfrm>
            <a:off x="0" y="0"/>
            <a:ext cx="777240" cy="91440"/>
          </a:xfrm>
          <a:prstGeom prst="rect">
            <a:avLst/>
          </a:prstGeom>
          <a:solidFill>
            <a:srgbClr val="C9FA85"/>
          </a:solidFill>
          <a:ln/>
        </p:spPr>
      </p:sp>
      <p:pic>
        <p:nvPicPr>
          <p:cNvPr id="3" name="Image 0" descr="preencoded.png">    </p:cNvPr>
          <p:cNvPicPr>
            <a:picLocks noChangeAspect="1"/>
          </p:cNvPicPr>
          <p:nvPr/>
        </p:nvPicPr>
        <p:blipFill>
          <a:blip r:embed="rId1"/>
          <a:stretch>
            <a:fillRect/>
          </a:stretch>
        </p:blipFill>
        <p:spPr>
          <a:xfrm>
            <a:off x="7863840" y="1746504"/>
            <a:ext cx="4370832" cy="4288536"/>
          </a:xfrm>
          <a:prstGeom prst="rect">
            <a:avLst/>
          </a:prstGeom>
        </p:spPr>
      </p:pic>
      <p:pic>
        <p:nvPicPr>
          <p:cNvPr id="4" name="Image 1" descr="preencoded.png">    </p:cNvPr>
          <p:cNvPicPr>
            <a:picLocks noChangeAspect="1"/>
          </p:cNvPicPr>
          <p:nvPr/>
        </p:nvPicPr>
        <p:blipFill>
          <a:blip r:embed="rId2"/>
          <a:stretch>
            <a:fillRect/>
          </a:stretch>
        </p:blipFill>
        <p:spPr>
          <a:xfrm>
            <a:off x="402336" y="384048"/>
            <a:ext cx="1788566" cy="658368"/>
          </a:xfrm>
          <a:prstGeom prst="rect">
            <a:avLst/>
          </a:prstGeom>
        </p:spPr>
      </p:pic>
      <p:sp>
        <p:nvSpPr>
          <p:cNvPr id="5" name="Text 1"/>
          <p:cNvSpPr txBox="1"/>
          <p:nvPr/>
        </p:nvSpPr>
        <p:spPr>
          <a:xfrm>
            <a:off x="640080" y="2148840"/>
            <a:ext cx="7863840" cy="365760"/>
          </a:xfrm>
          <a:prstGeom prst="rect">
            <a:avLst/>
          </a:prstGeom>
          <a:noFill/>
          <a:ln/>
        </p:spPr>
        <p:txBody>
          <a:bodyPr wrap="square" lIns="0" tIns="0" rIns="0" bIns="0" rtlCol="0" anchor="ctr"/>
          <a:lstStyle/>
          <a:p>
            <a:pPr indent="0" marL="0">
              <a:buNone/>
            </a:pPr>
            <a:r>
              <a:rPr lang="en-US" sz="1400" b="1" dirty="0">
                <a:solidFill>
                  <a:srgbClr val="C9FA85"/>
                </a:solidFill>
                <a:latin typeface="Inter" pitchFamily="34" charset="0"/>
                <a:ea typeface="Inter" pitchFamily="34" charset="-122"/>
                <a:cs typeface="Inter" pitchFamily="34" charset="-120"/>
              </a:rPr>
              <a:t>ISDN 4001 · FINAL YEAR PROJECT · PROPOSAL TO CONTINUE</a:t>
            </a:r>
            <a:endParaRPr lang="en-US" sz="1400" dirty="0"/>
          </a:p>
        </p:txBody>
      </p:sp>
      <p:sp>
        <p:nvSpPr>
          <p:cNvPr id="6" name="Text 2"/>
          <p:cNvSpPr txBox="1"/>
          <p:nvPr/>
        </p:nvSpPr>
        <p:spPr>
          <a:xfrm>
            <a:off x="640080" y="2606040"/>
            <a:ext cx="8138160" cy="1737360"/>
          </a:xfrm>
          <a:prstGeom prst="rect">
            <a:avLst/>
          </a:prstGeom>
          <a:noFill/>
          <a:ln/>
        </p:spPr>
        <p:txBody>
          <a:bodyPr wrap="square" lIns="0" tIns="0" rIns="0" bIns="0" rtlCol="0" anchor="ctr"/>
          <a:lstStyle/>
          <a:p>
            <a:pPr indent="0" marL="0">
              <a:lnSpc>
                <a:spcPct val="112000"/>
              </a:lnSpc>
              <a:buNone/>
            </a:pPr>
            <a:r>
              <a:rPr lang="en-US" sz="5400" b="1" dirty="0">
                <a:solidFill>
                  <a:srgbClr val="FFF9FF"/>
                </a:solidFill>
                <a:latin typeface="Space Grotesk" pitchFamily="34" charset="0"/>
                <a:ea typeface="Space Grotesk" pitchFamily="34" charset="-122"/>
                <a:cs typeface="Space Grotesk" pitchFamily="34" charset="-120"/>
              </a:rPr>
              <a:t>We would like to build</a:t>
            </a:r>
            <a:endParaRPr lang="en-US" sz="5400" dirty="0"/>
          </a:p>
          <a:p>
            <a:pPr indent="0" marL="0">
              <a:lnSpc>
                <a:spcPct val="112000"/>
              </a:lnSpc>
              <a:buNone/>
            </a:pPr>
            <a:r>
              <a:rPr lang="en-US" sz="5400" b="1" dirty="0">
                <a:solidFill>
                  <a:srgbClr val="C9FA85"/>
                </a:solidFill>
                <a:latin typeface="Space Grotesk" pitchFamily="34" charset="0"/>
                <a:ea typeface="Space Grotesk" pitchFamily="34" charset="-122"/>
                <a:cs typeface="Space Grotesk" pitchFamily="34" charset="-120"/>
              </a:rPr>
              <a:t>Fliq for Year 4.</a:t>
            </a:r>
            <a:endParaRPr lang="en-US" sz="5400" dirty="0"/>
          </a:p>
        </p:txBody>
      </p:sp>
      <p:sp>
        <p:nvSpPr>
          <p:cNvPr id="7" name="Text 3"/>
          <p:cNvSpPr txBox="1"/>
          <p:nvPr/>
        </p:nvSpPr>
        <p:spPr>
          <a:xfrm>
            <a:off x="640080" y="4526280"/>
            <a:ext cx="7863840" cy="868680"/>
          </a:xfrm>
          <a:prstGeom prst="rect">
            <a:avLst/>
          </a:prstGeom>
          <a:noFill/>
          <a:ln/>
        </p:spPr>
        <p:txBody>
          <a:bodyPr wrap="square" lIns="0" tIns="0" rIns="0" bIns="0" rtlCol="0" anchor="ctr"/>
          <a:lstStyle/>
          <a:p>
            <a:pPr indent="0" marL="0">
              <a:lnSpc>
                <a:spcPct val="120000"/>
              </a:lnSpc>
              <a:buNone/>
            </a:pPr>
            <a:r>
              <a:rPr lang="en-US" sz="1800" b="1" dirty="0">
                <a:solidFill>
                  <a:srgbClr val="FFFFFF"/>
                </a:solidFill>
                <a:latin typeface="Inter" pitchFamily="34" charset="0"/>
                <a:ea typeface="Inter" pitchFamily="34" charset="-122"/>
                <a:cs typeface="Inter" pitchFamily="34" charset="-120"/>
              </a:rPr>
              <a:t>A request to carry our Year-3 project into ISDN 4001.</a:t>
            </a:r>
            <a:endParaRPr lang="en-US" sz="1800" dirty="0"/>
          </a:p>
          <a:p>
            <a:pPr indent="0" marL="0">
              <a:lnSpc>
                <a:spcPct val="120000"/>
              </a:lnSpc>
              <a:buNone/>
            </a:pPr>
            <a:r>
              <a:rPr lang="en-US" sz="1800" dirty="0">
                <a:solidFill>
                  <a:srgbClr val="D3CAFF"/>
                </a:solidFill>
                <a:latin typeface="Inter" pitchFamily="34" charset="0"/>
                <a:ea typeface="Inter" pitchFamily="34" charset="-122"/>
                <a:cs typeface="Inter" pitchFamily="34" charset="-120"/>
              </a:rPr>
              <a:t>Two years of research, an incorporated company, and an app in build.</a:t>
            </a:r>
            <a:endParaRPr lang="en-US" sz="1800" dirty="0"/>
          </a:p>
        </p:txBody>
      </p:sp>
      <p:sp>
        <p:nvSpPr>
          <p:cNvPr id="8" name="Shape 4"/>
          <p:cNvSpPr/>
          <p:nvPr/>
        </p:nvSpPr>
        <p:spPr>
          <a:xfrm>
            <a:off x="640080" y="5870448"/>
            <a:ext cx="7918704" cy="12802"/>
          </a:xfrm>
          <a:prstGeom prst="rect">
            <a:avLst/>
          </a:prstGeom>
          <a:solidFill>
            <a:srgbClr val="C9FA85"/>
          </a:solidFill>
          <a:ln/>
        </p:spPr>
      </p:sp>
      <p:sp>
        <p:nvSpPr>
          <p:cNvPr id="9" name="Text 5"/>
          <p:cNvSpPr txBox="1"/>
          <p:nvPr/>
        </p:nvSpPr>
        <p:spPr>
          <a:xfrm>
            <a:off x="640080" y="6035040"/>
            <a:ext cx="8595360" cy="274320"/>
          </a:xfrm>
          <a:prstGeom prst="rect">
            <a:avLst/>
          </a:prstGeom>
          <a:noFill/>
          <a:ln/>
        </p:spPr>
        <p:txBody>
          <a:bodyPr wrap="square" lIns="0" tIns="0" rIns="0" bIns="0" rtlCol="0" anchor="ctr"/>
          <a:lstStyle/>
          <a:p>
            <a:pPr indent="0" marL="0">
              <a:buNone/>
            </a:pPr>
            <a:r>
              <a:rPr lang="en-US" sz="1300" b="1" dirty="0">
                <a:solidFill>
                  <a:srgbClr val="FFF9FF"/>
                </a:solidFill>
                <a:latin typeface="Inter" pitchFamily="34" charset="0"/>
                <a:ea typeface="Inter" pitchFamily="34" charset="-122"/>
                <a:cs typeface="Inter" pitchFamily="34" charset="-120"/>
              </a:rPr>
              <a:t>Victor Nesteruk · Ling Bo Zeng</a:t>
            </a:r>
            <a:pPr indent="0" marL="0">
              <a:buNone/>
            </a:pPr>
            <a:r>
              <a:rPr lang="en-US" sz="1300" dirty="0">
                <a:solidFill>
                  <a:srgbClr val="E8E2FF"/>
                </a:solidFill>
                <a:latin typeface="Inter" pitchFamily="34" charset="0"/>
                <a:ea typeface="Inter" pitchFamily="34" charset="-122"/>
                <a:cs typeface="Inter" pitchFamily="34" charset="-120"/>
              </a:rPr>
              <a:t>     |     HKUST ISDN, Year 4     |     </a:t>
            </a:r>
            <a:pPr indent="0" marL="0">
              <a:buNone/>
            </a:pPr>
            <a:r>
              <a:rPr lang="en-US" sz="1300" dirty="0">
                <a:solidFill>
                  <a:srgbClr val="E8E2FF"/>
                </a:solidFill>
                <a:latin typeface="Inter" pitchFamily="34" charset="0"/>
                <a:ea typeface="Inter" pitchFamily="34" charset="-122"/>
                <a:cs typeface="Inter" pitchFamily="34" charset="-120"/>
              </a:rPr>
              <a:t>For Prof. Chi Ying Tsui · Prof. Hongri Gu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D3CA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THE ASK · WHY WE ASKED TO MEET</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May we bring Fliq into ISDN 4001?</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1</a:t>
            </a:r>
            <a:endParaRPr lang="en-US" sz="950" dirty="0"/>
          </a:p>
        </p:txBody>
      </p:sp>
      <p:sp>
        <p:nvSpPr>
          <p:cNvPr id="10" name="Shape 7"/>
          <p:cNvSpPr/>
          <p:nvPr/>
        </p:nvSpPr>
        <p:spPr>
          <a:xfrm>
            <a:off x="502920" y="2103120"/>
            <a:ext cx="11183112" cy="1097280"/>
          </a:xfrm>
          <a:prstGeom prst="roundRect">
            <a:avLst>
              <a:gd name="adj" fmla="val 6667"/>
            </a:avLst>
          </a:prstGeom>
          <a:solidFill>
            <a:srgbClr val="11256A"/>
          </a:solidFill>
          <a:ln/>
        </p:spPr>
      </p:sp>
      <p:sp>
        <p:nvSpPr>
          <p:cNvPr id="11" name="Text 8"/>
          <p:cNvSpPr txBox="1"/>
          <p:nvPr/>
        </p:nvSpPr>
        <p:spPr>
          <a:xfrm>
            <a:off x="886968" y="2103120"/>
            <a:ext cx="10415016" cy="1097280"/>
          </a:xfrm>
          <a:prstGeom prst="rect">
            <a:avLst/>
          </a:prstGeom>
          <a:noFill/>
          <a:ln/>
        </p:spPr>
        <p:txBody>
          <a:bodyPr wrap="square" lIns="0" tIns="0" rIns="0" bIns="0" rtlCol="0" anchor="ctr"/>
          <a:lstStyle/>
          <a:p>
            <a:pPr indent="0" marL="0">
              <a:lnSpc>
                <a:spcPct val="116000"/>
              </a:lnSpc>
              <a:buNone/>
            </a:pPr>
            <a:r>
              <a:rPr lang="en-US" sz="1900" b="1" dirty="0">
                <a:solidFill>
                  <a:srgbClr val="FFFFFF"/>
                </a:solidFill>
                <a:latin typeface="Space Grotesk" pitchFamily="34" charset="0"/>
                <a:ea typeface="Space Grotesk" pitchFamily="34" charset="-122"/>
                <a:cs typeface="Space Grotesk" pitchFamily="34" charset="-120"/>
              </a:rPr>
              <a:t>We would like to register Fliq — the project we built through ISDN 3001 and 3002, and have kept building since — as our own-idea FYP topic.</a:t>
            </a:r>
            <a:endParaRPr lang="en-US" sz="1900" dirty="0"/>
          </a:p>
        </p:txBody>
      </p:sp>
      <p:sp>
        <p:nvSpPr>
          <p:cNvPr id="12" name="Shape 9"/>
          <p:cNvSpPr/>
          <p:nvPr/>
        </p:nvSpPr>
        <p:spPr>
          <a:xfrm>
            <a:off x="502920" y="3401568"/>
            <a:ext cx="3383280" cy="2743200"/>
          </a:xfrm>
          <a:prstGeom prst="roundRect">
            <a:avLst>
              <a:gd name="adj" fmla="val 2667"/>
            </a:avLst>
          </a:prstGeom>
          <a:solidFill>
            <a:srgbClr val="D3CAFF"/>
          </a:solidFill>
          <a:ln/>
          <a:effectLst>
            <a:outerShdw sx="100000" sy="100000" kx="0" ky="0" algn="bl" rotWithShape="0" blurRad="127000" dist="25400" dir="5400000">
              <a:srgbClr val="352E4A">
                <a:alpha val="13000"/>
              </a:srgbClr>
            </a:outerShdw>
          </a:effectLst>
        </p:spPr>
      </p:sp>
      <p:sp>
        <p:nvSpPr>
          <p:cNvPr id="13" name="Text 10"/>
          <p:cNvSpPr txBox="1"/>
          <p:nvPr/>
        </p:nvSpPr>
        <p:spPr>
          <a:xfrm>
            <a:off x="777240" y="3602736"/>
            <a:ext cx="2834640" cy="237744"/>
          </a:xfrm>
          <a:prstGeom prst="rect">
            <a:avLst/>
          </a:prstGeom>
          <a:noFill/>
          <a:ln/>
        </p:spPr>
        <p:txBody>
          <a:bodyPr wrap="square" lIns="0" tIns="0" rIns="0" bIns="0" rtlCol="0" anchor="ctr"/>
          <a:lstStyle/>
          <a:p>
            <a:pPr indent="0" marL="0">
              <a:buNone/>
            </a:pPr>
            <a:r>
              <a:rPr lang="en-US" sz="950" b="1" dirty="0">
                <a:solidFill>
                  <a:srgbClr val="800080"/>
                </a:solidFill>
                <a:latin typeface="Inter" pitchFamily="34" charset="0"/>
                <a:ea typeface="Inter" pitchFamily="34" charset="-122"/>
                <a:cs typeface="Inter" pitchFamily="34" charset="-120"/>
              </a:rPr>
              <a:t>ROUTE</a:t>
            </a:r>
            <a:endParaRPr lang="en-US" sz="950" dirty="0"/>
          </a:p>
        </p:txBody>
      </p:sp>
      <p:sp>
        <p:nvSpPr>
          <p:cNvPr id="14" name="Text 11"/>
          <p:cNvSpPr txBox="1"/>
          <p:nvPr/>
        </p:nvSpPr>
        <p:spPr>
          <a:xfrm>
            <a:off x="777240" y="3895344"/>
            <a:ext cx="2834640" cy="310896"/>
          </a:xfrm>
          <a:prstGeom prst="rect">
            <a:avLst/>
          </a:prstGeom>
          <a:noFill/>
          <a:ln/>
        </p:spPr>
        <p:txBody>
          <a:bodyPr wrap="square" lIns="0" tIns="0" rIns="0" bIns="0" rtlCol="0" anchor="t"/>
          <a:lstStyle/>
          <a:p>
            <a:pPr indent="0" marL="0">
              <a:lnSpc>
                <a:spcPct val="105000"/>
              </a:lnSpc>
              <a:buNone/>
            </a:pPr>
            <a:r>
              <a:rPr lang="en-US" sz="1600" b="1" dirty="0">
                <a:solidFill>
                  <a:srgbClr val="11256A"/>
                </a:solidFill>
                <a:latin typeface="Space Grotesk" pitchFamily="34" charset="0"/>
                <a:ea typeface="Space Grotesk" pitchFamily="34" charset="-122"/>
                <a:cs typeface="Space Grotesk" pitchFamily="34" charset="-120"/>
              </a:rPr>
              <a:t>It is one of your three</a:t>
            </a:r>
            <a:endParaRPr lang="en-US" sz="1600" dirty="0"/>
          </a:p>
        </p:txBody>
      </p:sp>
      <p:sp>
        <p:nvSpPr>
          <p:cNvPr id="15" name="Text 12"/>
          <p:cNvSpPr txBox="1"/>
          <p:nvPr/>
        </p:nvSpPr>
        <p:spPr>
          <a:xfrm>
            <a:off x="777240" y="4297680"/>
            <a:ext cx="2834640" cy="1664208"/>
          </a:xfrm>
          <a:prstGeom prst="rect">
            <a:avLst/>
          </a:prstGeom>
          <a:noFill/>
          <a:ln/>
        </p:spPr>
        <p:txBody>
          <a:bodyPr wrap="square" lIns="0" tIns="0" rIns="0" bIns="0" rtlCol="0" anchor="t"/>
          <a:lstStyle/>
          <a:p>
            <a:pPr indent="0" marL="0">
              <a:lnSpc>
                <a:spcPct val="116000"/>
              </a:lnSpc>
              <a:buNone/>
            </a:pPr>
            <a:r>
              <a:rPr lang="en-US" sz="1300" dirty="0">
                <a:solidFill>
                  <a:srgbClr val="352E4A"/>
                </a:solidFill>
                <a:latin typeface="Inter" pitchFamily="34" charset="0"/>
                <a:ea typeface="Inter" pitchFamily="34" charset="-122"/>
                <a:cs typeface="Inter" pitchFamily="34" charset="-120"/>
              </a:rPr>
              <a:t>The kick-off deck names three ways to start, and the first is your own idea: “start early, form a team, validate users.” That is the route we are asking to take.</a:t>
            </a:r>
            <a:endParaRPr lang="en-US" sz="1300" dirty="0"/>
          </a:p>
        </p:txBody>
      </p:sp>
      <p:sp>
        <p:nvSpPr>
          <p:cNvPr id="16" name="Shape 13"/>
          <p:cNvSpPr/>
          <p:nvPr/>
        </p:nvSpPr>
        <p:spPr>
          <a:xfrm>
            <a:off x="4270248" y="3401568"/>
            <a:ext cx="3383280" cy="2743200"/>
          </a:xfrm>
          <a:prstGeom prst="roundRect">
            <a:avLst>
              <a:gd name="adj" fmla="val 2667"/>
            </a:avLst>
          </a:prstGeom>
          <a:solidFill>
            <a:srgbClr val="CEE7FD"/>
          </a:solidFill>
          <a:ln/>
          <a:effectLst>
            <a:outerShdw sx="100000" sy="100000" kx="0" ky="0" algn="bl" rotWithShape="0" blurRad="127000" dist="25400" dir="5400000">
              <a:srgbClr val="352E4A">
                <a:alpha val="13000"/>
              </a:srgbClr>
            </a:outerShdw>
          </a:effectLst>
        </p:spPr>
      </p:sp>
      <p:sp>
        <p:nvSpPr>
          <p:cNvPr id="17" name="Text 14"/>
          <p:cNvSpPr txBox="1"/>
          <p:nvPr/>
        </p:nvSpPr>
        <p:spPr>
          <a:xfrm>
            <a:off x="4544568" y="3602736"/>
            <a:ext cx="2834640" cy="237744"/>
          </a:xfrm>
          <a:prstGeom prst="rect">
            <a:avLst/>
          </a:prstGeom>
          <a:noFill/>
          <a:ln/>
        </p:spPr>
        <p:txBody>
          <a:bodyPr wrap="square" lIns="0" tIns="0" rIns="0" bIns="0" rtlCol="0" anchor="ctr"/>
          <a:lstStyle/>
          <a:p>
            <a:pPr indent="0" marL="0">
              <a:buNone/>
            </a:pPr>
            <a:r>
              <a:rPr lang="en-US" sz="950" b="1" dirty="0">
                <a:solidFill>
                  <a:srgbClr val="800080"/>
                </a:solidFill>
                <a:latin typeface="Inter" pitchFamily="34" charset="0"/>
                <a:ea typeface="Inter" pitchFamily="34" charset="-122"/>
                <a:cs typeface="Inter" pitchFamily="34" charset="-120"/>
              </a:rPr>
              <a:t>TIMING</a:t>
            </a:r>
            <a:endParaRPr lang="en-US" sz="950" dirty="0"/>
          </a:p>
        </p:txBody>
      </p:sp>
      <p:sp>
        <p:nvSpPr>
          <p:cNvPr id="18" name="Text 15"/>
          <p:cNvSpPr txBox="1"/>
          <p:nvPr/>
        </p:nvSpPr>
        <p:spPr>
          <a:xfrm>
            <a:off x="4544568" y="3895344"/>
            <a:ext cx="2834640" cy="310896"/>
          </a:xfrm>
          <a:prstGeom prst="rect">
            <a:avLst/>
          </a:prstGeom>
          <a:noFill/>
          <a:ln/>
        </p:spPr>
        <p:txBody>
          <a:bodyPr wrap="square" lIns="0" tIns="0" rIns="0" bIns="0" rtlCol="0" anchor="t"/>
          <a:lstStyle/>
          <a:p>
            <a:pPr indent="0" marL="0">
              <a:lnSpc>
                <a:spcPct val="105000"/>
              </a:lnSpc>
              <a:buNone/>
            </a:pPr>
            <a:r>
              <a:rPr lang="en-US" sz="1600" b="1" dirty="0">
                <a:solidFill>
                  <a:srgbClr val="11256A"/>
                </a:solidFill>
                <a:latin typeface="Space Grotesk" pitchFamily="34" charset="0"/>
                <a:ea typeface="Space Grotesk" pitchFamily="34" charset="-122"/>
                <a:cs typeface="Space Grotesk" pitchFamily="34" charset="-120"/>
              </a:rPr>
              <a:t>We started early</a:t>
            </a:r>
            <a:endParaRPr lang="en-US" sz="1600" dirty="0"/>
          </a:p>
        </p:txBody>
      </p:sp>
      <p:sp>
        <p:nvSpPr>
          <p:cNvPr id="19" name="Text 16"/>
          <p:cNvSpPr txBox="1"/>
          <p:nvPr/>
        </p:nvSpPr>
        <p:spPr>
          <a:xfrm>
            <a:off x="4544568" y="4297680"/>
            <a:ext cx="2834640" cy="1664208"/>
          </a:xfrm>
          <a:prstGeom prst="rect">
            <a:avLst/>
          </a:prstGeom>
          <a:noFill/>
          <a:ln/>
        </p:spPr>
        <p:txBody>
          <a:bodyPr wrap="square" lIns="0" tIns="0" rIns="0" bIns="0" rtlCol="0" anchor="t"/>
          <a:lstStyle/>
          <a:p>
            <a:pPr indent="0" marL="0">
              <a:lnSpc>
                <a:spcPct val="116000"/>
              </a:lnSpc>
              <a:buNone/>
            </a:pPr>
            <a:r>
              <a:rPr lang="en-US" sz="1300" dirty="0">
                <a:solidFill>
                  <a:srgbClr val="352E4A"/>
                </a:solidFill>
                <a:latin typeface="Inter" pitchFamily="34" charset="0"/>
                <a:ea typeface="Inter" pitchFamily="34" charset="-122"/>
                <a:cs typeface="Inter" pitchFamily="34" charset="-120"/>
              </a:rPr>
              <a:t>“Before September: students who want to pursue their own idea should begin developing it as early as possible.” We are here on 28 August, before classes begin.</a:t>
            </a:r>
            <a:endParaRPr lang="en-US" sz="1300" dirty="0"/>
          </a:p>
        </p:txBody>
      </p:sp>
      <p:sp>
        <p:nvSpPr>
          <p:cNvPr id="20" name="Shape 17"/>
          <p:cNvSpPr/>
          <p:nvPr/>
        </p:nvSpPr>
        <p:spPr>
          <a:xfrm>
            <a:off x="8037576" y="3401568"/>
            <a:ext cx="3383280" cy="2743200"/>
          </a:xfrm>
          <a:prstGeom prst="roundRect">
            <a:avLst>
              <a:gd name="adj" fmla="val 2667"/>
            </a:avLst>
          </a:prstGeom>
          <a:solidFill>
            <a:srgbClr val="FDE1FD"/>
          </a:solidFill>
          <a:ln/>
          <a:effectLst>
            <a:outerShdw sx="100000" sy="100000" kx="0" ky="0" algn="bl" rotWithShape="0" blurRad="127000" dist="25400" dir="5400000">
              <a:srgbClr val="352E4A">
                <a:alpha val="13000"/>
              </a:srgbClr>
            </a:outerShdw>
          </a:effectLst>
        </p:spPr>
      </p:sp>
      <p:sp>
        <p:nvSpPr>
          <p:cNvPr id="21" name="Text 18"/>
          <p:cNvSpPr txBox="1"/>
          <p:nvPr/>
        </p:nvSpPr>
        <p:spPr>
          <a:xfrm>
            <a:off x="8311896" y="3602736"/>
            <a:ext cx="2834640" cy="237744"/>
          </a:xfrm>
          <a:prstGeom prst="rect">
            <a:avLst/>
          </a:prstGeom>
          <a:noFill/>
          <a:ln/>
        </p:spPr>
        <p:txBody>
          <a:bodyPr wrap="square" lIns="0" tIns="0" rIns="0" bIns="0" rtlCol="0" anchor="ctr"/>
          <a:lstStyle/>
          <a:p>
            <a:pPr indent="0" marL="0">
              <a:buNone/>
            </a:pPr>
            <a:r>
              <a:rPr lang="en-US" sz="950" b="1" dirty="0">
                <a:solidFill>
                  <a:srgbClr val="800080"/>
                </a:solidFill>
                <a:latin typeface="Inter" pitchFamily="34" charset="0"/>
                <a:ea typeface="Inter" pitchFamily="34" charset="-122"/>
                <a:cs typeface="Inter" pitchFamily="34" charset="-120"/>
              </a:rPr>
              <a:t>SUBSTANCE</a:t>
            </a:r>
            <a:endParaRPr lang="en-US" sz="950" dirty="0"/>
          </a:p>
        </p:txBody>
      </p:sp>
      <p:sp>
        <p:nvSpPr>
          <p:cNvPr id="22" name="Text 19"/>
          <p:cNvSpPr txBox="1"/>
          <p:nvPr/>
        </p:nvSpPr>
        <p:spPr>
          <a:xfrm>
            <a:off x="8311896" y="3895344"/>
            <a:ext cx="2834640" cy="310896"/>
          </a:xfrm>
          <a:prstGeom prst="rect">
            <a:avLst/>
          </a:prstGeom>
          <a:noFill/>
          <a:ln/>
        </p:spPr>
        <p:txBody>
          <a:bodyPr wrap="square" lIns="0" tIns="0" rIns="0" bIns="0" rtlCol="0" anchor="t"/>
          <a:lstStyle/>
          <a:p>
            <a:pPr indent="0" marL="0">
              <a:lnSpc>
                <a:spcPct val="105000"/>
              </a:lnSpc>
              <a:buNone/>
            </a:pPr>
            <a:r>
              <a:rPr lang="en-US" sz="1600" b="1" dirty="0">
                <a:solidFill>
                  <a:srgbClr val="11256A"/>
                </a:solidFill>
                <a:latin typeface="Space Grotesk" pitchFamily="34" charset="0"/>
                <a:ea typeface="Space Grotesk" pitchFamily="34" charset="-122"/>
                <a:cs typeface="Space Grotesk" pitchFamily="34" charset="-120"/>
              </a:rPr>
              <a:t>It is already real</a:t>
            </a:r>
            <a:endParaRPr lang="en-US" sz="1600" dirty="0"/>
          </a:p>
        </p:txBody>
      </p:sp>
      <p:sp>
        <p:nvSpPr>
          <p:cNvPr id="23" name="Text 20"/>
          <p:cNvSpPr txBox="1"/>
          <p:nvPr/>
        </p:nvSpPr>
        <p:spPr>
          <a:xfrm>
            <a:off x="8311896" y="4297680"/>
            <a:ext cx="2834640" cy="1664208"/>
          </a:xfrm>
          <a:prstGeom prst="rect">
            <a:avLst/>
          </a:prstGeom>
          <a:noFill/>
          <a:ln/>
        </p:spPr>
        <p:txBody>
          <a:bodyPr wrap="square" lIns="0" tIns="0" rIns="0" bIns="0" rtlCol="0" anchor="t"/>
          <a:lstStyle/>
          <a:p>
            <a:pPr indent="0" marL="0">
              <a:lnSpc>
                <a:spcPct val="116000"/>
              </a:lnSpc>
              <a:buNone/>
            </a:pPr>
            <a:r>
              <a:rPr lang="en-US" sz="1300" dirty="0">
                <a:solidFill>
                  <a:srgbClr val="352E4A"/>
                </a:solidFill>
                <a:latin typeface="Inter" pitchFamily="34" charset="0"/>
                <a:ea typeface="Inter" pitchFamily="34" charset="-122"/>
                <a:cs typeface="Inter" pitchFamily="34" charset="-120"/>
              </a:rPr>
              <a:t>Two years of user research, a validated pre-launch MVP, an incorporated company, and an application already in development.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CEE7FD"/>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THE PROJECT · WHAT WE ARE BUILDING</a:t>
            </a:r>
            <a:endParaRPr lang="en-US" sz="1050" dirty="0"/>
          </a:p>
        </p:txBody>
      </p:sp>
      <p:sp>
        <p:nvSpPr>
          <p:cNvPr id="6" name="Text 3"/>
          <p:cNvSpPr txBox="1"/>
          <p:nvPr/>
        </p:nvSpPr>
        <p:spPr>
          <a:xfrm>
            <a:off x="502920" y="1069848"/>
            <a:ext cx="11183112" cy="914400"/>
          </a:xfrm>
          <a:prstGeom prst="rect">
            <a:avLst/>
          </a:prstGeom>
          <a:noFill/>
          <a:ln/>
        </p:spPr>
        <p:txBody>
          <a:bodyPr wrap="square" lIns="0" tIns="0" rIns="0" bIns="0" rtlCol="0" anchor="t"/>
          <a:lstStyle/>
          <a:p>
            <a:pPr indent="0" marL="0">
              <a:buNone/>
            </a:pPr>
            <a:r>
              <a:rPr lang="en-US" sz="2900" b="1" dirty="0">
                <a:solidFill>
                  <a:srgbClr val="11256A"/>
                </a:solidFill>
                <a:latin typeface="Space Grotesk" pitchFamily="34" charset="0"/>
                <a:ea typeface="Space Grotesk" pitchFamily="34" charset="-122"/>
                <a:cs typeface="Space Grotesk" pitchFamily="34" charset="-120"/>
              </a:rPr>
              <a:t>The scarce resource in news is not information. It is trust.</a:t>
            </a:r>
            <a:endParaRPr lang="en-US" sz="29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2</a:t>
            </a:r>
            <a:endParaRPr lang="en-US" sz="950" dirty="0"/>
          </a:p>
        </p:txBody>
      </p:sp>
      <p:sp>
        <p:nvSpPr>
          <p:cNvPr id="10" name="Text 7"/>
          <p:cNvSpPr txBox="1"/>
          <p:nvPr/>
        </p:nvSpPr>
        <p:spPr>
          <a:xfrm>
            <a:off x="502920" y="2103120"/>
            <a:ext cx="5029200" cy="274320"/>
          </a:xfrm>
          <a:prstGeom prst="rect">
            <a:avLst/>
          </a:prstGeom>
          <a:noFill/>
          <a:ln/>
        </p:spPr>
        <p:txBody>
          <a:bodyPr wrap="square" lIns="0" tIns="0" rIns="0" bIns="0" rtlCol="0" anchor="ctr"/>
          <a:lstStyle/>
          <a:p>
            <a:pPr indent="0" marL="0">
              <a:buNone/>
            </a:pPr>
            <a:r>
              <a:rPr lang="en-US" sz="1100" b="1" dirty="0">
                <a:solidFill>
                  <a:srgbClr val="800080"/>
                </a:solidFill>
                <a:latin typeface="Inter" pitchFamily="34" charset="0"/>
                <a:ea typeface="Inter" pitchFamily="34" charset="-122"/>
                <a:cs typeface="Inter" pitchFamily="34" charset="-120"/>
              </a:rPr>
              <a:t>WHAT OUR OWN RESEARCH FOUND</a:t>
            </a:r>
            <a:endParaRPr lang="en-US" sz="1100" dirty="0"/>
          </a:p>
        </p:txBody>
      </p:sp>
      <p:sp>
        <p:nvSpPr>
          <p:cNvPr id="11" name="Text 8"/>
          <p:cNvSpPr txBox="1"/>
          <p:nvPr/>
        </p:nvSpPr>
        <p:spPr>
          <a:xfrm>
            <a:off x="502920" y="2542032"/>
            <a:ext cx="1417320" cy="658368"/>
          </a:xfrm>
          <a:prstGeom prst="rect">
            <a:avLst/>
          </a:prstGeom>
          <a:noFill/>
          <a:ln/>
        </p:spPr>
        <p:txBody>
          <a:bodyPr wrap="square" lIns="0" tIns="0" rIns="0" bIns="0" rtlCol="0" anchor="ctr"/>
          <a:lstStyle/>
          <a:p>
            <a:pPr indent="0" marL="0">
              <a:buNone/>
            </a:pPr>
            <a:r>
              <a:rPr lang="en-US" sz="4000" b="1" dirty="0">
                <a:solidFill>
                  <a:srgbClr val="11256A"/>
                </a:solidFill>
                <a:latin typeface="Space Grotesk" pitchFamily="34" charset="0"/>
                <a:ea typeface="Space Grotesk" pitchFamily="34" charset="-122"/>
                <a:cs typeface="Space Grotesk" pitchFamily="34" charset="-120"/>
              </a:rPr>
              <a:t>79%</a:t>
            </a:r>
            <a:endParaRPr lang="en-US" sz="4000" dirty="0"/>
          </a:p>
        </p:txBody>
      </p:sp>
      <p:sp>
        <p:nvSpPr>
          <p:cNvPr id="12" name="Text 9"/>
          <p:cNvSpPr txBox="1"/>
          <p:nvPr/>
        </p:nvSpPr>
        <p:spPr>
          <a:xfrm>
            <a:off x="2011680" y="2542032"/>
            <a:ext cx="3566160" cy="731520"/>
          </a:xfrm>
          <a:prstGeom prst="rect">
            <a:avLst/>
          </a:prstGeom>
          <a:noFill/>
          <a:ln/>
        </p:spPr>
        <p:txBody>
          <a:bodyPr wrap="square" lIns="0" tIns="0" rIns="0" bIns="0" rtlCol="0" anchor="ctr"/>
          <a:lstStyle/>
          <a:p>
            <a:pPr indent="0" marL="0">
              <a:lnSpc>
                <a:spcPct val="114000"/>
              </a:lnSpc>
              <a:buNone/>
            </a:pPr>
            <a:r>
              <a:rPr lang="en-US" sz="1300" dirty="0">
                <a:solidFill>
                  <a:srgbClr val="352E4A"/>
                </a:solidFill>
                <a:latin typeface="Inter" pitchFamily="34" charset="0"/>
                <a:ea typeface="Inter" pitchFamily="34" charset="-122"/>
                <a:cs typeface="Inter" pitchFamily="34" charset="-120"/>
              </a:rPr>
              <a:t>rank trust — knowing a story is accurate — as their number-one priority in news</a:t>
            </a:r>
            <a:endParaRPr lang="en-US" sz="1300" dirty="0"/>
          </a:p>
        </p:txBody>
      </p:sp>
      <p:sp>
        <p:nvSpPr>
          <p:cNvPr id="13" name="Text 10"/>
          <p:cNvSpPr txBox="1"/>
          <p:nvPr/>
        </p:nvSpPr>
        <p:spPr>
          <a:xfrm>
            <a:off x="502920" y="3675888"/>
            <a:ext cx="1417320" cy="658368"/>
          </a:xfrm>
          <a:prstGeom prst="rect">
            <a:avLst/>
          </a:prstGeom>
          <a:noFill/>
          <a:ln/>
        </p:spPr>
        <p:txBody>
          <a:bodyPr wrap="square" lIns="0" tIns="0" rIns="0" bIns="0" rtlCol="0" anchor="ctr"/>
          <a:lstStyle/>
          <a:p>
            <a:pPr indent="0" marL="0">
              <a:buNone/>
            </a:pPr>
            <a:r>
              <a:rPr lang="en-US" sz="4000" b="1" dirty="0">
                <a:solidFill>
                  <a:srgbClr val="667DFF"/>
                </a:solidFill>
                <a:latin typeface="Space Grotesk" pitchFamily="34" charset="0"/>
                <a:ea typeface="Space Grotesk" pitchFamily="34" charset="-122"/>
                <a:cs typeface="Space Grotesk" pitchFamily="34" charset="-120"/>
              </a:rPr>
              <a:t>52%</a:t>
            </a:r>
            <a:endParaRPr lang="en-US" sz="4000" dirty="0"/>
          </a:p>
        </p:txBody>
      </p:sp>
      <p:sp>
        <p:nvSpPr>
          <p:cNvPr id="14" name="Text 11"/>
          <p:cNvSpPr txBox="1"/>
          <p:nvPr/>
        </p:nvSpPr>
        <p:spPr>
          <a:xfrm>
            <a:off x="2011680" y="3675888"/>
            <a:ext cx="3566160" cy="731520"/>
          </a:xfrm>
          <a:prstGeom prst="rect">
            <a:avLst/>
          </a:prstGeom>
          <a:noFill/>
          <a:ln/>
        </p:spPr>
        <p:txBody>
          <a:bodyPr wrap="square" lIns="0" tIns="0" rIns="0" bIns="0" rtlCol="0" anchor="ctr"/>
          <a:lstStyle/>
          <a:p>
            <a:pPr indent="0" marL="0">
              <a:lnSpc>
                <a:spcPct val="114000"/>
              </a:lnSpc>
              <a:buNone/>
            </a:pPr>
            <a:r>
              <a:rPr lang="en-US" sz="1300" dirty="0">
                <a:solidFill>
                  <a:srgbClr val="352E4A"/>
                </a:solidFill>
                <a:latin typeface="Inter" pitchFamily="34" charset="0"/>
                <a:ea typeface="Inter" pitchFamily="34" charset="-122"/>
                <a:cs typeface="Inter" pitchFamily="34" charset="-120"/>
              </a:rPr>
              <a:t>would read news more often if they could trust it more</a:t>
            </a:r>
            <a:endParaRPr lang="en-US" sz="1300" dirty="0"/>
          </a:p>
        </p:txBody>
      </p:sp>
      <p:sp>
        <p:nvSpPr>
          <p:cNvPr id="15" name="Text 12"/>
          <p:cNvSpPr txBox="1"/>
          <p:nvPr/>
        </p:nvSpPr>
        <p:spPr>
          <a:xfrm>
            <a:off x="502920" y="4809744"/>
            <a:ext cx="1417320" cy="658368"/>
          </a:xfrm>
          <a:prstGeom prst="rect">
            <a:avLst/>
          </a:prstGeom>
          <a:noFill/>
          <a:ln/>
        </p:spPr>
        <p:txBody>
          <a:bodyPr wrap="square" lIns="0" tIns="0" rIns="0" bIns="0" rtlCol="0" anchor="ctr"/>
          <a:lstStyle/>
          <a:p>
            <a:pPr indent="0" marL="0">
              <a:buNone/>
            </a:pPr>
            <a:r>
              <a:rPr lang="en-US" sz="4000" b="1" dirty="0">
                <a:solidFill>
                  <a:srgbClr val="800080"/>
                </a:solidFill>
                <a:latin typeface="Space Grotesk" pitchFamily="34" charset="0"/>
                <a:ea typeface="Space Grotesk" pitchFamily="34" charset="-122"/>
                <a:cs typeface="Space Grotesk" pitchFamily="34" charset="-120"/>
              </a:rPr>
              <a:t>43%</a:t>
            </a:r>
            <a:endParaRPr lang="en-US" sz="4000" dirty="0"/>
          </a:p>
        </p:txBody>
      </p:sp>
      <p:sp>
        <p:nvSpPr>
          <p:cNvPr id="16" name="Text 13"/>
          <p:cNvSpPr txBox="1"/>
          <p:nvPr/>
        </p:nvSpPr>
        <p:spPr>
          <a:xfrm>
            <a:off x="2011680" y="4809744"/>
            <a:ext cx="3566160" cy="731520"/>
          </a:xfrm>
          <a:prstGeom prst="rect">
            <a:avLst/>
          </a:prstGeom>
          <a:noFill/>
          <a:ln/>
        </p:spPr>
        <p:txBody>
          <a:bodyPr wrap="square" lIns="0" tIns="0" rIns="0" bIns="0" rtlCol="0" anchor="ctr"/>
          <a:lstStyle/>
          <a:p>
            <a:pPr indent="0" marL="0">
              <a:lnSpc>
                <a:spcPct val="114000"/>
              </a:lnSpc>
              <a:buNone/>
            </a:pPr>
            <a:r>
              <a:rPr lang="en-US" sz="1300" dirty="0">
                <a:solidFill>
                  <a:srgbClr val="352E4A"/>
                </a:solidFill>
                <a:latin typeface="Inter" pitchFamily="34" charset="0"/>
                <a:ea typeface="Inter" pitchFamily="34" charset="-122"/>
                <a:cs typeface="Inter" pitchFamily="34" charset="-120"/>
              </a:rPr>
              <a:t>say they simply cannot tell what is true</a:t>
            </a:r>
            <a:endParaRPr lang="en-US" sz="1300" dirty="0"/>
          </a:p>
        </p:txBody>
      </p:sp>
      <p:sp>
        <p:nvSpPr>
          <p:cNvPr id="17" name="Text 14"/>
          <p:cNvSpPr txBox="1"/>
          <p:nvPr/>
        </p:nvSpPr>
        <p:spPr>
          <a:xfrm>
            <a:off x="502920" y="5852160"/>
            <a:ext cx="5120640" cy="347472"/>
          </a:xfrm>
          <a:prstGeom prst="rect">
            <a:avLst/>
          </a:prstGeom>
          <a:noFill/>
          <a:ln/>
        </p:spPr>
        <p:txBody>
          <a:bodyPr wrap="square" lIns="0" tIns="0" rIns="0" bIns="0" rtlCol="0" anchor="ctr"/>
          <a:lstStyle/>
          <a:p>
            <a:pPr indent="0" marL="0">
              <a:buNone/>
            </a:pPr>
            <a:r>
              <a:rPr lang="en-US" sz="1000" dirty="0">
                <a:solidFill>
                  <a:srgbClr val="6E6787"/>
                </a:solidFill>
                <a:latin typeface="Inter" pitchFamily="34" charset="0"/>
                <a:ea typeface="Inter" pitchFamily="34" charset="-122"/>
                <a:cs typeface="Inter" pitchFamily="34" charset="-120"/>
              </a:rPr>
              <a:t>Our own 100-response study, recruited via Prolific, skewed to the 18–34 audience.</a:t>
            </a:r>
            <a:endParaRPr lang="en-US" sz="1000" dirty="0"/>
          </a:p>
        </p:txBody>
      </p:sp>
      <p:sp>
        <p:nvSpPr>
          <p:cNvPr id="18" name="Shape 15"/>
          <p:cNvSpPr/>
          <p:nvPr/>
        </p:nvSpPr>
        <p:spPr>
          <a:xfrm>
            <a:off x="5943600" y="2103120"/>
            <a:ext cx="5742432" cy="914400"/>
          </a:xfrm>
          <a:prstGeom prst="roundRect">
            <a:avLst>
              <a:gd name="adj" fmla="val 8000"/>
            </a:avLst>
          </a:prstGeom>
          <a:solidFill>
            <a:srgbClr val="D3CAFF"/>
          </a:solidFill>
          <a:ln/>
          <a:effectLst>
            <a:outerShdw sx="100000" sy="100000" kx="0" ky="0" algn="bl" rotWithShape="0" blurRad="127000" dist="25400" dir="5400000">
              <a:srgbClr val="352E4A">
                <a:alpha val="13000"/>
              </a:srgbClr>
            </a:outerShdw>
          </a:effectLst>
        </p:spPr>
      </p:sp>
      <p:sp>
        <p:nvSpPr>
          <p:cNvPr id="19" name="Text 16"/>
          <p:cNvSpPr txBox="1"/>
          <p:nvPr/>
        </p:nvSpPr>
        <p:spPr>
          <a:xfrm>
            <a:off x="6199632" y="2212848"/>
            <a:ext cx="5230368" cy="292608"/>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A confidence signal</a:t>
            </a:r>
            <a:endParaRPr lang="en-US" sz="1500" dirty="0"/>
          </a:p>
        </p:txBody>
      </p:sp>
      <p:sp>
        <p:nvSpPr>
          <p:cNvPr id="20" name="Text 17"/>
          <p:cNvSpPr txBox="1"/>
          <p:nvPr/>
        </p:nvSpPr>
        <p:spPr>
          <a:xfrm>
            <a:off x="6199632" y="2523744"/>
            <a:ext cx="5230368" cy="420624"/>
          </a:xfrm>
          <a:prstGeom prst="rect">
            <a:avLst/>
          </a:prstGeom>
          <a:noFill/>
          <a:ln/>
        </p:spPr>
        <p:txBody>
          <a:bodyPr wrap="square" lIns="0" tIns="0" rIns="0" bIns="0" rtlCol="0" anchor="ctr"/>
          <a:lstStyle/>
          <a:p>
            <a:pPr indent="0" marL="0">
              <a:lnSpc>
                <a:spcPct val="110000"/>
              </a:lnSpc>
              <a:buNone/>
            </a:pPr>
            <a:r>
              <a:rPr lang="en-US" sz="1200" dirty="0">
                <a:solidFill>
                  <a:srgbClr val="352E4A"/>
                </a:solidFill>
                <a:latin typeface="Inter" pitchFamily="34" charset="0"/>
                <a:ea typeface="Inter" pitchFamily="34" charset="-122"/>
                <a:cs typeface="Inter" pitchFamily="34" charset="-120"/>
              </a:rPr>
              <a:t>A glanceable Low / Medium / High level and a lifecycle state — never a false-precision percentage.</a:t>
            </a:r>
            <a:endParaRPr lang="en-US" sz="1200" dirty="0"/>
          </a:p>
        </p:txBody>
      </p:sp>
      <p:sp>
        <p:nvSpPr>
          <p:cNvPr id="21" name="Shape 18"/>
          <p:cNvSpPr/>
          <p:nvPr/>
        </p:nvSpPr>
        <p:spPr>
          <a:xfrm>
            <a:off x="5943600" y="3127248"/>
            <a:ext cx="5742432" cy="914400"/>
          </a:xfrm>
          <a:prstGeom prst="roundRect">
            <a:avLst>
              <a:gd name="adj" fmla="val 8000"/>
            </a:avLst>
          </a:prstGeom>
          <a:solidFill>
            <a:srgbClr val="CEE7FD"/>
          </a:solidFill>
          <a:ln/>
          <a:effectLst>
            <a:outerShdw sx="100000" sy="100000" kx="0" ky="0" algn="bl" rotWithShape="0" blurRad="127000" dist="25400" dir="5400000">
              <a:srgbClr val="352E4A">
                <a:alpha val="13000"/>
              </a:srgbClr>
            </a:outerShdw>
          </a:effectLst>
        </p:spPr>
      </p:sp>
      <p:sp>
        <p:nvSpPr>
          <p:cNvPr id="22" name="Text 19"/>
          <p:cNvSpPr txBox="1"/>
          <p:nvPr/>
        </p:nvSpPr>
        <p:spPr>
          <a:xfrm>
            <a:off x="6199632" y="3236976"/>
            <a:ext cx="5230368" cy="292608"/>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Claim-level transparency</a:t>
            </a:r>
            <a:endParaRPr lang="en-US" sz="1500" dirty="0"/>
          </a:p>
        </p:txBody>
      </p:sp>
      <p:sp>
        <p:nvSpPr>
          <p:cNvPr id="23" name="Text 20"/>
          <p:cNvSpPr txBox="1"/>
          <p:nvPr/>
        </p:nvSpPr>
        <p:spPr>
          <a:xfrm>
            <a:off x="6199632" y="3547872"/>
            <a:ext cx="5230368" cy="420624"/>
          </a:xfrm>
          <a:prstGeom prst="rect">
            <a:avLst/>
          </a:prstGeom>
          <a:noFill/>
          <a:ln/>
        </p:spPr>
        <p:txBody>
          <a:bodyPr wrap="square" lIns="0" tIns="0" rIns="0" bIns="0" rtlCol="0" anchor="ctr"/>
          <a:lstStyle/>
          <a:p>
            <a:pPr indent="0" marL="0">
              <a:lnSpc>
                <a:spcPct val="110000"/>
              </a:lnSpc>
              <a:buNone/>
            </a:pPr>
            <a:r>
              <a:rPr lang="en-US" sz="1200" dirty="0">
                <a:solidFill>
                  <a:srgbClr val="352E4A"/>
                </a:solidFill>
                <a:latin typeface="Inter" pitchFamily="34" charset="0"/>
                <a:ea typeface="Inter" pitchFamily="34" charset="-122"/>
                <a:cs typeface="Inter" pitchFamily="34" charset="-120"/>
              </a:rPr>
              <a:t>Each claim is tagged Confirmed, Developing, Disputed or Analysis, and expands in place to show its evidence.</a:t>
            </a:r>
            <a:endParaRPr lang="en-US" sz="1200" dirty="0"/>
          </a:p>
        </p:txBody>
      </p:sp>
      <p:sp>
        <p:nvSpPr>
          <p:cNvPr id="24" name="Shape 21"/>
          <p:cNvSpPr/>
          <p:nvPr/>
        </p:nvSpPr>
        <p:spPr>
          <a:xfrm>
            <a:off x="5943600" y="4151376"/>
            <a:ext cx="5742432" cy="914400"/>
          </a:xfrm>
          <a:prstGeom prst="roundRect">
            <a:avLst>
              <a:gd name="adj" fmla="val 8000"/>
            </a:avLst>
          </a:prstGeom>
          <a:solidFill>
            <a:srgbClr val="FDE1FD"/>
          </a:solidFill>
          <a:ln/>
          <a:effectLst>
            <a:outerShdw sx="100000" sy="100000" kx="0" ky="0" algn="bl" rotWithShape="0" blurRad="127000" dist="25400" dir="5400000">
              <a:srgbClr val="352E4A">
                <a:alpha val="13000"/>
              </a:srgbClr>
            </a:outerShdw>
          </a:effectLst>
        </p:spPr>
      </p:sp>
      <p:sp>
        <p:nvSpPr>
          <p:cNvPr id="25" name="Text 22"/>
          <p:cNvSpPr txBox="1"/>
          <p:nvPr/>
        </p:nvSpPr>
        <p:spPr>
          <a:xfrm>
            <a:off x="6199632" y="4261104"/>
            <a:ext cx="5230368" cy="292608"/>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Primary-source grounding</a:t>
            </a:r>
            <a:endParaRPr lang="en-US" sz="1500" dirty="0"/>
          </a:p>
        </p:txBody>
      </p:sp>
      <p:sp>
        <p:nvSpPr>
          <p:cNvPr id="26" name="Text 23"/>
          <p:cNvSpPr txBox="1"/>
          <p:nvPr/>
        </p:nvSpPr>
        <p:spPr>
          <a:xfrm>
            <a:off x="6199632" y="4572000"/>
            <a:ext cx="5230368" cy="420624"/>
          </a:xfrm>
          <a:prstGeom prst="rect">
            <a:avLst/>
          </a:prstGeom>
          <a:noFill/>
          <a:ln/>
        </p:spPr>
        <p:txBody>
          <a:bodyPr wrap="square" lIns="0" tIns="0" rIns="0" bIns="0" rtlCol="0" anchor="ctr"/>
          <a:lstStyle/>
          <a:p>
            <a:pPr indent="0" marL="0">
              <a:lnSpc>
                <a:spcPct val="110000"/>
              </a:lnSpc>
              <a:buNone/>
            </a:pPr>
            <a:r>
              <a:rPr lang="en-US" sz="1200" dirty="0">
                <a:solidFill>
                  <a:srgbClr val="352E4A"/>
                </a:solidFill>
                <a:latin typeface="Inter" pitchFamily="34" charset="0"/>
                <a:ea typeface="Inter" pitchFamily="34" charset="-122"/>
                <a:cs typeface="Inter" pitchFamily="34" charset="-120"/>
              </a:rPr>
              <a:t>“Two pools, one gate” ingestion makes legality structural and anchors confidence in original evidence.</a:t>
            </a:r>
            <a:endParaRPr lang="en-US" sz="1200" dirty="0"/>
          </a:p>
        </p:txBody>
      </p:sp>
      <p:sp>
        <p:nvSpPr>
          <p:cNvPr id="27" name="Shape 24"/>
          <p:cNvSpPr/>
          <p:nvPr/>
        </p:nvSpPr>
        <p:spPr>
          <a:xfrm>
            <a:off x="5943600" y="5175504"/>
            <a:ext cx="5742432" cy="914400"/>
          </a:xfrm>
          <a:prstGeom prst="roundRect">
            <a:avLst>
              <a:gd name="adj" fmla="val 8000"/>
            </a:avLst>
          </a:prstGeom>
          <a:solidFill>
            <a:srgbClr val="F5F2FF"/>
          </a:solidFill>
          <a:ln/>
          <a:effectLst>
            <a:outerShdw sx="100000" sy="100000" kx="0" ky="0" algn="bl" rotWithShape="0" blurRad="127000" dist="25400" dir="5400000">
              <a:srgbClr val="352E4A">
                <a:alpha val="13000"/>
              </a:srgbClr>
            </a:outerShdw>
          </a:effectLst>
        </p:spPr>
      </p:sp>
      <p:sp>
        <p:nvSpPr>
          <p:cNvPr id="28" name="Text 25"/>
          <p:cNvSpPr txBox="1"/>
          <p:nvPr/>
        </p:nvSpPr>
        <p:spPr>
          <a:xfrm>
            <a:off x="6199632" y="5285232"/>
            <a:ext cx="5230368" cy="292608"/>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A finite card feed</a:t>
            </a:r>
            <a:endParaRPr lang="en-US" sz="1500" dirty="0"/>
          </a:p>
        </p:txBody>
      </p:sp>
      <p:sp>
        <p:nvSpPr>
          <p:cNvPr id="29" name="Text 26"/>
          <p:cNvSpPr txBox="1"/>
          <p:nvPr/>
        </p:nvSpPr>
        <p:spPr>
          <a:xfrm>
            <a:off x="6199632" y="5596128"/>
            <a:ext cx="5230368" cy="420624"/>
          </a:xfrm>
          <a:prstGeom prst="rect">
            <a:avLst/>
          </a:prstGeom>
          <a:noFill/>
          <a:ln/>
        </p:spPr>
        <p:txBody>
          <a:bodyPr wrap="square" lIns="0" tIns="0" rIns="0" bIns="0" rtlCol="0" anchor="ctr"/>
          <a:lstStyle/>
          <a:p>
            <a:pPr indent="0" marL="0">
              <a:lnSpc>
                <a:spcPct val="110000"/>
              </a:lnSpc>
              <a:buNone/>
            </a:pPr>
            <a:r>
              <a:rPr lang="en-US" sz="1200" dirty="0">
                <a:solidFill>
                  <a:srgbClr val="352E4A"/>
                </a:solidFill>
                <a:latin typeface="Inter" pitchFamily="34" charset="0"/>
                <a:ea typeface="Inter" pitchFamily="34" charset="-122"/>
                <a:cs typeface="Inter" pitchFamily="34" charset="-120"/>
              </a:rPr>
              <a:t>Bounded sessions rather than infinite scroll — built for a Gen-Z audience, against doomscroll.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CEE7FD"/>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YEAR 3 · ISDN 3001 AND 3002</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Five design generations, each one driven by evidence</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3</a:t>
            </a:r>
            <a:endParaRPr lang="en-US" sz="950" dirty="0"/>
          </a:p>
        </p:txBody>
      </p:sp>
      <p:sp>
        <p:nvSpPr>
          <p:cNvPr id="10" name="Shape 7"/>
          <p:cNvSpPr/>
          <p:nvPr/>
        </p:nvSpPr>
        <p:spPr>
          <a:xfrm>
            <a:off x="502920" y="2103120"/>
            <a:ext cx="2057400" cy="2651760"/>
          </a:xfrm>
          <a:prstGeom prst="roundRect">
            <a:avLst>
              <a:gd name="adj" fmla="val 3556"/>
            </a:avLst>
          </a:prstGeom>
          <a:solidFill>
            <a:srgbClr val="D3CAFF"/>
          </a:solidFill>
          <a:ln/>
          <a:effectLst>
            <a:outerShdw sx="100000" sy="100000" kx="0" ky="0" algn="bl" rotWithShape="0" blurRad="127000" dist="25400" dir="5400000">
              <a:srgbClr val="352E4A">
                <a:alpha val="13000"/>
              </a:srgbClr>
            </a:outerShdw>
          </a:effectLst>
        </p:spPr>
      </p:sp>
      <p:sp>
        <p:nvSpPr>
          <p:cNvPr id="11" name="Text 8"/>
          <p:cNvSpPr txBox="1"/>
          <p:nvPr/>
        </p:nvSpPr>
        <p:spPr>
          <a:xfrm>
            <a:off x="740664" y="2304288"/>
            <a:ext cx="1554480" cy="329184"/>
          </a:xfrm>
          <a:prstGeom prst="rect">
            <a:avLst/>
          </a:prstGeom>
          <a:noFill/>
          <a:ln/>
        </p:spPr>
        <p:txBody>
          <a:bodyPr wrap="square" lIns="0" tIns="0" rIns="0" bIns="0" rtlCol="0" anchor="ctr"/>
          <a:lstStyle/>
          <a:p>
            <a:pPr indent="0" marL="0">
              <a:buNone/>
            </a:pPr>
            <a:r>
              <a:rPr lang="en-US" sz="2000" b="1" dirty="0">
                <a:solidFill>
                  <a:srgbClr val="800080"/>
                </a:solidFill>
                <a:latin typeface="Space Grotesk" pitchFamily="34" charset="0"/>
                <a:ea typeface="Space Grotesk" pitchFamily="34" charset="-122"/>
                <a:cs typeface="Space Grotesk" pitchFamily="34" charset="-120"/>
              </a:rPr>
              <a:t>G1</a:t>
            </a:r>
            <a:endParaRPr lang="en-US" sz="2000" dirty="0"/>
          </a:p>
        </p:txBody>
      </p:sp>
      <p:sp>
        <p:nvSpPr>
          <p:cNvPr id="12" name="Text 9"/>
          <p:cNvSpPr txBox="1"/>
          <p:nvPr/>
        </p:nvSpPr>
        <p:spPr>
          <a:xfrm>
            <a:off x="740664" y="2706624"/>
            <a:ext cx="1600200" cy="548640"/>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Explorations</a:t>
            </a:r>
            <a:endParaRPr lang="en-US" sz="1400" dirty="0"/>
          </a:p>
        </p:txBody>
      </p:sp>
      <p:sp>
        <p:nvSpPr>
          <p:cNvPr id="13" name="Text 10"/>
          <p:cNvSpPr txBox="1"/>
          <p:nvPr/>
        </p:nvSpPr>
        <p:spPr>
          <a:xfrm>
            <a:off x="740664" y="3291840"/>
            <a:ext cx="1600200" cy="128016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Established the card-and-feed metaphor, and that transparency belongs on the surface.</a:t>
            </a:r>
            <a:endParaRPr lang="en-US" sz="1100" dirty="0"/>
          </a:p>
        </p:txBody>
      </p:sp>
      <p:sp>
        <p:nvSpPr>
          <p:cNvPr id="14" name="Shape 11"/>
          <p:cNvSpPr/>
          <p:nvPr/>
        </p:nvSpPr>
        <p:spPr>
          <a:xfrm>
            <a:off x="2743200" y="2103120"/>
            <a:ext cx="2057400" cy="2651760"/>
          </a:xfrm>
          <a:prstGeom prst="roundRect">
            <a:avLst>
              <a:gd name="adj" fmla="val 3556"/>
            </a:avLst>
          </a:prstGeom>
          <a:solidFill>
            <a:srgbClr val="CEE7FD"/>
          </a:solidFill>
          <a:ln/>
          <a:effectLst>
            <a:outerShdw sx="100000" sy="100000" kx="0" ky="0" algn="bl" rotWithShape="0" blurRad="127000" dist="25400" dir="5400000">
              <a:srgbClr val="352E4A">
                <a:alpha val="13000"/>
              </a:srgbClr>
            </a:outerShdw>
          </a:effectLst>
        </p:spPr>
      </p:sp>
      <p:sp>
        <p:nvSpPr>
          <p:cNvPr id="15" name="Text 12"/>
          <p:cNvSpPr txBox="1"/>
          <p:nvPr/>
        </p:nvSpPr>
        <p:spPr>
          <a:xfrm>
            <a:off x="2980944" y="2304288"/>
            <a:ext cx="1554480" cy="329184"/>
          </a:xfrm>
          <a:prstGeom prst="rect">
            <a:avLst/>
          </a:prstGeom>
          <a:noFill/>
          <a:ln/>
        </p:spPr>
        <p:txBody>
          <a:bodyPr wrap="square" lIns="0" tIns="0" rIns="0" bIns="0" rtlCol="0" anchor="ctr"/>
          <a:lstStyle/>
          <a:p>
            <a:pPr indent="0" marL="0">
              <a:buNone/>
            </a:pPr>
            <a:r>
              <a:rPr lang="en-US" sz="2000" b="1" dirty="0">
                <a:solidFill>
                  <a:srgbClr val="800080"/>
                </a:solidFill>
                <a:latin typeface="Space Grotesk" pitchFamily="34" charset="0"/>
                <a:ea typeface="Space Grotesk" pitchFamily="34" charset="-122"/>
                <a:cs typeface="Space Grotesk" pitchFamily="34" charset="-120"/>
              </a:rPr>
              <a:t>G2</a:t>
            </a:r>
            <a:endParaRPr lang="en-US" sz="2000" dirty="0"/>
          </a:p>
        </p:txBody>
      </p:sp>
      <p:sp>
        <p:nvSpPr>
          <p:cNvPr id="16" name="Text 13"/>
          <p:cNvSpPr txBox="1"/>
          <p:nvPr/>
        </p:nvSpPr>
        <p:spPr>
          <a:xfrm>
            <a:off x="2980944" y="2706624"/>
            <a:ext cx="1600200" cy="548640"/>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Research-led reframe</a:t>
            </a:r>
            <a:endParaRPr lang="en-US" sz="1400" dirty="0"/>
          </a:p>
        </p:txBody>
      </p:sp>
      <p:sp>
        <p:nvSpPr>
          <p:cNvPr id="17" name="Text 14"/>
          <p:cNvSpPr txBox="1"/>
          <p:nvPr/>
        </p:nvSpPr>
        <p:spPr>
          <a:xfrm>
            <a:off x="2980944" y="3291840"/>
            <a:ext cx="1600200" cy="128016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User landscape, journey, persona. The design stopped being aesthetic-led; the goal became trust.</a:t>
            </a:r>
            <a:endParaRPr lang="en-US" sz="1100" dirty="0"/>
          </a:p>
        </p:txBody>
      </p:sp>
      <p:sp>
        <p:nvSpPr>
          <p:cNvPr id="18" name="Shape 15"/>
          <p:cNvSpPr/>
          <p:nvPr/>
        </p:nvSpPr>
        <p:spPr>
          <a:xfrm>
            <a:off x="4983480" y="2103120"/>
            <a:ext cx="2057400" cy="2651760"/>
          </a:xfrm>
          <a:prstGeom prst="roundRect">
            <a:avLst>
              <a:gd name="adj" fmla="val 3556"/>
            </a:avLst>
          </a:prstGeom>
          <a:solidFill>
            <a:srgbClr val="FDE1FD"/>
          </a:solidFill>
          <a:ln/>
          <a:effectLst>
            <a:outerShdw sx="100000" sy="100000" kx="0" ky="0" algn="bl" rotWithShape="0" blurRad="127000" dist="25400" dir="5400000">
              <a:srgbClr val="352E4A">
                <a:alpha val="13000"/>
              </a:srgbClr>
            </a:outerShdw>
          </a:effectLst>
        </p:spPr>
      </p:sp>
      <p:sp>
        <p:nvSpPr>
          <p:cNvPr id="19" name="Text 16"/>
          <p:cNvSpPr txBox="1"/>
          <p:nvPr/>
        </p:nvSpPr>
        <p:spPr>
          <a:xfrm>
            <a:off x="5221224" y="2304288"/>
            <a:ext cx="1554480" cy="329184"/>
          </a:xfrm>
          <a:prstGeom prst="rect">
            <a:avLst/>
          </a:prstGeom>
          <a:noFill/>
          <a:ln/>
        </p:spPr>
        <p:txBody>
          <a:bodyPr wrap="square" lIns="0" tIns="0" rIns="0" bIns="0" rtlCol="0" anchor="ctr"/>
          <a:lstStyle/>
          <a:p>
            <a:pPr indent="0" marL="0">
              <a:buNone/>
            </a:pPr>
            <a:r>
              <a:rPr lang="en-US" sz="2000" b="1" dirty="0">
                <a:solidFill>
                  <a:srgbClr val="800080"/>
                </a:solidFill>
                <a:latin typeface="Space Grotesk" pitchFamily="34" charset="0"/>
                <a:ea typeface="Space Grotesk" pitchFamily="34" charset="-122"/>
                <a:cs typeface="Space Grotesk" pitchFamily="34" charset="-120"/>
              </a:rPr>
              <a:t>G3</a:t>
            </a:r>
            <a:endParaRPr lang="en-US" sz="2000" dirty="0"/>
          </a:p>
        </p:txBody>
      </p:sp>
      <p:sp>
        <p:nvSpPr>
          <p:cNvPr id="20" name="Text 17"/>
          <p:cNvSpPr txBox="1"/>
          <p:nvPr/>
        </p:nvSpPr>
        <p:spPr>
          <a:xfrm>
            <a:off x="5221224" y="2706624"/>
            <a:ext cx="1600200" cy="548640"/>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Card-and-arc library</a:t>
            </a:r>
            <a:endParaRPr lang="en-US" sz="1400" dirty="0"/>
          </a:p>
        </p:txBody>
      </p:sp>
      <p:sp>
        <p:nvSpPr>
          <p:cNvPr id="21" name="Text 18"/>
          <p:cNvSpPr txBox="1"/>
          <p:nvPr/>
        </p:nvSpPr>
        <p:spPr>
          <a:xfrm>
            <a:off x="5221224" y="3291840"/>
            <a:ext cx="1600200" cy="128016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Scattered mockups became one versioned, maintainable component system.</a:t>
            </a:r>
            <a:endParaRPr lang="en-US" sz="1100" dirty="0"/>
          </a:p>
        </p:txBody>
      </p:sp>
      <p:sp>
        <p:nvSpPr>
          <p:cNvPr id="22" name="Shape 19"/>
          <p:cNvSpPr/>
          <p:nvPr/>
        </p:nvSpPr>
        <p:spPr>
          <a:xfrm>
            <a:off x="7223760" y="2103120"/>
            <a:ext cx="2057400" cy="2651760"/>
          </a:xfrm>
          <a:prstGeom prst="roundRect">
            <a:avLst>
              <a:gd name="adj" fmla="val 3556"/>
            </a:avLst>
          </a:prstGeom>
          <a:solidFill>
            <a:srgbClr val="D3CAFF"/>
          </a:solidFill>
          <a:ln/>
          <a:effectLst>
            <a:outerShdw sx="100000" sy="100000" kx="0" ky="0" algn="bl" rotWithShape="0" blurRad="127000" dist="25400" dir="5400000">
              <a:srgbClr val="352E4A">
                <a:alpha val="13000"/>
              </a:srgbClr>
            </a:outerShdw>
          </a:effectLst>
        </p:spPr>
      </p:sp>
      <p:sp>
        <p:nvSpPr>
          <p:cNvPr id="23" name="Text 20"/>
          <p:cNvSpPr txBox="1"/>
          <p:nvPr/>
        </p:nvSpPr>
        <p:spPr>
          <a:xfrm>
            <a:off x="7461504" y="2304288"/>
            <a:ext cx="1554480" cy="329184"/>
          </a:xfrm>
          <a:prstGeom prst="rect">
            <a:avLst/>
          </a:prstGeom>
          <a:noFill/>
          <a:ln/>
        </p:spPr>
        <p:txBody>
          <a:bodyPr wrap="square" lIns="0" tIns="0" rIns="0" bIns="0" rtlCol="0" anchor="ctr"/>
          <a:lstStyle/>
          <a:p>
            <a:pPr indent="0" marL="0">
              <a:buNone/>
            </a:pPr>
            <a:r>
              <a:rPr lang="en-US" sz="2000" b="1" dirty="0">
                <a:solidFill>
                  <a:srgbClr val="800080"/>
                </a:solidFill>
                <a:latin typeface="Space Grotesk" pitchFamily="34" charset="0"/>
                <a:ea typeface="Space Grotesk" pitchFamily="34" charset="-122"/>
                <a:cs typeface="Space Grotesk" pitchFamily="34" charset="-120"/>
              </a:rPr>
              <a:t>G4</a:t>
            </a:r>
            <a:endParaRPr lang="en-US" sz="2000" dirty="0"/>
          </a:p>
        </p:txBody>
      </p:sp>
      <p:sp>
        <p:nvSpPr>
          <p:cNvPr id="24" name="Text 21"/>
          <p:cNvSpPr txBox="1"/>
          <p:nvPr/>
        </p:nvSpPr>
        <p:spPr>
          <a:xfrm>
            <a:off x="7461504" y="2706624"/>
            <a:ext cx="1600200" cy="548640"/>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The confidence Engine</a:t>
            </a:r>
            <a:endParaRPr lang="en-US" sz="1400" dirty="0"/>
          </a:p>
        </p:txBody>
      </p:sp>
      <p:sp>
        <p:nvSpPr>
          <p:cNvPr id="25" name="Text 22"/>
          <p:cNvSpPr txBox="1"/>
          <p:nvPr/>
        </p:nvSpPr>
        <p:spPr>
          <a:xfrm>
            <a:off x="7461504" y="3291840"/>
            <a:ext cx="1600200" cy="128016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Ten directions explored. We dropped the numeric score — against a raw user preference.</a:t>
            </a:r>
            <a:endParaRPr lang="en-US" sz="1100" dirty="0"/>
          </a:p>
        </p:txBody>
      </p:sp>
      <p:sp>
        <p:nvSpPr>
          <p:cNvPr id="26" name="Shape 23"/>
          <p:cNvSpPr/>
          <p:nvPr/>
        </p:nvSpPr>
        <p:spPr>
          <a:xfrm>
            <a:off x="9464040" y="2103120"/>
            <a:ext cx="2057400" cy="2651760"/>
          </a:xfrm>
          <a:prstGeom prst="roundRect">
            <a:avLst>
              <a:gd name="adj" fmla="val 3556"/>
            </a:avLst>
          </a:prstGeom>
          <a:solidFill>
            <a:srgbClr val="CEE7FD"/>
          </a:solidFill>
          <a:ln/>
          <a:effectLst>
            <a:outerShdw sx="100000" sy="100000" kx="0" ky="0" algn="bl" rotWithShape="0" blurRad="127000" dist="25400" dir="5400000">
              <a:srgbClr val="352E4A">
                <a:alpha val="13000"/>
              </a:srgbClr>
            </a:outerShdw>
          </a:effectLst>
        </p:spPr>
      </p:sp>
      <p:sp>
        <p:nvSpPr>
          <p:cNvPr id="27" name="Text 24"/>
          <p:cNvSpPr txBox="1"/>
          <p:nvPr/>
        </p:nvSpPr>
        <p:spPr>
          <a:xfrm>
            <a:off x="9701784" y="2304288"/>
            <a:ext cx="1554480" cy="329184"/>
          </a:xfrm>
          <a:prstGeom prst="rect">
            <a:avLst/>
          </a:prstGeom>
          <a:noFill/>
          <a:ln/>
        </p:spPr>
        <p:txBody>
          <a:bodyPr wrap="square" lIns="0" tIns="0" rIns="0" bIns="0" rtlCol="0" anchor="ctr"/>
          <a:lstStyle/>
          <a:p>
            <a:pPr indent="0" marL="0">
              <a:buNone/>
            </a:pPr>
            <a:r>
              <a:rPr lang="en-US" sz="2000" b="1" dirty="0">
                <a:solidFill>
                  <a:srgbClr val="800080"/>
                </a:solidFill>
                <a:latin typeface="Space Grotesk" pitchFamily="34" charset="0"/>
                <a:ea typeface="Space Grotesk" pitchFamily="34" charset="-122"/>
                <a:cs typeface="Space Grotesk" pitchFamily="34" charset="-120"/>
              </a:rPr>
              <a:t>G5</a:t>
            </a:r>
            <a:endParaRPr lang="en-US" sz="2000" dirty="0"/>
          </a:p>
        </p:txBody>
      </p:sp>
      <p:sp>
        <p:nvSpPr>
          <p:cNvPr id="28" name="Text 25"/>
          <p:cNvSpPr txBox="1"/>
          <p:nvPr/>
        </p:nvSpPr>
        <p:spPr>
          <a:xfrm>
            <a:off x="9701784" y="2706624"/>
            <a:ext cx="1600200" cy="548640"/>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Inline transparency</a:t>
            </a:r>
            <a:endParaRPr lang="en-US" sz="1400" dirty="0"/>
          </a:p>
        </p:txBody>
      </p:sp>
      <p:sp>
        <p:nvSpPr>
          <p:cNvPr id="29" name="Text 26"/>
          <p:cNvSpPr txBox="1"/>
          <p:nvPr/>
        </p:nvSpPr>
        <p:spPr>
          <a:xfrm>
            <a:off x="9701784" y="3291840"/>
            <a:ext cx="1600200" cy="128016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From a colour “rainbow” to status icons and keyword highlights, so the tags are discoverable.</a:t>
            </a:r>
            <a:endParaRPr lang="en-US" sz="1100" dirty="0"/>
          </a:p>
        </p:txBody>
      </p:sp>
      <p:sp>
        <p:nvSpPr>
          <p:cNvPr id="30" name="Shape 27"/>
          <p:cNvSpPr/>
          <p:nvPr/>
        </p:nvSpPr>
        <p:spPr>
          <a:xfrm>
            <a:off x="502920" y="5029200"/>
            <a:ext cx="11183112" cy="1133856"/>
          </a:xfrm>
          <a:prstGeom prst="roundRect">
            <a:avLst>
              <a:gd name="adj" fmla="val 6452"/>
            </a:avLst>
          </a:prstGeom>
          <a:solidFill>
            <a:srgbClr val="11256A"/>
          </a:solidFill>
          <a:ln/>
        </p:spPr>
      </p:sp>
      <p:sp>
        <p:nvSpPr>
          <p:cNvPr id="31" name="Text 28"/>
          <p:cNvSpPr txBox="1"/>
          <p:nvPr/>
        </p:nvSpPr>
        <p:spPr>
          <a:xfrm>
            <a:off x="868680" y="5029200"/>
            <a:ext cx="10451592" cy="1133856"/>
          </a:xfrm>
          <a:prstGeom prst="rect">
            <a:avLst/>
          </a:prstGeom>
          <a:noFill/>
          <a:ln/>
        </p:spPr>
        <p:txBody>
          <a:bodyPr wrap="square" lIns="0" tIns="0" rIns="0" bIns="0" rtlCol="0" anchor="ctr"/>
          <a:lstStyle/>
          <a:p>
            <a:pPr indent="0" marL="0">
              <a:lnSpc>
                <a:spcPct val="130000"/>
              </a:lnSpc>
              <a:buNone/>
            </a:pPr>
            <a:r>
              <a:rPr lang="en-US" sz="1250" b="1" dirty="0">
                <a:solidFill>
                  <a:srgbClr val="FFFFFF"/>
                </a:solidFill>
                <a:latin typeface="Inter" pitchFamily="34" charset="0"/>
                <a:ea typeface="Inter" pitchFamily="34" charset="-122"/>
                <a:cs typeface="Inter" pitchFamily="34" charset="-120"/>
              </a:rPr>
              <a:t>Grounded in primary research: </a:t>
            </a:r>
            <a:pPr indent="0" marL="0">
              <a:lnSpc>
                <a:spcPct val="130000"/>
              </a:lnSpc>
              <a:buNone/>
            </a:pPr>
            <a:r>
              <a:rPr lang="en-US" sz="1250" dirty="0">
                <a:solidFill>
                  <a:srgbClr val="E8E2FF"/>
                </a:solidFill>
                <a:latin typeface="Inter" pitchFamily="34" charset="0"/>
                <a:ea typeface="Inter" pitchFamily="34" charset="-122"/>
                <a:cs typeface="Inter" pitchFamily="34" charset="-120"/>
              </a:rPr>
              <a:t>an 18-response study, a 100-response Prolific study, roughly 30 interviews and an 86-participant A/B test.</a:t>
            </a:r>
            <a:endParaRPr lang="en-US" sz="1250" dirty="0"/>
          </a:p>
          <a:p>
            <a:pPr indent="0" marL="0">
              <a:lnSpc>
                <a:spcPct val="130000"/>
              </a:lnSpc>
              <a:buNone/>
            </a:pPr>
            <a:r>
              <a:rPr lang="en-US" sz="1250" dirty="0">
                <a:solidFill>
                  <a:srgbClr val="E8E2FF"/>
                </a:solidFill>
                <a:latin typeface="Inter" pitchFamily="34" charset="0"/>
                <a:ea typeface="Inter" pitchFamily="34" charset="-122"/>
                <a:cs typeface="Inter" pitchFamily="34" charset="-120"/>
              </a:rPr>
              <a:t>Advised by </a:t>
            </a:r>
            <a:pPr indent="0" marL="0">
              <a:lnSpc>
                <a:spcPct val="130000"/>
              </a:lnSpc>
              <a:buNone/>
            </a:pPr>
            <a:r>
              <a:rPr lang="en-US" sz="1250" b="1" dirty="0">
                <a:solidFill>
                  <a:srgbClr val="C9FA85"/>
                </a:solidFill>
                <a:latin typeface="Inter" pitchFamily="34" charset="0"/>
                <a:ea typeface="Inter" pitchFamily="34" charset="-122"/>
                <a:cs typeface="Inter" pitchFamily="34" charset="-120"/>
              </a:rPr>
              <a:t>Prof. Ajay Joneja</a:t>
            </a:r>
            <a:pPr indent="0" marL="0">
              <a:lnSpc>
                <a:spcPct val="130000"/>
              </a:lnSpc>
              <a:buNone/>
            </a:pPr>
            <a:r>
              <a:rPr lang="en-US" sz="1250" dirty="0">
                <a:solidFill>
                  <a:srgbClr val="E8E2FF"/>
                </a:solidFill>
                <a:latin typeface="Inter" pitchFamily="34" charset="0"/>
                <a:ea typeface="Inter" pitchFamily="34" charset="-122"/>
                <a:cs typeface="Inter" pitchFamily="34" charset="-120"/>
              </a:rPr>
              <a:t> on product development and </a:t>
            </a:r>
            <a:pPr indent="0" marL="0">
              <a:lnSpc>
                <a:spcPct val="130000"/>
              </a:lnSpc>
              <a:buNone/>
            </a:pPr>
            <a:r>
              <a:rPr lang="en-US" sz="1250" b="1" dirty="0">
                <a:solidFill>
                  <a:srgbClr val="C9FA85"/>
                </a:solidFill>
                <a:latin typeface="Inter" pitchFamily="34" charset="0"/>
                <a:ea typeface="Inter" pitchFamily="34" charset="-122"/>
                <a:cs typeface="Inter" pitchFamily="34" charset="-120"/>
              </a:rPr>
              <a:t>Prof. Erwin Huang</a:t>
            </a:r>
            <a:pPr indent="0" marL="0">
              <a:lnSpc>
                <a:spcPct val="130000"/>
              </a:lnSpc>
              <a:buNone/>
            </a:pPr>
            <a:r>
              <a:rPr lang="en-US" sz="1250" dirty="0">
                <a:solidFill>
                  <a:srgbClr val="E8E2FF"/>
                </a:solidFill>
                <a:latin typeface="Inter" pitchFamily="34" charset="0"/>
                <a:ea typeface="Inter" pitchFamily="34" charset="-122"/>
                <a:cs typeface="Inter" pitchFamily="34" charset="-120"/>
              </a:rPr>
              <a:t> on AI and retrieval-augmented generation.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CEE7FD"/>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EVIDENCE · ENGINEERING VALIDATION</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It is validated, not just demonstrated</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4</a:t>
            </a:r>
            <a:endParaRPr lang="en-US" sz="950" dirty="0"/>
          </a:p>
        </p:txBody>
      </p:sp>
      <p:sp>
        <p:nvSpPr>
          <p:cNvPr id="10" name="Text 7"/>
          <p:cNvSpPr txBox="1"/>
          <p:nvPr/>
        </p:nvSpPr>
        <p:spPr>
          <a:xfrm>
            <a:off x="502920" y="2103120"/>
            <a:ext cx="11183112" cy="310896"/>
          </a:xfrm>
          <a:prstGeom prst="rect">
            <a:avLst/>
          </a:prstGeom>
          <a:noFill/>
          <a:ln/>
        </p:spPr>
        <p:txBody>
          <a:bodyPr wrap="square" lIns="0" tIns="0" rIns="0" bIns="0" rtlCol="0" anchor="ctr"/>
          <a:lstStyle/>
          <a:p>
            <a:pPr indent="0" marL="0">
              <a:buNone/>
            </a:pPr>
            <a:r>
              <a:rPr lang="en-US" sz="1300" dirty="0">
                <a:solidFill>
                  <a:srgbClr val="352E4A"/>
                </a:solidFill>
                <a:latin typeface="Inter" pitchFamily="34" charset="0"/>
                <a:ea typeface="Inter" pitchFamily="34" charset="-122"/>
                <a:cs typeface="Inter" pitchFamily="34" charset="-120"/>
              </a:rPr>
              <a:t>Four documented stress-test passes over the pipeline in June, plus a controlled A/B test of the trust features.</a:t>
            </a:r>
            <a:endParaRPr lang="en-US" sz="1300" dirty="0"/>
          </a:p>
        </p:txBody>
      </p:sp>
      <p:sp>
        <p:nvSpPr>
          <p:cNvPr id="11" name="Shape 8"/>
          <p:cNvSpPr/>
          <p:nvPr/>
        </p:nvSpPr>
        <p:spPr>
          <a:xfrm>
            <a:off x="502920" y="2578608"/>
            <a:ext cx="3383280" cy="1517904"/>
          </a:xfrm>
          <a:prstGeom prst="roundRect">
            <a:avLst>
              <a:gd name="adj" fmla="val 4819"/>
            </a:avLst>
          </a:prstGeom>
          <a:solidFill>
            <a:srgbClr val="D3CAFF"/>
          </a:solidFill>
          <a:ln/>
          <a:effectLst>
            <a:outerShdw sx="100000" sy="100000" kx="0" ky="0" algn="bl" rotWithShape="0" blurRad="127000" dist="25400" dir="5400000">
              <a:srgbClr val="352E4A">
                <a:alpha val="13000"/>
              </a:srgbClr>
            </a:outerShdw>
          </a:effectLst>
        </p:spPr>
      </p:sp>
      <p:sp>
        <p:nvSpPr>
          <p:cNvPr id="12" name="Text 9"/>
          <p:cNvSpPr txBox="1"/>
          <p:nvPr/>
        </p:nvSpPr>
        <p:spPr>
          <a:xfrm>
            <a:off x="777240" y="2724912"/>
            <a:ext cx="2834640" cy="566928"/>
          </a:xfrm>
          <a:prstGeom prst="rect">
            <a:avLst/>
          </a:prstGeom>
          <a:noFill/>
          <a:ln/>
        </p:spPr>
        <p:txBody>
          <a:bodyPr wrap="square" lIns="0" tIns="0" rIns="0" bIns="0" rtlCol="0" anchor="ctr"/>
          <a:lstStyle/>
          <a:p>
            <a:pPr indent="0" marL="0">
              <a:buNone/>
            </a:pPr>
            <a:r>
              <a:rPr lang="en-US" sz="3200" b="1" dirty="0">
                <a:solidFill>
                  <a:srgbClr val="11256A"/>
                </a:solidFill>
                <a:latin typeface="Space Grotesk" pitchFamily="34" charset="0"/>
                <a:ea typeface="Space Grotesk" pitchFamily="34" charset="-122"/>
                <a:cs typeface="Space Grotesk" pitchFamily="34" charset="-120"/>
              </a:rPr>
              <a:t>~85%</a:t>
            </a:r>
            <a:endParaRPr lang="en-US" sz="3200" dirty="0"/>
          </a:p>
        </p:txBody>
      </p:sp>
      <p:sp>
        <p:nvSpPr>
          <p:cNvPr id="13" name="Text 10"/>
          <p:cNvSpPr txBox="1"/>
          <p:nvPr/>
        </p:nvSpPr>
        <p:spPr>
          <a:xfrm>
            <a:off x="777240" y="3346704"/>
            <a:ext cx="2834640" cy="621792"/>
          </a:xfrm>
          <a:prstGeom prst="rect">
            <a:avLst/>
          </a:prstGeom>
          <a:noFill/>
          <a:ln/>
        </p:spPr>
        <p:txBody>
          <a:bodyPr wrap="square" lIns="0" tIns="0" rIns="0" bIns="0" rtlCol="0" anchor="t"/>
          <a:lstStyle/>
          <a:p>
            <a:pPr indent="0" marL="0">
              <a:lnSpc>
                <a:spcPct val="112000"/>
              </a:lnSpc>
              <a:buNone/>
            </a:pPr>
            <a:r>
              <a:rPr lang="en-US" sz="1150" dirty="0">
                <a:solidFill>
                  <a:srgbClr val="352E4A"/>
                </a:solidFill>
                <a:latin typeface="Inter" pitchFamily="34" charset="0"/>
                <a:ea typeface="Inter" pitchFamily="34" charset="-122"/>
                <a:cs typeface="Inter" pitchFamily="34" charset="-120"/>
              </a:rPr>
              <a:t>would switch to the transparent version — 73 of 86 A/B participants</a:t>
            </a:r>
            <a:endParaRPr lang="en-US" sz="1150" dirty="0"/>
          </a:p>
        </p:txBody>
      </p:sp>
      <p:sp>
        <p:nvSpPr>
          <p:cNvPr id="14" name="Shape 11"/>
          <p:cNvSpPr/>
          <p:nvPr/>
        </p:nvSpPr>
        <p:spPr>
          <a:xfrm>
            <a:off x="4270248" y="2578608"/>
            <a:ext cx="3383280" cy="1517904"/>
          </a:xfrm>
          <a:prstGeom prst="roundRect">
            <a:avLst>
              <a:gd name="adj" fmla="val 4819"/>
            </a:avLst>
          </a:prstGeom>
          <a:solidFill>
            <a:srgbClr val="CEE7FD"/>
          </a:solidFill>
          <a:ln/>
          <a:effectLst>
            <a:outerShdw sx="100000" sy="100000" kx="0" ky="0" algn="bl" rotWithShape="0" blurRad="127000" dist="25400" dir="5400000">
              <a:srgbClr val="352E4A">
                <a:alpha val="13000"/>
              </a:srgbClr>
            </a:outerShdw>
          </a:effectLst>
        </p:spPr>
      </p:sp>
      <p:sp>
        <p:nvSpPr>
          <p:cNvPr id="15" name="Text 12"/>
          <p:cNvSpPr txBox="1"/>
          <p:nvPr/>
        </p:nvSpPr>
        <p:spPr>
          <a:xfrm>
            <a:off x="4544568" y="2724912"/>
            <a:ext cx="2834640" cy="566928"/>
          </a:xfrm>
          <a:prstGeom prst="rect">
            <a:avLst/>
          </a:prstGeom>
          <a:noFill/>
          <a:ln/>
        </p:spPr>
        <p:txBody>
          <a:bodyPr wrap="square" lIns="0" tIns="0" rIns="0" bIns="0" rtlCol="0" anchor="ctr"/>
          <a:lstStyle/>
          <a:p>
            <a:pPr indent="0" marL="0">
              <a:buNone/>
            </a:pPr>
            <a:r>
              <a:rPr lang="en-US" sz="3200" b="1" dirty="0">
                <a:solidFill>
                  <a:srgbClr val="800080"/>
                </a:solidFill>
                <a:latin typeface="Space Grotesk" pitchFamily="34" charset="0"/>
                <a:ea typeface="Space Grotesk" pitchFamily="34" charset="-122"/>
                <a:cs typeface="Space Grotesk" pitchFamily="34" charset="-120"/>
              </a:rPr>
              <a:t>~88%</a:t>
            </a:r>
            <a:endParaRPr lang="en-US" sz="3200" dirty="0"/>
          </a:p>
        </p:txBody>
      </p:sp>
      <p:sp>
        <p:nvSpPr>
          <p:cNvPr id="16" name="Text 13"/>
          <p:cNvSpPr txBox="1"/>
          <p:nvPr/>
        </p:nvSpPr>
        <p:spPr>
          <a:xfrm>
            <a:off x="4544568" y="3346704"/>
            <a:ext cx="2834640" cy="621792"/>
          </a:xfrm>
          <a:prstGeom prst="rect">
            <a:avLst/>
          </a:prstGeom>
          <a:noFill/>
          <a:ln/>
        </p:spPr>
        <p:txBody>
          <a:bodyPr wrap="square" lIns="0" tIns="0" rIns="0" bIns="0" rtlCol="0" anchor="t"/>
          <a:lstStyle/>
          <a:p>
            <a:pPr indent="0" marL="0">
              <a:lnSpc>
                <a:spcPct val="112000"/>
              </a:lnSpc>
              <a:buNone/>
            </a:pPr>
            <a:r>
              <a:rPr lang="en-US" sz="1150" dirty="0">
                <a:solidFill>
                  <a:srgbClr val="352E4A"/>
                </a:solidFill>
                <a:latin typeface="Inter" pitchFamily="34" charset="0"/>
                <a:ea typeface="Inter" pitchFamily="34" charset="-122"/>
                <a:cs typeface="Inter" pitchFamily="34" charset="-120"/>
              </a:rPr>
              <a:t>rated a visibly shown trust indicator as important</a:t>
            </a:r>
            <a:endParaRPr lang="en-US" sz="1150" dirty="0"/>
          </a:p>
        </p:txBody>
      </p:sp>
      <p:sp>
        <p:nvSpPr>
          <p:cNvPr id="17" name="Shape 14"/>
          <p:cNvSpPr/>
          <p:nvPr/>
        </p:nvSpPr>
        <p:spPr>
          <a:xfrm>
            <a:off x="8037576" y="2578608"/>
            <a:ext cx="3383280" cy="1517904"/>
          </a:xfrm>
          <a:prstGeom prst="roundRect">
            <a:avLst>
              <a:gd name="adj" fmla="val 4819"/>
            </a:avLst>
          </a:prstGeom>
          <a:solidFill>
            <a:srgbClr val="FDE1FD"/>
          </a:solidFill>
          <a:ln/>
          <a:effectLst>
            <a:outerShdw sx="100000" sy="100000" kx="0" ky="0" algn="bl" rotWithShape="0" blurRad="127000" dist="25400" dir="5400000">
              <a:srgbClr val="352E4A">
                <a:alpha val="13000"/>
              </a:srgbClr>
            </a:outerShdw>
          </a:effectLst>
        </p:spPr>
      </p:sp>
      <p:sp>
        <p:nvSpPr>
          <p:cNvPr id="18" name="Text 15"/>
          <p:cNvSpPr txBox="1"/>
          <p:nvPr/>
        </p:nvSpPr>
        <p:spPr>
          <a:xfrm>
            <a:off x="8311896" y="2724912"/>
            <a:ext cx="2834640" cy="566928"/>
          </a:xfrm>
          <a:prstGeom prst="rect">
            <a:avLst/>
          </a:prstGeom>
          <a:noFill/>
          <a:ln/>
        </p:spPr>
        <p:txBody>
          <a:bodyPr wrap="square" lIns="0" tIns="0" rIns="0" bIns="0" rtlCol="0" anchor="ctr"/>
          <a:lstStyle/>
          <a:p>
            <a:pPr indent="0" marL="0">
              <a:buNone/>
            </a:pPr>
            <a:r>
              <a:rPr lang="en-US" sz="3200" b="1" dirty="0">
                <a:solidFill>
                  <a:srgbClr val="667DFF"/>
                </a:solidFill>
                <a:latin typeface="Space Grotesk" pitchFamily="34" charset="0"/>
                <a:ea typeface="Space Grotesk" pitchFamily="34" charset="-122"/>
                <a:cs typeface="Space Grotesk" pitchFamily="34" charset="-120"/>
              </a:rPr>
              <a:t>22 → 11</a:t>
            </a:r>
            <a:endParaRPr lang="en-US" sz="3200" dirty="0"/>
          </a:p>
        </p:txBody>
      </p:sp>
      <p:sp>
        <p:nvSpPr>
          <p:cNvPr id="19" name="Text 16"/>
          <p:cNvSpPr txBox="1"/>
          <p:nvPr/>
        </p:nvSpPr>
        <p:spPr>
          <a:xfrm>
            <a:off x="8311896" y="3346704"/>
            <a:ext cx="2834640" cy="621792"/>
          </a:xfrm>
          <a:prstGeom prst="rect">
            <a:avLst/>
          </a:prstGeom>
          <a:noFill/>
          <a:ln/>
        </p:spPr>
        <p:txBody>
          <a:bodyPr wrap="square" lIns="0" tIns="0" rIns="0" bIns="0" rtlCol="0" anchor="t"/>
          <a:lstStyle/>
          <a:p>
            <a:pPr indent="0" marL="0">
              <a:lnSpc>
                <a:spcPct val="112000"/>
              </a:lnSpc>
              <a:buNone/>
            </a:pPr>
            <a:r>
              <a:rPr lang="en-US" sz="1150" dirty="0">
                <a:solidFill>
                  <a:srgbClr val="352E4A"/>
                </a:solidFill>
                <a:latin typeface="Inter" pitchFamily="34" charset="0"/>
                <a:ea typeface="Inter" pitchFamily="34" charset="-122"/>
                <a:cs typeface="Inter" pitchFamily="34" charset="-120"/>
              </a:rPr>
              <a:t>story arcs: the taxonomy converged and stabilised, with no loss of coverage</a:t>
            </a:r>
            <a:endParaRPr lang="en-US" sz="1150" dirty="0"/>
          </a:p>
        </p:txBody>
      </p:sp>
      <p:sp>
        <p:nvSpPr>
          <p:cNvPr id="20" name="Shape 17"/>
          <p:cNvSpPr/>
          <p:nvPr/>
        </p:nvSpPr>
        <p:spPr>
          <a:xfrm>
            <a:off x="502920" y="4279392"/>
            <a:ext cx="3383280" cy="1517904"/>
          </a:xfrm>
          <a:prstGeom prst="roundRect">
            <a:avLst>
              <a:gd name="adj" fmla="val 4819"/>
            </a:avLst>
          </a:prstGeom>
          <a:solidFill>
            <a:srgbClr val="CEE7FD"/>
          </a:solidFill>
          <a:ln/>
          <a:effectLst>
            <a:outerShdw sx="100000" sy="100000" kx="0" ky="0" algn="bl" rotWithShape="0" blurRad="127000" dist="25400" dir="5400000">
              <a:srgbClr val="352E4A">
                <a:alpha val="13000"/>
              </a:srgbClr>
            </a:outerShdw>
          </a:effectLst>
        </p:spPr>
      </p:sp>
      <p:sp>
        <p:nvSpPr>
          <p:cNvPr id="21" name="Text 18"/>
          <p:cNvSpPr txBox="1"/>
          <p:nvPr/>
        </p:nvSpPr>
        <p:spPr>
          <a:xfrm>
            <a:off x="777240" y="4425696"/>
            <a:ext cx="2834640" cy="566928"/>
          </a:xfrm>
          <a:prstGeom prst="rect">
            <a:avLst/>
          </a:prstGeom>
          <a:noFill/>
          <a:ln/>
        </p:spPr>
        <p:txBody>
          <a:bodyPr wrap="square" lIns="0" tIns="0" rIns="0" bIns="0" rtlCol="0" anchor="ctr"/>
          <a:lstStyle/>
          <a:p>
            <a:pPr indent="0" marL="0">
              <a:buNone/>
            </a:pPr>
            <a:r>
              <a:rPr lang="en-US" sz="3200" b="1" dirty="0">
                <a:solidFill>
                  <a:srgbClr val="11256A"/>
                </a:solidFill>
                <a:latin typeface="Space Grotesk" pitchFamily="34" charset="0"/>
                <a:ea typeface="Space Grotesk" pitchFamily="34" charset="-122"/>
                <a:cs typeface="Space Grotesk" pitchFamily="34" charset="-120"/>
              </a:rPr>
              <a:t>17.8</a:t>
            </a:r>
            <a:endParaRPr lang="en-US" sz="3200" dirty="0"/>
          </a:p>
        </p:txBody>
      </p:sp>
      <p:sp>
        <p:nvSpPr>
          <p:cNvPr id="22" name="Text 19"/>
          <p:cNvSpPr txBox="1"/>
          <p:nvPr/>
        </p:nvSpPr>
        <p:spPr>
          <a:xfrm>
            <a:off x="777240" y="5047488"/>
            <a:ext cx="2834640" cy="621792"/>
          </a:xfrm>
          <a:prstGeom prst="rect">
            <a:avLst/>
          </a:prstGeom>
          <a:noFill/>
          <a:ln/>
        </p:spPr>
        <p:txBody>
          <a:bodyPr wrap="square" lIns="0" tIns="0" rIns="0" bIns="0" rtlCol="0" anchor="t"/>
          <a:lstStyle/>
          <a:p>
            <a:pPr indent="0" marL="0">
              <a:lnSpc>
                <a:spcPct val="112000"/>
              </a:lnSpc>
              <a:buNone/>
            </a:pPr>
            <a:r>
              <a:rPr lang="en-US" sz="1150" dirty="0">
                <a:solidFill>
                  <a:srgbClr val="352E4A"/>
                </a:solidFill>
                <a:latin typeface="Inter" pitchFamily="34" charset="0"/>
                <a:ea typeface="Inter" pitchFamily="34" charset="-122"/>
                <a:cs typeface="Inter" pitchFamily="34" charset="-120"/>
              </a:rPr>
              <a:t>out of 20 on card quality, against a clarity, structure and completeness rubric</a:t>
            </a:r>
            <a:endParaRPr lang="en-US" sz="1150" dirty="0"/>
          </a:p>
        </p:txBody>
      </p:sp>
      <p:sp>
        <p:nvSpPr>
          <p:cNvPr id="23" name="Shape 20"/>
          <p:cNvSpPr/>
          <p:nvPr/>
        </p:nvSpPr>
        <p:spPr>
          <a:xfrm>
            <a:off x="4270248" y="4279392"/>
            <a:ext cx="3383280" cy="1517904"/>
          </a:xfrm>
          <a:prstGeom prst="roundRect">
            <a:avLst>
              <a:gd name="adj" fmla="val 4819"/>
            </a:avLst>
          </a:prstGeom>
          <a:solidFill>
            <a:srgbClr val="FDE1FD"/>
          </a:solidFill>
          <a:ln/>
          <a:effectLst>
            <a:outerShdw sx="100000" sy="100000" kx="0" ky="0" algn="bl" rotWithShape="0" blurRad="127000" dist="25400" dir="5400000">
              <a:srgbClr val="352E4A">
                <a:alpha val="13000"/>
              </a:srgbClr>
            </a:outerShdw>
          </a:effectLst>
        </p:spPr>
      </p:sp>
      <p:sp>
        <p:nvSpPr>
          <p:cNvPr id="24" name="Text 21"/>
          <p:cNvSpPr txBox="1"/>
          <p:nvPr/>
        </p:nvSpPr>
        <p:spPr>
          <a:xfrm>
            <a:off x="4544568" y="4425696"/>
            <a:ext cx="2834640" cy="566928"/>
          </a:xfrm>
          <a:prstGeom prst="rect">
            <a:avLst/>
          </a:prstGeom>
          <a:noFill/>
          <a:ln/>
        </p:spPr>
        <p:txBody>
          <a:bodyPr wrap="square" lIns="0" tIns="0" rIns="0" bIns="0" rtlCol="0" anchor="ctr"/>
          <a:lstStyle/>
          <a:p>
            <a:pPr indent="0" marL="0">
              <a:buNone/>
            </a:pPr>
            <a:r>
              <a:rPr lang="en-US" sz="3200" b="1" dirty="0">
                <a:solidFill>
                  <a:srgbClr val="800080"/>
                </a:solidFill>
                <a:latin typeface="Space Grotesk" pitchFamily="34" charset="0"/>
                <a:ea typeface="Space Grotesk" pitchFamily="34" charset="-122"/>
                <a:cs typeface="Space Grotesk" pitchFamily="34" charset="-120"/>
              </a:rPr>
              <a:t>PASS</a:t>
            </a:r>
            <a:endParaRPr lang="en-US" sz="3200" dirty="0"/>
          </a:p>
        </p:txBody>
      </p:sp>
      <p:sp>
        <p:nvSpPr>
          <p:cNvPr id="25" name="Text 22"/>
          <p:cNvSpPr txBox="1"/>
          <p:nvPr/>
        </p:nvSpPr>
        <p:spPr>
          <a:xfrm>
            <a:off x="4544568" y="5047488"/>
            <a:ext cx="2834640" cy="621792"/>
          </a:xfrm>
          <a:prstGeom prst="rect">
            <a:avLst/>
          </a:prstGeom>
          <a:noFill/>
          <a:ln/>
        </p:spPr>
        <p:txBody>
          <a:bodyPr wrap="square" lIns="0" tIns="0" rIns="0" bIns="0" rtlCol="0" anchor="t"/>
          <a:lstStyle/>
          <a:p>
            <a:pPr indent="0" marL="0">
              <a:lnSpc>
                <a:spcPct val="112000"/>
              </a:lnSpc>
              <a:buNone/>
            </a:pPr>
            <a:r>
              <a:rPr lang="en-US" sz="1150" dirty="0">
                <a:solidFill>
                  <a:srgbClr val="352E4A"/>
                </a:solidFill>
                <a:latin typeface="Inter" pitchFamily="34" charset="0"/>
                <a:ea typeface="Inter" pitchFamily="34" charset="-122"/>
                <a:cs typeface="Inter" pitchFamily="34" charset="-120"/>
              </a:rPr>
              <a:t>lifecycle and hallucination resistance — it reports “no developments” rather than inventing them</a:t>
            </a:r>
            <a:endParaRPr lang="en-US" sz="1150" dirty="0"/>
          </a:p>
        </p:txBody>
      </p:sp>
      <p:sp>
        <p:nvSpPr>
          <p:cNvPr id="26" name="Shape 23"/>
          <p:cNvSpPr/>
          <p:nvPr/>
        </p:nvSpPr>
        <p:spPr>
          <a:xfrm>
            <a:off x="8037576" y="4279392"/>
            <a:ext cx="3383280" cy="1517904"/>
          </a:xfrm>
          <a:prstGeom prst="roundRect">
            <a:avLst>
              <a:gd name="adj" fmla="val 4819"/>
            </a:avLst>
          </a:prstGeom>
          <a:solidFill>
            <a:srgbClr val="D3CAFF"/>
          </a:solidFill>
          <a:ln/>
          <a:effectLst>
            <a:outerShdw sx="100000" sy="100000" kx="0" ky="0" algn="bl" rotWithShape="0" blurRad="127000" dist="25400" dir="5400000">
              <a:srgbClr val="352E4A">
                <a:alpha val="13000"/>
              </a:srgbClr>
            </a:outerShdw>
          </a:effectLst>
        </p:spPr>
      </p:sp>
      <p:sp>
        <p:nvSpPr>
          <p:cNvPr id="27" name="Text 24"/>
          <p:cNvSpPr txBox="1"/>
          <p:nvPr/>
        </p:nvSpPr>
        <p:spPr>
          <a:xfrm>
            <a:off x="8311896" y="4425696"/>
            <a:ext cx="2834640" cy="566928"/>
          </a:xfrm>
          <a:prstGeom prst="rect">
            <a:avLst/>
          </a:prstGeom>
          <a:noFill/>
          <a:ln/>
        </p:spPr>
        <p:txBody>
          <a:bodyPr wrap="square" lIns="0" tIns="0" rIns="0" bIns="0" rtlCol="0" anchor="ctr"/>
          <a:lstStyle/>
          <a:p>
            <a:pPr indent="0" marL="0">
              <a:buNone/>
            </a:pPr>
            <a:r>
              <a:rPr lang="en-US" sz="3200" b="1" dirty="0">
                <a:solidFill>
                  <a:srgbClr val="667DFF"/>
                </a:solidFill>
                <a:latin typeface="Space Grotesk" pitchFamily="34" charset="0"/>
                <a:ea typeface="Space Grotesk" pitchFamily="34" charset="-122"/>
                <a:cs typeface="Space Grotesk" pitchFamily="34" charset="-120"/>
              </a:rPr>
              <a:t>PASS</a:t>
            </a:r>
            <a:endParaRPr lang="en-US" sz="3200" dirty="0"/>
          </a:p>
        </p:txBody>
      </p:sp>
      <p:sp>
        <p:nvSpPr>
          <p:cNvPr id="28" name="Text 25"/>
          <p:cNvSpPr txBox="1"/>
          <p:nvPr/>
        </p:nvSpPr>
        <p:spPr>
          <a:xfrm>
            <a:off x="8311896" y="5047488"/>
            <a:ext cx="2834640" cy="621792"/>
          </a:xfrm>
          <a:prstGeom prst="rect">
            <a:avLst/>
          </a:prstGeom>
          <a:noFill/>
          <a:ln/>
        </p:spPr>
        <p:txBody>
          <a:bodyPr wrap="square" lIns="0" tIns="0" rIns="0" bIns="0" rtlCol="0" anchor="t"/>
          <a:lstStyle/>
          <a:p>
            <a:pPr indent="0" marL="0">
              <a:lnSpc>
                <a:spcPct val="112000"/>
              </a:lnSpc>
              <a:buNone/>
            </a:pPr>
            <a:r>
              <a:rPr lang="en-US" sz="1150" dirty="0">
                <a:solidFill>
                  <a:srgbClr val="352E4A"/>
                </a:solidFill>
                <a:latin typeface="Inter" pitchFamily="34" charset="0"/>
                <a:ea typeface="Inter" pitchFamily="34" charset="-122"/>
                <a:cs typeface="Inter" pitchFamily="34" charset="-120"/>
              </a:rPr>
              <a:t>voice layer across 144 renderings, with the facts preserved verbatim</a:t>
            </a:r>
            <a:endParaRPr lang="en-US" sz="1150" dirty="0"/>
          </a:p>
        </p:txBody>
      </p:sp>
      <p:sp>
        <p:nvSpPr>
          <p:cNvPr id="29" name="Text 26"/>
          <p:cNvSpPr txBox="1"/>
          <p:nvPr/>
        </p:nvSpPr>
        <p:spPr>
          <a:xfrm>
            <a:off x="502920" y="5943600"/>
            <a:ext cx="11183112" cy="310896"/>
          </a:xfrm>
          <a:prstGeom prst="rect">
            <a:avLst/>
          </a:prstGeom>
          <a:noFill/>
          <a:ln/>
        </p:spPr>
        <p:txBody>
          <a:bodyPr wrap="square" lIns="0" tIns="0" rIns="0" bIns="0" rtlCol="0" anchor="ctr"/>
          <a:lstStyle/>
          <a:p>
            <a:pPr indent="0" marL="0">
              <a:buNone/>
            </a:pPr>
            <a:r>
              <a:rPr lang="en-US" sz="1000" dirty="0">
                <a:solidFill>
                  <a:srgbClr val="6E6787"/>
                </a:solidFill>
                <a:latin typeface="Inter" pitchFamily="34" charset="0"/>
                <a:ea typeface="Inter" pitchFamily="34" charset="-122"/>
                <a:cs typeface="Inter" pitchFamily="34" charset="-120"/>
              </a:rPr>
              <a:t>Reported honestly: the card-quality figure is a best-and-worst-per-arc sample scored by the model itself, and the lifecycle pass rests on three tracked stories. They are directional baselines and regression bars, not exhaustive proof.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CEE7FD"/>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TRACTION · JUDGED OUTSIDE HKUST</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Tested well beyond the coursework</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5</a:t>
            </a:r>
            <a:endParaRPr lang="en-US" sz="950" dirty="0"/>
          </a:p>
        </p:txBody>
      </p:sp>
      <p:sp>
        <p:nvSpPr>
          <p:cNvPr id="10" name="Shape 7"/>
          <p:cNvSpPr/>
          <p:nvPr/>
        </p:nvSpPr>
        <p:spPr>
          <a:xfrm>
            <a:off x="502920" y="2103120"/>
            <a:ext cx="2551176" cy="1463040"/>
          </a:xfrm>
          <a:prstGeom prst="roundRect">
            <a:avLst>
              <a:gd name="adj" fmla="val 5000"/>
            </a:avLst>
          </a:prstGeom>
          <a:solidFill>
            <a:srgbClr val="D3CAFF"/>
          </a:solidFill>
          <a:ln/>
          <a:effectLst>
            <a:outerShdw sx="100000" sy="100000" kx="0" ky="0" algn="bl" rotWithShape="0" blurRad="127000" dist="25400" dir="5400000">
              <a:srgbClr val="352E4A">
                <a:alpha val="13000"/>
              </a:srgbClr>
            </a:outerShdw>
          </a:effectLst>
        </p:spPr>
      </p:sp>
      <p:sp>
        <p:nvSpPr>
          <p:cNvPr id="11" name="Text 8"/>
          <p:cNvSpPr txBox="1"/>
          <p:nvPr/>
        </p:nvSpPr>
        <p:spPr>
          <a:xfrm>
            <a:off x="758952" y="2377440"/>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Techathon+ 2026</a:t>
            </a:r>
            <a:endParaRPr lang="en-US" sz="1400" dirty="0"/>
          </a:p>
        </p:txBody>
      </p:sp>
      <p:sp>
        <p:nvSpPr>
          <p:cNvPr id="12" name="Text 9"/>
          <p:cNvSpPr txBox="1"/>
          <p:nvPr/>
        </p:nvSpPr>
        <p:spPr>
          <a:xfrm>
            <a:off x="758952" y="2944368"/>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Silver Award — Trusted AI and Data Science</a:t>
            </a:r>
            <a:endParaRPr lang="en-US" sz="1150" dirty="0"/>
          </a:p>
        </p:txBody>
      </p:sp>
      <p:sp>
        <p:nvSpPr>
          <p:cNvPr id="13" name="Shape 10"/>
          <p:cNvSpPr/>
          <p:nvPr/>
        </p:nvSpPr>
        <p:spPr>
          <a:xfrm>
            <a:off x="3328416" y="2103120"/>
            <a:ext cx="2551176" cy="1463040"/>
          </a:xfrm>
          <a:prstGeom prst="roundRect">
            <a:avLst>
              <a:gd name="adj" fmla="val 5000"/>
            </a:avLst>
          </a:prstGeom>
          <a:solidFill>
            <a:srgbClr val="CEE7FD"/>
          </a:solidFill>
          <a:ln/>
          <a:effectLst>
            <a:outerShdw sx="100000" sy="100000" kx="0" ky="0" algn="bl" rotWithShape="0" blurRad="127000" dist="25400" dir="5400000">
              <a:srgbClr val="352E4A">
                <a:alpha val="13000"/>
              </a:srgbClr>
            </a:outerShdw>
          </a:effectLst>
        </p:spPr>
      </p:sp>
      <p:sp>
        <p:nvSpPr>
          <p:cNvPr id="14" name="Text 11"/>
          <p:cNvSpPr txBox="1"/>
          <p:nvPr/>
        </p:nvSpPr>
        <p:spPr>
          <a:xfrm>
            <a:off x="3584448" y="2377440"/>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NewsFlick Limited</a:t>
            </a:r>
            <a:endParaRPr lang="en-US" sz="1400" dirty="0"/>
          </a:p>
        </p:txBody>
      </p:sp>
      <p:sp>
        <p:nvSpPr>
          <p:cNvPr id="15" name="Text 12"/>
          <p:cNvSpPr txBox="1"/>
          <p:nvPr/>
        </p:nvSpPr>
        <p:spPr>
          <a:xfrm>
            <a:off x="3584448" y="2944368"/>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Incorporated</a:t>
            </a:r>
            <a:endParaRPr lang="en-US" sz="1150" dirty="0"/>
          </a:p>
        </p:txBody>
      </p:sp>
      <p:sp>
        <p:nvSpPr>
          <p:cNvPr id="16" name="Shape 13"/>
          <p:cNvSpPr/>
          <p:nvPr/>
        </p:nvSpPr>
        <p:spPr>
          <a:xfrm>
            <a:off x="6153912" y="2103120"/>
            <a:ext cx="2551176" cy="1463040"/>
          </a:xfrm>
          <a:prstGeom prst="roundRect">
            <a:avLst>
              <a:gd name="adj" fmla="val 5000"/>
            </a:avLst>
          </a:prstGeom>
          <a:solidFill>
            <a:srgbClr val="FDE1FD"/>
          </a:solidFill>
          <a:ln/>
          <a:effectLst>
            <a:outerShdw sx="100000" sy="100000" kx="0" ky="0" algn="bl" rotWithShape="0" blurRad="127000" dist="25400" dir="5400000">
              <a:srgbClr val="352E4A">
                <a:alpha val="13000"/>
              </a:srgbClr>
            </a:outerShdw>
          </a:effectLst>
        </p:spPr>
      </p:sp>
      <p:sp>
        <p:nvSpPr>
          <p:cNvPr id="17" name="Text 14"/>
          <p:cNvSpPr txBox="1"/>
          <p:nvPr/>
        </p:nvSpPr>
        <p:spPr>
          <a:xfrm>
            <a:off x="6409944" y="2377440"/>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Angel / family round</a:t>
            </a:r>
            <a:endParaRPr lang="en-US" sz="1400" dirty="0"/>
          </a:p>
        </p:txBody>
      </p:sp>
      <p:sp>
        <p:nvSpPr>
          <p:cNvPr id="18" name="Text 15"/>
          <p:cNvSpPr txBox="1"/>
          <p:nvPr/>
        </p:nvSpPr>
        <p:spPr>
          <a:xfrm>
            <a:off x="6409944" y="2944368"/>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Closed</a:t>
            </a:r>
            <a:endParaRPr lang="en-US" sz="1150" dirty="0"/>
          </a:p>
        </p:txBody>
      </p:sp>
      <p:sp>
        <p:nvSpPr>
          <p:cNvPr id="19" name="Shape 16"/>
          <p:cNvSpPr/>
          <p:nvPr/>
        </p:nvSpPr>
        <p:spPr>
          <a:xfrm>
            <a:off x="8979408" y="2103120"/>
            <a:ext cx="2551176" cy="1463040"/>
          </a:xfrm>
          <a:prstGeom prst="roundRect">
            <a:avLst>
              <a:gd name="adj" fmla="val 5000"/>
            </a:avLst>
          </a:prstGeom>
          <a:solidFill>
            <a:srgbClr val="F5F2FF"/>
          </a:solidFill>
          <a:ln/>
          <a:effectLst>
            <a:outerShdw sx="100000" sy="100000" kx="0" ky="0" algn="bl" rotWithShape="0" blurRad="127000" dist="25400" dir="5400000">
              <a:srgbClr val="352E4A">
                <a:alpha val="13000"/>
              </a:srgbClr>
            </a:outerShdw>
          </a:effectLst>
        </p:spPr>
      </p:sp>
      <p:sp>
        <p:nvSpPr>
          <p:cNvPr id="20" name="Text 17"/>
          <p:cNvSpPr txBox="1"/>
          <p:nvPr/>
        </p:nvSpPr>
        <p:spPr>
          <a:xfrm>
            <a:off x="9235440" y="2377440"/>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HKUST InnoBay</a:t>
            </a:r>
            <a:endParaRPr lang="en-US" sz="1400" dirty="0"/>
          </a:p>
        </p:txBody>
      </p:sp>
      <p:sp>
        <p:nvSpPr>
          <p:cNvPr id="21" name="Text 18"/>
          <p:cNvSpPr txBox="1"/>
          <p:nvPr/>
        </p:nvSpPr>
        <p:spPr>
          <a:xfrm>
            <a:off x="9235440" y="2944368"/>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2026/27 cohort</a:t>
            </a:r>
            <a:endParaRPr lang="en-US" sz="1150" dirty="0"/>
          </a:p>
        </p:txBody>
      </p:sp>
      <p:sp>
        <p:nvSpPr>
          <p:cNvPr id="22" name="Shape 19"/>
          <p:cNvSpPr/>
          <p:nvPr/>
        </p:nvSpPr>
        <p:spPr>
          <a:xfrm>
            <a:off x="502920" y="3803904"/>
            <a:ext cx="2551176" cy="1463040"/>
          </a:xfrm>
          <a:prstGeom prst="roundRect">
            <a:avLst>
              <a:gd name="adj" fmla="val 5000"/>
            </a:avLst>
          </a:prstGeom>
          <a:solidFill>
            <a:srgbClr val="CEE7FD"/>
          </a:solidFill>
          <a:ln/>
          <a:effectLst>
            <a:outerShdw sx="100000" sy="100000" kx="0" ky="0" algn="bl" rotWithShape="0" blurRad="127000" dist="25400" dir="5400000">
              <a:srgbClr val="352E4A">
                <a:alpha val="13000"/>
              </a:srgbClr>
            </a:outerShdw>
          </a:effectLst>
        </p:spPr>
      </p:sp>
      <p:sp>
        <p:nvSpPr>
          <p:cNvPr id="23" name="Text 20"/>
          <p:cNvSpPr txBox="1"/>
          <p:nvPr/>
        </p:nvSpPr>
        <p:spPr>
          <a:xfrm>
            <a:off x="758952" y="4078224"/>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HKSTP Ideation</a:t>
            </a:r>
            <a:endParaRPr lang="en-US" sz="1400" dirty="0"/>
          </a:p>
        </p:txBody>
      </p:sp>
      <p:sp>
        <p:nvSpPr>
          <p:cNvPr id="24" name="Text 21"/>
          <p:cNvSpPr txBox="1"/>
          <p:nvPr/>
        </p:nvSpPr>
        <p:spPr>
          <a:xfrm>
            <a:off x="758952" y="4645152"/>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Programme completed</a:t>
            </a:r>
            <a:endParaRPr lang="en-US" sz="1150" dirty="0"/>
          </a:p>
        </p:txBody>
      </p:sp>
      <p:sp>
        <p:nvSpPr>
          <p:cNvPr id="25" name="Shape 22"/>
          <p:cNvSpPr/>
          <p:nvPr/>
        </p:nvSpPr>
        <p:spPr>
          <a:xfrm>
            <a:off x="3328416" y="3803904"/>
            <a:ext cx="2551176" cy="1463040"/>
          </a:xfrm>
          <a:prstGeom prst="roundRect">
            <a:avLst>
              <a:gd name="adj" fmla="val 5000"/>
            </a:avLst>
          </a:prstGeom>
          <a:solidFill>
            <a:srgbClr val="FDE1FD"/>
          </a:solidFill>
          <a:ln/>
          <a:effectLst>
            <a:outerShdw sx="100000" sy="100000" kx="0" ky="0" algn="bl" rotWithShape="0" blurRad="127000" dist="25400" dir="5400000">
              <a:srgbClr val="352E4A">
                <a:alpha val="13000"/>
              </a:srgbClr>
            </a:outerShdw>
          </a:effectLst>
        </p:spPr>
      </p:sp>
      <p:sp>
        <p:nvSpPr>
          <p:cNvPr id="26" name="Text 23"/>
          <p:cNvSpPr txBox="1"/>
          <p:nvPr/>
        </p:nvSpPr>
        <p:spPr>
          <a:xfrm>
            <a:off x="3584448" y="4078224"/>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HKUST Dream Builder</a:t>
            </a:r>
            <a:endParaRPr lang="en-US" sz="1400" dirty="0"/>
          </a:p>
        </p:txBody>
      </p:sp>
      <p:sp>
        <p:nvSpPr>
          <p:cNvPr id="27" name="Text 24"/>
          <p:cNvSpPr txBox="1"/>
          <p:nvPr/>
        </p:nvSpPr>
        <p:spPr>
          <a:xfrm>
            <a:off x="3584448" y="4645152"/>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Programme completed</a:t>
            </a:r>
            <a:endParaRPr lang="en-US" sz="1150" dirty="0"/>
          </a:p>
        </p:txBody>
      </p:sp>
      <p:sp>
        <p:nvSpPr>
          <p:cNvPr id="28" name="Shape 25"/>
          <p:cNvSpPr/>
          <p:nvPr/>
        </p:nvSpPr>
        <p:spPr>
          <a:xfrm>
            <a:off x="6153912" y="3803904"/>
            <a:ext cx="2551176" cy="1463040"/>
          </a:xfrm>
          <a:prstGeom prst="roundRect">
            <a:avLst>
              <a:gd name="adj" fmla="val 5000"/>
            </a:avLst>
          </a:prstGeom>
          <a:solidFill>
            <a:srgbClr val="F5F2FF"/>
          </a:solidFill>
          <a:ln/>
          <a:effectLst>
            <a:outerShdw sx="100000" sy="100000" kx="0" ky="0" algn="bl" rotWithShape="0" blurRad="127000" dist="25400" dir="5400000">
              <a:srgbClr val="352E4A">
                <a:alpha val="13000"/>
              </a:srgbClr>
            </a:outerShdw>
          </a:effectLst>
        </p:spPr>
      </p:sp>
      <p:sp>
        <p:nvSpPr>
          <p:cNvPr id="29" name="Text 26"/>
          <p:cNvSpPr txBox="1"/>
          <p:nvPr/>
        </p:nvSpPr>
        <p:spPr>
          <a:xfrm>
            <a:off x="6409944" y="4078224"/>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AWS Activate</a:t>
            </a:r>
            <a:endParaRPr lang="en-US" sz="1400" dirty="0"/>
          </a:p>
        </p:txBody>
      </p:sp>
      <p:sp>
        <p:nvSpPr>
          <p:cNvPr id="30" name="Text 27"/>
          <p:cNvSpPr txBox="1"/>
          <p:nvPr/>
        </p:nvSpPr>
        <p:spPr>
          <a:xfrm>
            <a:off x="6409944" y="4645152"/>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Admitted</a:t>
            </a:r>
            <a:endParaRPr lang="en-US" sz="1150" dirty="0"/>
          </a:p>
        </p:txBody>
      </p:sp>
      <p:sp>
        <p:nvSpPr>
          <p:cNvPr id="31" name="Shape 28"/>
          <p:cNvSpPr/>
          <p:nvPr/>
        </p:nvSpPr>
        <p:spPr>
          <a:xfrm>
            <a:off x="8979408" y="3803904"/>
            <a:ext cx="2551176" cy="1463040"/>
          </a:xfrm>
          <a:prstGeom prst="roundRect">
            <a:avLst>
              <a:gd name="adj" fmla="val 5000"/>
            </a:avLst>
          </a:prstGeom>
          <a:solidFill>
            <a:srgbClr val="D3CAFF"/>
          </a:solidFill>
          <a:ln/>
          <a:effectLst>
            <a:outerShdw sx="100000" sy="100000" kx="0" ky="0" algn="bl" rotWithShape="0" blurRad="127000" dist="25400" dir="5400000">
              <a:srgbClr val="352E4A">
                <a:alpha val="13000"/>
              </a:srgbClr>
            </a:outerShdw>
          </a:effectLst>
        </p:spPr>
      </p:sp>
      <p:sp>
        <p:nvSpPr>
          <p:cNvPr id="32" name="Text 29"/>
          <p:cNvSpPr txBox="1"/>
          <p:nvPr/>
        </p:nvSpPr>
        <p:spPr>
          <a:xfrm>
            <a:off x="9235440" y="4078224"/>
            <a:ext cx="2039112" cy="512064"/>
          </a:xfrm>
          <a:prstGeom prst="rect">
            <a:avLst/>
          </a:prstGeom>
          <a:noFill/>
          <a:ln/>
        </p:spPr>
        <p:txBody>
          <a:bodyPr wrap="square" lIns="0" tIns="0" rIns="0" bIns="0" rtlCol="0" anchor="t"/>
          <a:lstStyle/>
          <a:p>
            <a:pPr indent="0" marL="0">
              <a:lnSpc>
                <a:spcPct val="105000"/>
              </a:lnSpc>
              <a:buNone/>
            </a:pPr>
            <a:r>
              <a:rPr lang="en-US" sz="1400" b="1" dirty="0">
                <a:solidFill>
                  <a:srgbClr val="11256A"/>
                </a:solidFill>
                <a:latin typeface="Space Grotesk" pitchFamily="34" charset="0"/>
                <a:ea typeface="Space Grotesk" pitchFamily="34" charset="-122"/>
                <a:cs typeface="Space Grotesk" pitchFamily="34" charset="-120"/>
              </a:rPr>
              <a:t>Provisional patent</a:t>
            </a:r>
            <a:endParaRPr lang="en-US" sz="1400" dirty="0"/>
          </a:p>
        </p:txBody>
      </p:sp>
      <p:sp>
        <p:nvSpPr>
          <p:cNvPr id="33" name="Text 30"/>
          <p:cNvSpPr txBox="1"/>
          <p:nvPr/>
        </p:nvSpPr>
        <p:spPr>
          <a:xfrm>
            <a:off x="9235440" y="4645152"/>
            <a:ext cx="2039112" cy="457200"/>
          </a:xfrm>
          <a:prstGeom prst="rect">
            <a:avLst/>
          </a:prstGeom>
          <a:noFill/>
          <a:ln/>
        </p:spPr>
        <p:txBody>
          <a:bodyPr wrap="square" lIns="0" tIns="0" rIns="0" bIns="0" rtlCol="0" anchor="t"/>
          <a:lstStyle/>
          <a:p>
            <a:pPr indent="0" marL="0">
              <a:lnSpc>
                <a:spcPct val="110000"/>
              </a:lnSpc>
              <a:buNone/>
            </a:pPr>
            <a:r>
              <a:rPr lang="en-US" sz="1150" dirty="0">
                <a:solidFill>
                  <a:srgbClr val="352E4A"/>
                </a:solidFill>
                <a:latin typeface="Inter" pitchFamily="34" charset="0"/>
                <a:ea typeface="Inter" pitchFamily="34" charset="-122"/>
                <a:cs typeface="Inter" pitchFamily="34" charset="-120"/>
              </a:rPr>
              <a:t>In preparation</a:t>
            </a:r>
            <a:endParaRPr lang="en-US" sz="1150" dirty="0"/>
          </a:p>
        </p:txBody>
      </p:sp>
      <p:sp>
        <p:nvSpPr>
          <p:cNvPr id="34" name="Text 31"/>
          <p:cNvSpPr txBox="1"/>
          <p:nvPr/>
        </p:nvSpPr>
        <p:spPr>
          <a:xfrm>
            <a:off x="502920" y="5797296"/>
            <a:ext cx="11183112" cy="365760"/>
          </a:xfrm>
          <a:prstGeom prst="rect">
            <a:avLst/>
          </a:prstGeom>
          <a:noFill/>
          <a:ln/>
        </p:spPr>
        <p:txBody>
          <a:bodyPr wrap="square" lIns="0" tIns="0" rIns="0" bIns="0" rtlCol="0" anchor="ctr"/>
          <a:lstStyle/>
          <a:p>
            <a:pPr indent="0" marL="0">
              <a:buNone/>
            </a:pPr>
            <a:r>
              <a:rPr lang="en-US" sz="1150" dirty="0">
                <a:solidFill>
                  <a:srgbClr val="6E6787"/>
                </a:solidFill>
                <a:latin typeface="Inter" pitchFamily="34" charset="0"/>
                <a:ea typeface="Inter" pitchFamily="34" charset="-122"/>
                <a:cs typeface="Inter" pitchFamily="34" charset="-120"/>
              </a:rPr>
              <a:t>Before all of this, our team won the HKUST-HSBC Social Entrepreneurship Competition in November 2025, with the pill dispenser we designed.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D3CA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SINCE THE YEAR-3 REPORT · SUMMER 2026</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We did not stop when the course ended</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6</a:t>
            </a:r>
            <a:endParaRPr lang="en-US" sz="950" dirty="0"/>
          </a:p>
        </p:txBody>
      </p:sp>
      <p:sp>
        <p:nvSpPr>
          <p:cNvPr id="10" name="Text 7"/>
          <p:cNvSpPr txBox="1"/>
          <p:nvPr/>
        </p:nvSpPr>
        <p:spPr>
          <a:xfrm>
            <a:off x="502920" y="2103120"/>
            <a:ext cx="11183112" cy="310896"/>
          </a:xfrm>
          <a:prstGeom prst="rect">
            <a:avLst/>
          </a:prstGeom>
          <a:noFill/>
          <a:ln/>
        </p:spPr>
        <p:txBody>
          <a:bodyPr wrap="square" lIns="0" tIns="0" rIns="0" bIns="0" rtlCol="0" anchor="ctr"/>
          <a:lstStyle/>
          <a:p>
            <a:pPr indent="0" marL="0">
              <a:buNone/>
            </a:pPr>
            <a:r>
              <a:rPr lang="en-US" sz="1300" dirty="0">
                <a:solidFill>
                  <a:srgbClr val="352E4A"/>
                </a:solidFill>
                <a:latin typeface="Inter" pitchFamily="34" charset="0"/>
                <a:ea typeface="Inter" pitchFamily="34" charset="-122"/>
                <a:cs typeface="Inter" pitchFamily="34" charset="-120"/>
              </a:rPr>
              <a:t>The three months since ISDN 3002 was submitted and graded.</a:t>
            </a:r>
            <a:endParaRPr lang="en-US" sz="1300" dirty="0"/>
          </a:p>
        </p:txBody>
      </p:sp>
      <p:sp>
        <p:nvSpPr>
          <p:cNvPr id="11" name="Shape 8"/>
          <p:cNvSpPr/>
          <p:nvPr/>
        </p:nvSpPr>
        <p:spPr>
          <a:xfrm>
            <a:off x="502920" y="2615184"/>
            <a:ext cx="3383280" cy="2286000"/>
          </a:xfrm>
          <a:prstGeom prst="roundRect">
            <a:avLst>
              <a:gd name="adj" fmla="val 3200"/>
            </a:avLst>
          </a:prstGeom>
          <a:solidFill>
            <a:srgbClr val="CEE7FD"/>
          </a:solidFill>
          <a:ln/>
          <a:effectLst>
            <a:outerShdw sx="100000" sy="100000" kx="0" ky="0" algn="bl" rotWithShape="0" blurRad="127000" dist="25400" dir="5400000">
              <a:srgbClr val="352E4A">
                <a:alpha val="13000"/>
              </a:srgbClr>
            </a:outerShdw>
          </a:effectLst>
        </p:spPr>
      </p:sp>
      <p:sp>
        <p:nvSpPr>
          <p:cNvPr id="12" name="Text 9"/>
          <p:cNvSpPr txBox="1"/>
          <p:nvPr/>
        </p:nvSpPr>
        <p:spPr>
          <a:xfrm>
            <a:off x="777240" y="2816352"/>
            <a:ext cx="2834640" cy="237744"/>
          </a:xfrm>
          <a:prstGeom prst="rect">
            <a:avLst/>
          </a:prstGeom>
          <a:noFill/>
          <a:ln/>
        </p:spPr>
        <p:txBody>
          <a:bodyPr wrap="square" lIns="0" tIns="0" rIns="0" bIns="0" rtlCol="0" anchor="ctr"/>
          <a:lstStyle/>
          <a:p>
            <a:pPr indent="0" marL="0">
              <a:buNone/>
            </a:pPr>
            <a:r>
              <a:rPr lang="en-US" sz="950" b="1" dirty="0">
                <a:solidFill>
                  <a:srgbClr val="800080"/>
                </a:solidFill>
                <a:latin typeface="Inter" pitchFamily="34" charset="0"/>
                <a:ea typeface="Inter" pitchFamily="34" charset="-122"/>
                <a:cs typeface="Inter" pitchFamily="34" charset="-120"/>
              </a:rPr>
              <a:t>SUMMER 2026</a:t>
            </a:r>
            <a:endParaRPr lang="en-US" sz="950" dirty="0"/>
          </a:p>
        </p:txBody>
      </p:sp>
      <p:sp>
        <p:nvSpPr>
          <p:cNvPr id="13" name="Text 10"/>
          <p:cNvSpPr txBox="1"/>
          <p:nvPr/>
        </p:nvSpPr>
        <p:spPr>
          <a:xfrm>
            <a:off x="777240" y="3108960"/>
            <a:ext cx="2834640" cy="713232"/>
          </a:xfrm>
          <a:prstGeom prst="rect">
            <a:avLst/>
          </a:prstGeom>
          <a:noFill/>
          <a:ln/>
        </p:spPr>
        <p:txBody>
          <a:bodyPr wrap="square" lIns="0" tIns="0" rIns="0" bIns="0" rtlCol="0" anchor="t"/>
          <a:lstStyle/>
          <a:p>
            <a:pPr indent="0" marL="0">
              <a:lnSpc>
                <a:spcPct val="105000"/>
              </a:lnSpc>
              <a:buNone/>
            </a:pPr>
            <a:r>
              <a:rPr lang="en-US" sz="1900" b="1" dirty="0">
                <a:solidFill>
                  <a:srgbClr val="11256A"/>
                </a:solidFill>
                <a:latin typeface="Space Grotesk" pitchFamily="34" charset="0"/>
                <a:ea typeface="Space Grotesk" pitchFamily="34" charset="-122"/>
                <a:cs typeface="Space Grotesk" pitchFamily="34" charset="-120"/>
              </a:rPr>
              <a:t>IET Young Professionals</a:t>
            </a:r>
            <a:endParaRPr lang="en-US" sz="1900" dirty="0"/>
          </a:p>
        </p:txBody>
      </p:sp>
      <p:sp>
        <p:nvSpPr>
          <p:cNvPr id="14" name="Text 11"/>
          <p:cNvSpPr txBox="1"/>
          <p:nvPr/>
        </p:nvSpPr>
        <p:spPr>
          <a:xfrm>
            <a:off x="777240" y="3913632"/>
            <a:ext cx="2834640" cy="804672"/>
          </a:xfrm>
          <a:prstGeom prst="rect">
            <a:avLst/>
          </a:prstGeom>
          <a:noFill/>
          <a:ln/>
        </p:spPr>
        <p:txBody>
          <a:bodyPr wrap="square" lIns="0" tIns="0" rIns="0" bIns="0" rtlCol="0" anchor="t"/>
          <a:lstStyle/>
          <a:p>
            <a:pPr indent="0" marL="0">
              <a:lnSpc>
                <a:spcPct val="116000"/>
              </a:lnSpc>
              <a:buNone/>
            </a:pPr>
            <a:r>
              <a:rPr lang="en-US" sz="1300" dirty="0">
                <a:solidFill>
                  <a:srgbClr val="352E4A"/>
                </a:solidFill>
                <a:latin typeface="Inter" pitchFamily="34" charset="0"/>
                <a:ea typeface="Inter" pitchFamily="34" charset="-122"/>
                <a:cs typeface="Inter" pitchFamily="34" charset="-120"/>
              </a:rPr>
              <a:t>Exhibition and Competition — Undergraduate Champion.</a:t>
            </a:r>
            <a:endParaRPr lang="en-US" sz="1300" dirty="0"/>
          </a:p>
        </p:txBody>
      </p:sp>
      <p:sp>
        <p:nvSpPr>
          <p:cNvPr id="15" name="Shape 12"/>
          <p:cNvSpPr/>
          <p:nvPr/>
        </p:nvSpPr>
        <p:spPr>
          <a:xfrm>
            <a:off x="4270248" y="2615184"/>
            <a:ext cx="3383280" cy="2286000"/>
          </a:xfrm>
          <a:prstGeom prst="roundRect">
            <a:avLst>
              <a:gd name="adj" fmla="val 3200"/>
            </a:avLst>
          </a:prstGeom>
          <a:solidFill>
            <a:srgbClr val="CEE7FD"/>
          </a:solidFill>
          <a:ln/>
          <a:effectLst>
            <a:outerShdw sx="100000" sy="100000" kx="0" ky="0" algn="bl" rotWithShape="0" blurRad="127000" dist="25400" dir="5400000">
              <a:srgbClr val="352E4A">
                <a:alpha val="13000"/>
              </a:srgbClr>
            </a:outerShdw>
          </a:effectLst>
        </p:spPr>
      </p:sp>
      <p:sp>
        <p:nvSpPr>
          <p:cNvPr id="16" name="Text 13"/>
          <p:cNvSpPr txBox="1"/>
          <p:nvPr/>
        </p:nvSpPr>
        <p:spPr>
          <a:xfrm>
            <a:off x="4544568" y="2816352"/>
            <a:ext cx="2834640" cy="237744"/>
          </a:xfrm>
          <a:prstGeom prst="rect">
            <a:avLst/>
          </a:prstGeom>
          <a:noFill/>
          <a:ln/>
        </p:spPr>
        <p:txBody>
          <a:bodyPr wrap="square" lIns="0" tIns="0" rIns="0" bIns="0" rtlCol="0" anchor="ctr"/>
          <a:lstStyle/>
          <a:p>
            <a:pPr indent="0" marL="0">
              <a:buNone/>
            </a:pPr>
            <a:r>
              <a:rPr lang="en-US" sz="950" b="1" dirty="0">
                <a:solidFill>
                  <a:srgbClr val="800080"/>
                </a:solidFill>
                <a:latin typeface="Inter" pitchFamily="34" charset="0"/>
                <a:ea typeface="Inter" pitchFamily="34" charset="-122"/>
                <a:cs typeface="Inter" pitchFamily="34" charset="-120"/>
              </a:rPr>
              <a:t>SUMMER 2026</a:t>
            </a:r>
            <a:endParaRPr lang="en-US" sz="950" dirty="0"/>
          </a:p>
        </p:txBody>
      </p:sp>
      <p:sp>
        <p:nvSpPr>
          <p:cNvPr id="17" name="Text 14"/>
          <p:cNvSpPr txBox="1"/>
          <p:nvPr/>
        </p:nvSpPr>
        <p:spPr>
          <a:xfrm>
            <a:off x="4544568" y="3108960"/>
            <a:ext cx="2834640" cy="713232"/>
          </a:xfrm>
          <a:prstGeom prst="rect">
            <a:avLst/>
          </a:prstGeom>
          <a:noFill/>
          <a:ln/>
        </p:spPr>
        <p:txBody>
          <a:bodyPr wrap="square" lIns="0" tIns="0" rIns="0" bIns="0" rtlCol="0" anchor="t"/>
          <a:lstStyle/>
          <a:p>
            <a:pPr indent="0" marL="0">
              <a:lnSpc>
                <a:spcPct val="105000"/>
              </a:lnSpc>
              <a:buNone/>
            </a:pPr>
            <a:r>
              <a:rPr lang="en-US" sz="1900" b="1" dirty="0">
                <a:solidFill>
                  <a:srgbClr val="11256A"/>
                </a:solidFill>
                <a:latin typeface="Space Grotesk" pitchFamily="34" charset="0"/>
                <a:ea typeface="Space Grotesk" pitchFamily="34" charset="-122"/>
                <a:cs typeface="Space Grotesk" pitchFamily="34" charset="-120"/>
              </a:rPr>
              <a:t>Enactus Hong Kong</a:t>
            </a:r>
            <a:endParaRPr lang="en-US" sz="1900" dirty="0"/>
          </a:p>
        </p:txBody>
      </p:sp>
      <p:sp>
        <p:nvSpPr>
          <p:cNvPr id="18" name="Text 15"/>
          <p:cNvSpPr txBox="1"/>
          <p:nvPr/>
        </p:nvSpPr>
        <p:spPr>
          <a:xfrm>
            <a:off x="4544568" y="3913632"/>
            <a:ext cx="2834640" cy="804672"/>
          </a:xfrm>
          <a:prstGeom prst="rect">
            <a:avLst/>
          </a:prstGeom>
          <a:noFill/>
          <a:ln/>
        </p:spPr>
        <p:txBody>
          <a:bodyPr wrap="square" lIns="0" tIns="0" rIns="0" bIns="0" rtlCol="0" anchor="t"/>
          <a:lstStyle/>
          <a:p>
            <a:pPr indent="0" marL="0">
              <a:lnSpc>
                <a:spcPct val="116000"/>
              </a:lnSpc>
              <a:buNone/>
            </a:pPr>
            <a:r>
              <a:rPr lang="en-US" sz="1300" dirty="0">
                <a:solidFill>
                  <a:srgbClr val="352E4A"/>
                </a:solidFill>
                <a:latin typeface="Inter" pitchFamily="34" charset="0"/>
                <a:ea typeface="Inter" pitchFamily="34" charset="-122"/>
                <a:cs typeface="Inter" pitchFamily="34" charset="-120"/>
              </a:rPr>
              <a:t>Regional Champion.</a:t>
            </a:r>
            <a:endParaRPr lang="en-US" sz="1300" dirty="0"/>
          </a:p>
        </p:txBody>
      </p:sp>
      <p:sp>
        <p:nvSpPr>
          <p:cNvPr id="19" name="Shape 16"/>
          <p:cNvSpPr/>
          <p:nvPr/>
        </p:nvSpPr>
        <p:spPr>
          <a:xfrm>
            <a:off x="8037576" y="2615184"/>
            <a:ext cx="3383280" cy="2286000"/>
          </a:xfrm>
          <a:prstGeom prst="roundRect">
            <a:avLst>
              <a:gd name="adj" fmla="val 3200"/>
            </a:avLst>
          </a:prstGeom>
          <a:solidFill>
            <a:srgbClr val="C9FA85"/>
          </a:solidFill>
          <a:ln/>
          <a:effectLst>
            <a:outerShdw sx="100000" sy="100000" kx="0" ky="0" algn="bl" rotWithShape="0" blurRad="127000" dist="25400" dir="5400000">
              <a:srgbClr val="352E4A">
                <a:alpha val="13000"/>
              </a:srgbClr>
            </a:outerShdw>
          </a:effectLst>
        </p:spPr>
      </p:sp>
      <p:sp>
        <p:nvSpPr>
          <p:cNvPr id="20" name="Text 17"/>
          <p:cNvSpPr txBox="1"/>
          <p:nvPr/>
        </p:nvSpPr>
        <p:spPr>
          <a:xfrm>
            <a:off x="8311896" y="2816352"/>
            <a:ext cx="2834640" cy="237744"/>
          </a:xfrm>
          <a:prstGeom prst="rect">
            <a:avLst/>
          </a:prstGeom>
          <a:noFill/>
          <a:ln/>
        </p:spPr>
        <p:txBody>
          <a:bodyPr wrap="square" lIns="0" tIns="0" rIns="0" bIns="0" rtlCol="0" anchor="ctr"/>
          <a:lstStyle/>
          <a:p>
            <a:pPr indent="0" marL="0">
              <a:buNone/>
            </a:pPr>
            <a:r>
              <a:rPr lang="en-US" sz="950" b="1" dirty="0">
                <a:solidFill>
                  <a:srgbClr val="800080"/>
                </a:solidFill>
                <a:latin typeface="Inter" pitchFamily="34" charset="0"/>
                <a:ea typeface="Inter" pitchFamily="34" charset="-122"/>
                <a:cs typeface="Inter" pitchFamily="34" charset="-120"/>
              </a:rPr>
              <a:t>IN PROGRESS NOW</a:t>
            </a:r>
            <a:endParaRPr lang="en-US" sz="950" dirty="0"/>
          </a:p>
        </p:txBody>
      </p:sp>
      <p:sp>
        <p:nvSpPr>
          <p:cNvPr id="21" name="Text 18"/>
          <p:cNvSpPr txBox="1"/>
          <p:nvPr/>
        </p:nvSpPr>
        <p:spPr>
          <a:xfrm>
            <a:off x="8311896" y="3108960"/>
            <a:ext cx="2834640" cy="713232"/>
          </a:xfrm>
          <a:prstGeom prst="rect">
            <a:avLst/>
          </a:prstGeom>
          <a:noFill/>
          <a:ln/>
        </p:spPr>
        <p:txBody>
          <a:bodyPr wrap="square" lIns="0" tIns="0" rIns="0" bIns="0" rtlCol="0" anchor="t"/>
          <a:lstStyle/>
          <a:p>
            <a:pPr indent="0" marL="0">
              <a:lnSpc>
                <a:spcPct val="105000"/>
              </a:lnSpc>
              <a:buNone/>
            </a:pPr>
            <a:r>
              <a:rPr lang="en-US" sz="1900" b="1" dirty="0">
                <a:solidFill>
                  <a:srgbClr val="11256A"/>
                </a:solidFill>
                <a:latin typeface="Space Grotesk" pitchFamily="34" charset="0"/>
                <a:ea typeface="Space Grotesk" pitchFamily="34" charset="-122"/>
                <a:cs typeface="Space Grotesk" pitchFamily="34" charset="-120"/>
              </a:rPr>
              <a:t>The app is in build</a:t>
            </a:r>
            <a:endParaRPr lang="en-US" sz="1900" dirty="0"/>
          </a:p>
        </p:txBody>
      </p:sp>
      <p:sp>
        <p:nvSpPr>
          <p:cNvPr id="22" name="Text 19"/>
          <p:cNvSpPr txBox="1"/>
          <p:nvPr/>
        </p:nvSpPr>
        <p:spPr>
          <a:xfrm>
            <a:off x="8311896" y="3913632"/>
            <a:ext cx="2834640" cy="804672"/>
          </a:xfrm>
          <a:prstGeom prst="rect">
            <a:avLst/>
          </a:prstGeom>
          <a:noFill/>
          <a:ln/>
        </p:spPr>
        <p:txBody>
          <a:bodyPr wrap="square" lIns="0" tIns="0" rIns="0" bIns="0" rtlCol="0" anchor="t"/>
          <a:lstStyle/>
          <a:p>
            <a:pPr indent="0" marL="0">
              <a:lnSpc>
                <a:spcPct val="116000"/>
              </a:lnSpc>
              <a:buNone/>
            </a:pPr>
            <a:r>
              <a:rPr lang="en-US" sz="1300" dirty="0">
                <a:solidFill>
                  <a:srgbClr val="352E4A"/>
                </a:solidFill>
                <a:latin typeface="Inter" pitchFamily="34" charset="0"/>
                <a:ea typeface="Inter" pitchFamily="34" charset="-122"/>
                <a:cs typeface="Inter" pitchFamily="34" charset="-120"/>
              </a:rPr>
              <a:t>We are building the application itself — the step from a validated design to something real readers can open.</a:t>
            </a:r>
            <a:endParaRPr lang="en-US" sz="1300" dirty="0"/>
          </a:p>
        </p:txBody>
      </p:sp>
      <p:sp>
        <p:nvSpPr>
          <p:cNvPr id="23" name="Shape 20"/>
          <p:cNvSpPr/>
          <p:nvPr/>
        </p:nvSpPr>
        <p:spPr>
          <a:xfrm>
            <a:off x="502920" y="5138928"/>
            <a:ext cx="11183112" cy="1005840"/>
          </a:xfrm>
          <a:prstGeom prst="roundRect">
            <a:avLst>
              <a:gd name="adj" fmla="val 7273"/>
            </a:avLst>
          </a:prstGeom>
          <a:solidFill>
            <a:srgbClr val="11256A"/>
          </a:solidFill>
          <a:ln/>
        </p:spPr>
      </p:sp>
      <p:sp>
        <p:nvSpPr>
          <p:cNvPr id="24" name="Text 21"/>
          <p:cNvSpPr txBox="1"/>
          <p:nvPr/>
        </p:nvSpPr>
        <p:spPr>
          <a:xfrm>
            <a:off x="886968" y="5138928"/>
            <a:ext cx="10415016" cy="1005840"/>
          </a:xfrm>
          <a:prstGeom prst="rect">
            <a:avLst/>
          </a:prstGeom>
          <a:noFill/>
          <a:ln/>
        </p:spPr>
        <p:txBody>
          <a:bodyPr wrap="square" lIns="0" tIns="0" rIns="0" bIns="0" rtlCol="0" anchor="ctr"/>
          <a:lstStyle/>
          <a:p>
            <a:pPr indent="0" marL="0">
              <a:buNone/>
            </a:pPr>
            <a:r>
              <a:rPr lang="en-US" sz="1700" b="1" dirty="0">
                <a:solidFill>
                  <a:srgbClr val="C9FA85"/>
                </a:solidFill>
                <a:latin typeface="Space Grotesk" pitchFamily="34" charset="0"/>
                <a:ea typeface="Space Grotesk" pitchFamily="34" charset="-122"/>
                <a:cs typeface="Space Grotesk" pitchFamily="34" charset="-120"/>
              </a:rPr>
              <a:t>This is a live venture with momentum — not a finished piece of coursework we are asking to hand in twice.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D3CA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ALIGNMENT · THE KICK-OFF DECK'S OWN FOUR OUTCOMES</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This is what the FYP asks for</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7</a:t>
            </a:r>
            <a:endParaRPr lang="en-US" sz="950" dirty="0"/>
          </a:p>
        </p:txBody>
      </p:sp>
      <p:sp>
        <p:nvSpPr>
          <p:cNvPr id="10" name="Shape 7"/>
          <p:cNvSpPr/>
          <p:nvPr/>
        </p:nvSpPr>
        <p:spPr>
          <a:xfrm>
            <a:off x="1463040" y="2103120"/>
            <a:ext cx="10222992" cy="877824"/>
          </a:xfrm>
          <a:prstGeom prst="roundRect">
            <a:avLst>
              <a:gd name="adj" fmla="val 8333"/>
            </a:avLst>
          </a:prstGeom>
          <a:solidFill>
            <a:srgbClr val="F5F2FF"/>
          </a:solidFill>
          <a:ln/>
          <a:effectLst>
            <a:outerShdw sx="100000" sy="100000" kx="0" ky="0" algn="bl" rotWithShape="0" blurRad="127000" dist="25400" dir="5400000">
              <a:srgbClr val="352E4A">
                <a:alpha val="13000"/>
              </a:srgbClr>
            </a:outerShdw>
          </a:effectLst>
        </p:spPr>
      </p:sp>
      <p:sp>
        <p:nvSpPr>
          <p:cNvPr id="11" name="Shape 8"/>
          <p:cNvSpPr/>
          <p:nvPr/>
        </p:nvSpPr>
        <p:spPr>
          <a:xfrm>
            <a:off x="502920" y="2103120"/>
            <a:ext cx="914400" cy="877824"/>
          </a:xfrm>
          <a:prstGeom prst="roundRect">
            <a:avLst>
              <a:gd name="adj" fmla="val 8333"/>
            </a:avLst>
          </a:prstGeom>
          <a:solidFill>
            <a:srgbClr val="11256A"/>
          </a:solidFill>
          <a:ln/>
        </p:spPr>
      </p:sp>
      <p:sp>
        <p:nvSpPr>
          <p:cNvPr id="12" name="Text 9"/>
          <p:cNvSpPr txBox="1"/>
          <p:nvPr/>
        </p:nvSpPr>
        <p:spPr>
          <a:xfrm>
            <a:off x="502920" y="2103120"/>
            <a:ext cx="914400" cy="877824"/>
          </a:xfrm>
          <a:prstGeom prst="rect">
            <a:avLst/>
          </a:prstGeom>
          <a:noFill/>
          <a:ln/>
        </p:spPr>
        <p:txBody>
          <a:bodyPr wrap="square" lIns="0" tIns="0" rIns="0" bIns="0" rtlCol="0" anchor="ctr"/>
          <a:lstStyle/>
          <a:p>
            <a:pPr algn="ctr" indent="0" marL="0">
              <a:buNone/>
            </a:pPr>
            <a:r>
              <a:rPr lang="en-US" sz="3000" b="1" dirty="0">
                <a:solidFill>
                  <a:srgbClr val="FFFFFF"/>
                </a:solidFill>
                <a:latin typeface="Space Grotesk" pitchFamily="34" charset="0"/>
                <a:ea typeface="Space Grotesk" pitchFamily="34" charset="-122"/>
                <a:cs typeface="Space Grotesk" pitchFamily="34" charset="-120"/>
              </a:rPr>
              <a:t>1</a:t>
            </a:r>
            <a:endParaRPr lang="en-US" sz="3000" dirty="0"/>
          </a:p>
        </p:txBody>
      </p:sp>
      <p:sp>
        <p:nvSpPr>
          <p:cNvPr id="13" name="Text 10"/>
          <p:cNvSpPr txBox="1"/>
          <p:nvPr/>
        </p:nvSpPr>
        <p:spPr>
          <a:xfrm>
            <a:off x="1737360" y="2249424"/>
            <a:ext cx="4023360" cy="640080"/>
          </a:xfrm>
          <a:prstGeom prst="rect">
            <a:avLst/>
          </a:prstGeom>
          <a:noFill/>
          <a:ln/>
        </p:spPr>
        <p:txBody>
          <a:bodyPr wrap="square" lIns="0" tIns="0" rIns="0" bIns="0" rtlCol="0" anchor="ctr"/>
          <a:lstStyle/>
          <a:p>
            <a:pPr indent="0" marL="0">
              <a:lnSpc>
                <a:spcPct val="105000"/>
              </a:lnSpc>
              <a:buNone/>
            </a:pPr>
            <a:r>
              <a:rPr lang="en-US" sz="1200" b="1" dirty="0">
                <a:solidFill>
                  <a:srgbClr val="11256A"/>
                </a:solidFill>
                <a:latin typeface="Inter" pitchFamily="34" charset="0"/>
                <a:ea typeface="Inter" pitchFamily="34" charset="-122"/>
                <a:cs typeface="Inter" pitchFamily="34" charset="-120"/>
              </a:rPr>
              <a:t>A STRONG PROTOTYPE</a:t>
            </a:r>
            <a:endParaRPr lang="en-US" sz="1200" dirty="0"/>
          </a:p>
        </p:txBody>
      </p:sp>
      <p:sp>
        <p:nvSpPr>
          <p:cNvPr id="14" name="Text 11"/>
          <p:cNvSpPr txBox="1"/>
          <p:nvPr/>
        </p:nvSpPr>
        <p:spPr>
          <a:xfrm>
            <a:off x="5943600" y="2231136"/>
            <a:ext cx="5486400" cy="676656"/>
          </a:xfrm>
          <a:prstGeom prst="rect">
            <a:avLst/>
          </a:prstGeom>
          <a:noFill/>
          <a:ln/>
        </p:spPr>
        <p:txBody>
          <a:bodyPr wrap="square" lIns="0" tIns="0" rIns="0" bIns="0" rtlCol="0" anchor="ctr"/>
          <a:lstStyle/>
          <a:p>
            <a:pPr indent="0" marL="0">
              <a:lnSpc>
                <a:spcPct val="114000"/>
              </a:lnSpc>
              <a:buNone/>
            </a:pPr>
            <a:r>
              <a:rPr lang="en-US" sz="1200" dirty="0">
                <a:solidFill>
                  <a:srgbClr val="352E4A"/>
                </a:solidFill>
                <a:latin typeface="Inter" pitchFamily="34" charset="0"/>
                <a:ea typeface="Inter" pitchFamily="34" charset="-122"/>
                <a:cs typeface="Inter" pitchFamily="34" charset="-120"/>
              </a:rPr>
              <a:t>An AI-native pipeline with a frozen system specification and four documented test passes behind it — a system, not a demo.</a:t>
            </a:r>
            <a:endParaRPr lang="en-US" sz="1200" dirty="0"/>
          </a:p>
        </p:txBody>
      </p:sp>
      <p:sp>
        <p:nvSpPr>
          <p:cNvPr id="15" name="Shape 12"/>
          <p:cNvSpPr/>
          <p:nvPr/>
        </p:nvSpPr>
        <p:spPr>
          <a:xfrm>
            <a:off x="1463040" y="3072384"/>
            <a:ext cx="10222992" cy="877824"/>
          </a:xfrm>
          <a:prstGeom prst="roundRect">
            <a:avLst>
              <a:gd name="adj" fmla="val 8333"/>
            </a:avLst>
          </a:prstGeom>
          <a:solidFill>
            <a:srgbClr val="F5F2FF"/>
          </a:solidFill>
          <a:ln/>
          <a:effectLst>
            <a:outerShdw sx="100000" sy="100000" kx="0" ky="0" algn="bl" rotWithShape="0" blurRad="127000" dist="25400" dir="5400000">
              <a:srgbClr val="352E4A">
                <a:alpha val="13000"/>
              </a:srgbClr>
            </a:outerShdw>
          </a:effectLst>
        </p:spPr>
      </p:sp>
      <p:sp>
        <p:nvSpPr>
          <p:cNvPr id="16" name="Shape 13"/>
          <p:cNvSpPr/>
          <p:nvPr/>
        </p:nvSpPr>
        <p:spPr>
          <a:xfrm>
            <a:off x="502920" y="3072384"/>
            <a:ext cx="914400" cy="877824"/>
          </a:xfrm>
          <a:prstGeom prst="roundRect">
            <a:avLst>
              <a:gd name="adj" fmla="val 8333"/>
            </a:avLst>
          </a:prstGeom>
          <a:solidFill>
            <a:srgbClr val="800080"/>
          </a:solidFill>
          <a:ln/>
        </p:spPr>
      </p:sp>
      <p:sp>
        <p:nvSpPr>
          <p:cNvPr id="17" name="Text 14"/>
          <p:cNvSpPr txBox="1"/>
          <p:nvPr/>
        </p:nvSpPr>
        <p:spPr>
          <a:xfrm>
            <a:off x="502920" y="3072384"/>
            <a:ext cx="914400" cy="877824"/>
          </a:xfrm>
          <a:prstGeom prst="rect">
            <a:avLst/>
          </a:prstGeom>
          <a:noFill/>
          <a:ln/>
        </p:spPr>
        <p:txBody>
          <a:bodyPr wrap="square" lIns="0" tIns="0" rIns="0" bIns="0" rtlCol="0" anchor="ctr"/>
          <a:lstStyle/>
          <a:p>
            <a:pPr algn="ctr" indent="0" marL="0">
              <a:buNone/>
            </a:pPr>
            <a:r>
              <a:rPr lang="en-US" sz="3000" b="1" dirty="0">
                <a:solidFill>
                  <a:srgbClr val="FFFFFF"/>
                </a:solidFill>
                <a:latin typeface="Space Grotesk" pitchFamily="34" charset="0"/>
                <a:ea typeface="Space Grotesk" pitchFamily="34" charset="-122"/>
                <a:cs typeface="Space Grotesk" pitchFamily="34" charset="-120"/>
              </a:rPr>
              <a:t>2</a:t>
            </a:r>
            <a:endParaRPr lang="en-US" sz="3000" dirty="0"/>
          </a:p>
        </p:txBody>
      </p:sp>
      <p:sp>
        <p:nvSpPr>
          <p:cNvPr id="18" name="Text 15"/>
          <p:cNvSpPr txBox="1"/>
          <p:nvPr/>
        </p:nvSpPr>
        <p:spPr>
          <a:xfrm>
            <a:off x="1737360" y="3218688"/>
            <a:ext cx="4023360" cy="640080"/>
          </a:xfrm>
          <a:prstGeom prst="rect">
            <a:avLst/>
          </a:prstGeom>
          <a:noFill/>
          <a:ln/>
        </p:spPr>
        <p:txBody>
          <a:bodyPr wrap="square" lIns="0" tIns="0" rIns="0" bIns="0" rtlCol="0" anchor="ctr"/>
          <a:lstStyle/>
          <a:p>
            <a:pPr indent="0" marL="0">
              <a:lnSpc>
                <a:spcPct val="105000"/>
              </a:lnSpc>
              <a:buNone/>
            </a:pPr>
            <a:r>
              <a:rPr lang="en-US" sz="1200" b="1" dirty="0">
                <a:solidFill>
                  <a:srgbClr val="11256A"/>
                </a:solidFill>
                <a:latin typeface="Inter" pitchFamily="34" charset="0"/>
                <a:ea typeface="Inter" pitchFamily="34" charset="-122"/>
                <a:cs typeface="Inter" pitchFamily="34" charset="-120"/>
              </a:rPr>
              <a:t>A CONVINCING STORY</a:t>
            </a:r>
            <a:endParaRPr lang="en-US" sz="1200" dirty="0"/>
          </a:p>
        </p:txBody>
      </p:sp>
      <p:sp>
        <p:nvSpPr>
          <p:cNvPr id="19" name="Text 16"/>
          <p:cNvSpPr txBox="1"/>
          <p:nvPr/>
        </p:nvSpPr>
        <p:spPr>
          <a:xfrm>
            <a:off x="5943600" y="3200400"/>
            <a:ext cx="5486400" cy="676656"/>
          </a:xfrm>
          <a:prstGeom prst="rect">
            <a:avLst/>
          </a:prstGeom>
          <a:noFill/>
          <a:ln/>
        </p:spPr>
        <p:txBody>
          <a:bodyPr wrap="square" lIns="0" tIns="0" rIns="0" bIns="0" rtlCol="0" anchor="ctr"/>
          <a:lstStyle/>
          <a:p>
            <a:pPr indent="0" marL="0">
              <a:lnSpc>
                <a:spcPct val="114000"/>
              </a:lnSpc>
              <a:buNone/>
            </a:pPr>
            <a:r>
              <a:rPr lang="en-US" sz="1200" dirty="0">
                <a:solidFill>
                  <a:srgbClr val="352E4A"/>
                </a:solidFill>
                <a:latin typeface="Inter" pitchFamily="34" charset="0"/>
                <a:ea typeface="Inter" pitchFamily="34" charset="-122"/>
                <a:cs typeface="Inter" pitchFamily="34" charset="-120"/>
              </a:rPr>
              <a:t>Trust is the scarce resource in news. We measured that ourselves rather than borrowing it from a market report.</a:t>
            </a:r>
            <a:endParaRPr lang="en-US" sz="1200" dirty="0"/>
          </a:p>
        </p:txBody>
      </p:sp>
      <p:sp>
        <p:nvSpPr>
          <p:cNvPr id="20" name="Shape 17"/>
          <p:cNvSpPr/>
          <p:nvPr/>
        </p:nvSpPr>
        <p:spPr>
          <a:xfrm>
            <a:off x="1463040" y="4041648"/>
            <a:ext cx="10222992" cy="877824"/>
          </a:xfrm>
          <a:prstGeom prst="roundRect">
            <a:avLst>
              <a:gd name="adj" fmla="val 8333"/>
            </a:avLst>
          </a:prstGeom>
          <a:solidFill>
            <a:srgbClr val="F5F2FF"/>
          </a:solidFill>
          <a:ln/>
          <a:effectLst>
            <a:outerShdw sx="100000" sy="100000" kx="0" ky="0" algn="bl" rotWithShape="0" blurRad="127000" dist="25400" dir="5400000">
              <a:srgbClr val="352E4A">
                <a:alpha val="13000"/>
              </a:srgbClr>
            </a:outerShdw>
          </a:effectLst>
        </p:spPr>
      </p:sp>
      <p:sp>
        <p:nvSpPr>
          <p:cNvPr id="21" name="Shape 18"/>
          <p:cNvSpPr/>
          <p:nvPr/>
        </p:nvSpPr>
        <p:spPr>
          <a:xfrm>
            <a:off x="502920" y="4041648"/>
            <a:ext cx="914400" cy="877824"/>
          </a:xfrm>
          <a:prstGeom prst="roundRect">
            <a:avLst>
              <a:gd name="adj" fmla="val 8333"/>
            </a:avLst>
          </a:prstGeom>
          <a:solidFill>
            <a:srgbClr val="11256A"/>
          </a:solidFill>
          <a:ln/>
        </p:spPr>
      </p:sp>
      <p:sp>
        <p:nvSpPr>
          <p:cNvPr id="22" name="Text 19"/>
          <p:cNvSpPr txBox="1"/>
          <p:nvPr/>
        </p:nvSpPr>
        <p:spPr>
          <a:xfrm>
            <a:off x="502920" y="4041648"/>
            <a:ext cx="914400" cy="877824"/>
          </a:xfrm>
          <a:prstGeom prst="rect">
            <a:avLst/>
          </a:prstGeom>
          <a:noFill/>
          <a:ln/>
        </p:spPr>
        <p:txBody>
          <a:bodyPr wrap="square" lIns="0" tIns="0" rIns="0" bIns="0" rtlCol="0" anchor="ctr"/>
          <a:lstStyle/>
          <a:p>
            <a:pPr algn="ctr" indent="0" marL="0">
              <a:buNone/>
            </a:pPr>
            <a:r>
              <a:rPr lang="en-US" sz="3000" b="1" dirty="0">
                <a:solidFill>
                  <a:srgbClr val="FFFFFF"/>
                </a:solidFill>
                <a:latin typeface="Space Grotesk" pitchFamily="34" charset="0"/>
                <a:ea typeface="Space Grotesk" pitchFamily="34" charset="-122"/>
                <a:cs typeface="Space Grotesk" pitchFamily="34" charset="-120"/>
              </a:rPr>
              <a:t>3</a:t>
            </a:r>
            <a:endParaRPr lang="en-US" sz="3000" dirty="0"/>
          </a:p>
        </p:txBody>
      </p:sp>
      <p:sp>
        <p:nvSpPr>
          <p:cNvPr id="23" name="Text 20"/>
          <p:cNvSpPr txBox="1"/>
          <p:nvPr/>
        </p:nvSpPr>
        <p:spPr>
          <a:xfrm>
            <a:off x="1737360" y="4187952"/>
            <a:ext cx="4023360" cy="640080"/>
          </a:xfrm>
          <a:prstGeom prst="rect">
            <a:avLst/>
          </a:prstGeom>
          <a:noFill/>
          <a:ln/>
        </p:spPr>
        <p:txBody>
          <a:bodyPr wrap="square" lIns="0" tIns="0" rIns="0" bIns="0" rtlCol="0" anchor="ctr"/>
          <a:lstStyle/>
          <a:p>
            <a:pPr indent="0" marL="0">
              <a:lnSpc>
                <a:spcPct val="105000"/>
              </a:lnSpc>
              <a:buNone/>
            </a:pPr>
            <a:r>
              <a:rPr lang="en-US" sz="1200" b="1" dirty="0">
                <a:solidFill>
                  <a:srgbClr val="11256A"/>
                </a:solidFill>
                <a:latin typeface="Inter" pitchFamily="34" charset="0"/>
                <a:ea typeface="Inter" pitchFamily="34" charset="-122"/>
                <a:cs typeface="Inter" pitchFamily="34" charset="-120"/>
              </a:rPr>
              <a:t>EVIDENCE OF SOLVING A MEANINGFUL PROBLEM</a:t>
            </a:r>
            <a:endParaRPr lang="en-US" sz="1200" dirty="0"/>
          </a:p>
        </p:txBody>
      </p:sp>
      <p:sp>
        <p:nvSpPr>
          <p:cNvPr id="24" name="Text 21"/>
          <p:cNvSpPr txBox="1"/>
          <p:nvPr/>
        </p:nvSpPr>
        <p:spPr>
          <a:xfrm>
            <a:off x="5943600" y="4169664"/>
            <a:ext cx="5486400" cy="676656"/>
          </a:xfrm>
          <a:prstGeom prst="rect">
            <a:avLst/>
          </a:prstGeom>
          <a:noFill/>
          <a:ln/>
        </p:spPr>
        <p:txBody>
          <a:bodyPr wrap="square" lIns="0" tIns="0" rIns="0" bIns="0" rtlCol="0" anchor="ctr"/>
          <a:lstStyle/>
          <a:p>
            <a:pPr indent="0" marL="0">
              <a:lnSpc>
                <a:spcPct val="114000"/>
              </a:lnSpc>
              <a:buNone/>
            </a:pPr>
            <a:r>
              <a:rPr lang="en-US" sz="1200" dirty="0">
                <a:solidFill>
                  <a:srgbClr val="352E4A"/>
                </a:solidFill>
                <a:latin typeface="Inter" pitchFamily="34" charset="0"/>
                <a:ea typeface="Inter" pitchFamily="34" charset="-122"/>
                <a:cs typeface="Inter" pitchFamily="34" charset="-120"/>
              </a:rPr>
              <a:t>Our research reframed the problem from information overload to trust, and the whole product follows from that finding.</a:t>
            </a:r>
            <a:endParaRPr lang="en-US" sz="1200" dirty="0"/>
          </a:p>
        </p:txBody>
      </p:sp>
      <p:sp>
        <p:nvSpPr>
          <p:cNvPr id="25" name="Shape 22"/>
          <p:cNvSpPr/>
          <p:nvPr/>
        </p:nvSpPr>
        <p:spPr>
          <a:xfrm>
            <a:off x="1463040" y="5010912"/>
            <a:ext cx="10222992" cy="877824"/>
          </a:xfrm>
          <a:prstGeom prst="roundRect">
            <a:avLst>
              <a:gd name="adj" fmla="val 8333"/>
            </a:avLst>
          </a:prstGeom>
          <a:solidFill>
            <a:srgbClr val="F5F2FF"/>
          </a:solidFill>
          <a:ln/>
          <a:effectLst>
            <a:outerShdw sx="100000" sy="100000" kx="0" ky="0" algn="bl" rotWithShape="0" blurRad="127000" dist="25400" dir="5400000">
              <a:srgbClr val="352E4A">
                <a:alpha val="13000"/>
              </a:srgbClr>
            </a:outerShdw>
          </a:effectLst>
        </p:spPr>
      </p:sp>
      <p:sp>
        <p:nvSpPr>
          <p:cNvPr id="26" name="Shape 23"/>
          <p:cNvSpPr/>
          <p:nvPr/>
        </p:nvSpPr>
        <p:spPr>
          <a:xfrm>
            <a:off x="502920" y="5010912"/>
            <a:ext cx="914400" cy="877824"/>
          </a:xfrm>
          <a:prstGeom prst="roundRect">
            <a:avLst>
              <a:gd name="adj" fmla="val 8333"/>
            </a:avLst>
          </a:prstGeom>
          <a:solidFill>
            <a:srgbClr val="800080"/>
          </a:solidFill>
          <a:ln/>
        </p:spPr>
      </p:sp>
      <p:sp>
        <p:nvSpPr>
          <p:cNvPr id="27" name="Text 24"/>
          <p:cNvSpPr txBox="1"/>
          <p:nvPr/>
        </p:nvSpPr>
        <p:spPr>
          <a:xfrm>
            <a:off x="502920" y="5010912"/>
            <a:ext cx="914400" cy="877824"/>
          </a:xfrm>
          <a:prstGeom prst="rect">
            <a:avLst/>
          </a:prstGeom>
          <a:noFill/>
          <a:ln/>
        </p:spPr>
        <p:txBody>
          <a:bodyPr wrap="square" lIns="0" tIns="0" rIns="0" bIns="0" rtlCol="0" anchor="ctr"/>
          <a:lstStyle/>
          <a:p>
            <a:pPr algn="ctr" indent="0" marL="0">
              <a:buNone/>
            </a:pPr>
            <a:r>
              <a:rPr lang="en-US" sz="3000" b="1" dirty="0">
                <a:solidFill>
                  <a:srgbClr val="FFFFFF"/>
                </a:solidFill>
                <a:latin typeface="Space Grotesk" pitchFamily="34" charset="0"/>
                <a:ea typeface="Space Grotesk" pitchFamily="34" charset="-122"/>
                <a:cs typeface="Space Grotesk" pitchFamily="34" charset="-120"/>
              </a:rPr>
              <a:t>4</a:t>
            </a:r>
            <a:endParaRPr lang="en-US" sz="3000" dirty="0"/>
          </a:p>
        </p:txBody>
      </p:sp>
      <p:sp>
        <p:nvSpPr>
          <p:cNvPr id="28" name="Text 25"/>
          <p:cNvSpPr txBox="1"/>
          <p:nvPr/>
        </p:nvSpPr>
        <p:spPr>
          <a:xfrm>
            <a:off x="1737360" y="5157216"/>
            <a:ext cx="4023360" cy="640080"/>
          </a:xfrm>
          <a:prstGeom prst="rect">
            <a:avLst/>
          </a:prstGeom>
          <a:noFill/>
          <a:ln/>
        </p:spPr>
        <p:txBody>
          <a:bodyPr wrap="square" lIns="0" tIns="0" rIns="0" bIns="0" rtlCol="0" anchor="ctr"/>
          <a:lstStyle/>
          <a:p>
            <a:pPr indent="0" marL="0">
              <a:lnSpc>
                <a:spcPct val="105000"/>
              </a:lnSpc>
              <a:buNone/>
            </a:pPr>
            <a:r>
              <a:rPr lang="en-US" sz="1200" b="1" dirty="0">
                <a:solidFill>
                  <a:srgbClr val="11256A"/>
                </a:solidFill>
                <a:latin typeface="Inter" pitchFamily="34" charset="0"/>
                <a:ea typeface="Inter" pitchFamily="34" charset="-122"/>
                <a:cs typeface="Inter" pitchFamily="34" charset="-120"/>
              </a:rPr>
              <a:t>SOMETHING TO SHOW AFTER GRADUATION</a:t>
            </a:r>
            <a:endParaRPr lang="en-US" sz="1200" dirty="0"/>
          </a:p>
        </p:txBody>
      </p:sp>
      <p:sp>
        <p:nvSpPr>
          <p:cNvPr id="29" name="Text 26"/>
          <p:cNvSpPr txBox="1"/>
          <p:nvPr/>
        </p:nvSpPr>
        <p:spPr>
          <a:xfrm>
            <a:off x="5943600" y="5138928"/>
            <a:ext cx="5486400" cy="676656"/>
          </a:xfrm>
          <a:prstGeom prst="rect">
            <a:avLst/>
          </a:prstGeom>
          <a:noFill/>
          <a:ln/>
        </p:spPr>
        <p:txBody>
          <a:bodyPr wrap="square" lIns="0" tIns="0" rIns="0" bIns="0" rtlCol="0" anchor="ctr"/>
          <a:lstStyle/>
          <a:p>
            <a:pPr indent="0" marL="0">
              <a:lnSpc>
                <a:spcPct val="114000"/>
              </a:lnSpc>
              <a:buNone/>
            </a:pPr>
            <a:r>
              <a:rPr lang="en-US" sz="1200" dirty="0">
                <a:solidFill>
                  <a:srgbClr val="352E4A"/>
                </a:solidFill>
                <a:latin typeface="Inter" pitchFamily="34" charset="0"/>
                <a:ea typeface="Inter" pitchFamily="34" charset="-122"/>
                <a:cs typeface="Inter" pitchFamily="34" charset="-120"/>
              </a:rPr>
              <a:t>An incorporated company, an application heading for public beta, and a provisional patent in preparation.</a:t>
            </a:r>
            <a:endParaRPr lang="en-US" sz="1200" dirty="0"/>
          </a:p>
        </p:txBody>
      </p:sp>
      <p:sp>
        <p:nvSpPr>
          <p:cNvPr id="30" name="Text 27"/>
          <p:cNvSpPr txBox="1"/>
          <p:nvPr/>
        </p:nvSpPr>
        <p:spPr>
          <a:xfrm>
            <a:off x="502920" y="5998464"/>
            <a:ext cx="11183112" cy="256032"/>
          </a:xfrm>
          <a:prstGeom prst="rect">
            <a:avLst/>
          </a:prstGeom>
          <a:noFill/>
          <a:ln/>
        </p:spPr>
        <p:txBody>
          <a:bodyPr wrap="square" lIns="0" tIns="0" rIns="0" bIns="0" rtlCol="0" anchor="ctr"/>
          <a:lstStyle/>
          <a:p>
            <a:pPr indent="0" marL="0">
              <a:buNone/>
            </a:pPr>
            <a:r>
              <a:rPr lang="en-US" sz="1000" dirty="0">
                <a:solidFill>
                  <a:srgbClr val="6E6787"/>
                </a:solidFill>
                <a:latin typeface="Inter" pitchFamily="34" charset="0"/>
                <a:ea typeface="Inter" pitchFamily="34" charset="-122"/>
                <a:cs typeface="Inter" pitchFamily="34" charset="-120"/>
              </a:rPr>
              <a:t>Quoted from slide two of the ISDN 4001 kick-off deck.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D3CA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TRACK · WHICH OF THE THREE WE WOULD DECLARE</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Entrepreneurship and Venture</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8</a:t>
            </a:r>
            <a:endParaRPr lang="en-US" sz="950" dirty="0"/>
          </a:p>
        </p:txBody>
      </p:sp>
      <p:sp>
        <p:nvSpPr>
          <p:cNvPr id="10" name="Text 7"/>
          <p:cNvSpPr txBox="1"/>
          <p:nvPr/>
        </p:nvSpPr>
        <p:spPr>
          <a:xfrm>
            <a:off x="502920" y="2103120"/>
            <a:ext cx="11183112" cy="310896"/>
          </a:xfrm>
          <a:prstGeom prst="rect">
            <a:avLst/>
          </a:prstGeom>
          <a:noFill/>
          <a:ln/>
        </p:spPr>
        <p:txBody>
          <a:bodyPr wrap="square" lIns="0" tIns="0" rIns="0" bIns="0" rtlCol="0" anchor="ctr"/>
          <a:lstStyle/>
          <a:p>
            <a:pPr indent="0" marL="0">
              <a:buNone/>
            </a:pPr>
            <a:r>
              <a:rPr lang="en-US" sz="1300" dirty="0">
                <a:solidFill>
                  <a:srgbClr val="352E4A"/>
                </a:solidFill>
                <a:latin typeface="Inter" pitchFamily="34" charset="0"/>
                <a:ea typeface="Inter" pitchFamily="34" charset="-122"/>
                <a:cs typeface="Inter" pitchFamily="34" charset="-120"/>
              </a:rPr>
              <a:t>The three deliverables the kick-off deck sets for this track, and what we can already put against each.</a:t>
            </a:r>
            <a:endParaRPr lang="en-US" sz="1300" dirty="0"/>
          </a:p>
        </p:txBody>
      </p:sp>
      <p:sp>
        <p:nvSpPr>
          <p:cNvPr id="11" name="Shape 8"/>
          <p:cNvSpPr/>
          <p:nvPr/>
        </p:nvSpPr>
        <p:spPr>
          <a:xfrm>
            <a:off x="502920" y="2615184"/>
            <a:ext cx="3383280" cy="2286000"/>
          </a:xfrm>
          <a:prstGeom prst="roundRect">
            <a:avLst>
              <a:gd name="adj" fmla="val 3200"/>
            </a:avLst>
          </a:prstGeom>
          <a:solidFill>
            <a:srgbClr val="D3CAFF"/>
          </a:solidFill>
          <a:ln/>
          <a:effectLst>
            <a:outerShdw sx="100000" sy="100000" kx="0" ky="0" algn="bl" rotWithShape="0" blurRad="127000" dist="25400" dir="5400000">
              <a:srgbClr val="352E4A">
                <a:alpha val="13000"/>
              </a:srgbClr>
            </a:outerShdw>
          </a:effectLst>
        </p:spPr>
      </p:sp>
      <p:sp>
        <p:nvSpPr>
          <p:cNvPr id="12" name="Text 9"/>
          <p:cNvSpPr txBox="1"/>
          <p:nvPr/>
        </p:nvSpPr>
        <p:spPr>
          <a:xfrm>
            <a:off x="777240" y="2852928"/>
            <a:ext cx="2834640" cy="603504"/>
          </a:xfrm>
          <a:prstGeom prst="rect">
            <a:avLst/>
          </a:prstGeom>
          <a:noFill/>
          <a:ln/>
        </p:spPr>
        <p:txBody>
          <a:bodyPr wrap="square" lIns="0" tIns="0" rIns="0" bIns="0" rtlCol="0" anchor="t"/>
          <a:lstStyle/>
          <a:p>
            <a:pPr indent="0" marL="0">
              <a:lnSpc>
                <a:spcPct val="105000"/>
              </a:lnSpc>
              <a:buNone/>
            </a:pPr>
            <a:r>
              <a:rPr lang="en-US" sz="1600" b="1" dirty="0">
                <a:solidFill>
                  <a:srgbClr val="11256A"/>
                </a:solidFill>
                <a:latin typeface="Space Grotesk" pitchFamily="34" charset="0"/>
                <a:ea typeface="Space Grotesk" pitchFamily="34" charset="-122"/>
                <a:cs typeface="Space Grotesk" pitchFamily="34" charset="-120"/>
              </a:rPr>
              <a:t>Market / value contribution</a:t>
            </a:r>
            <a:endParaRPr lang="en-US" sz="1600" dirty="0"/>
          </a:p>
        </p:txBody>
      </p:sp>
      <p:sp>
        <p:nvSpPr>
          <p:cNvPr id="13" name="Text 10"/>
          <p:cNvSpPr txBox="1"/>
          <p:nvPr/>
        </p:nvSpPr>
        <p:spPr>
          <a:xfrm>
            <a:off x="777240" y="3547872"/>
            <a:ext cx="2834640" cy="1170432"/>
          </a:xfrm>
          <a:prstGeom prst="rect">
            <a:avLst/>
          </a:prstGeom>
          <a:noFill/>
          <a:ln/>
        </p:spPr>
        <p:txBody>
          <a:bodyPr wrap="square" lIns="0" tIns="0" rIns="0" bIns="0" rtlCol="0" anchor="t"/>
          <a:lstStyle/>
          <a:p>
            <a:pPr indent="0" marL="0">
              <a:lnSpc>
                <a:spcPct val="116000"/>
              </a:lnSpc>
              <a:buNone/>
            </a:pPr>
            <a:r>
              <a:rPr lang="en-US" sz="1250" dirty="0">
                <a:solidFill>
                  <a:srgbClr val="352E4A"/>
                </a:solidFill>
                <a:latin typeface="Inter" pitchFamily="34" charset="0"/>
                <a:ea typeface="Inter" pitchFamily="34" charset="-122"/>
                <a:cs typeface="Inter" pitchFamily="34" charset="-120"/>
              </a:rPr>
              <a:t>An incorporated company, a subscription-plus-advertising model built on what people told us they would actually pay, and a closed angel round.</a:t>
            </a:r>
            <a:endParaRPr lang="en-US" sz="1250" dirty="0"/>
          </a:p>
        </p:txBody>
      </p:sp>
      <p:sp>
        <p:nvSpPr>
          <p:cNvPr id="14" name="Shape 11"/>
          <p:cNvSpPr/>
          <p:nvPr/>
        </p:nvSpPr>
        <p:spPr>
          <a:xfrm>
            <a:off x="4270248" y="2615184"/>
            <a:ext cx="3383280" cy="2286000"/>
          </a:xfrm>
          <a:prstGeom prst="roundRect">
            <a:avLst>
              <a:gd name="adj" fmla="val 3200"/>
            </a:avLst>
          </a:prstGeom>
          <a:solidFill>
            <a:srgbClr val="CEE7FD"/>
          </a:solidFill>
          <a:ln/>
          <a:effectLst>
            <a:outerShdw sx="100000" sy="100000" kx="0" ky="0" algn="bl" rotWithShape="0" blurRad="127000" dist="25400" dir="5400000">
              <a:srgbClr val="352E4A">
                <a:alpha val="13000"/>
              </a:srgbClr>
            </a:outerShdw>
          </a:effectLst>
        </p:spPr>
      </p:sp>
      <p:sp>
        <p:nvSpPr>
          <p:cNvPr id="15" name="Text 12"/>
          <p:cNvSpPr txBox="1"/>
          <p:nvPr/>
        </p:nvSpPr>
        <p:spPr>
          <a:xfrm>
            <a:off x="4544568" y="2852928"/>
            <a:ext cx="2834640" cy="603504"/>
          </a:xfrm>
          <a:prstGeom prst="rect">
            <a:avLst/>
          </a:prstGeom>
          <a:noFill/>
          <a:ln/>
        </p:spPr>
        <p:txBody>
          <a:bodyPr wrap="square" lIns="0" tIns="0" rIns="0" bIns="0" rtlCol="0" anchor="t"/>
          <a:lstStyle/>
          <a:p>
            <a:pPr indent="0" marL="0">
              <a:lnSpc>
                <a:spcPct val="105000"/>
              </a:lnSpc>
              <a:buNone/>
            </a:pPr>
            <a:r>
              <a:rPr lang="en-US" sz="1600" b="1" dirty="0">
                <a:solidFill>
                  <a:srgbClr val="11256A"/>
                </a:solidFill>
                <a:latin typeface="Space Grotesk" pitchFamily="34" charset="0"/>
                <a:ea typeface="Space Grotesk" pitchFamily="34" charset="-122"/>
                <a:cs typeface="Space Grotesk" pitchFamily="34" charset="-120"/>
              </a:rPr>
              <a:t>MVP / business concept</a:t>
            </a:r>
            <a:endParaRPr lang="en-US" sz="1600" dirty="0"/>
          </a:p>
        </p:txBody>
      </p:sp>
      <p:sp>
        <p:nvSpPr>
          <p:cNvPr id="16" name="Text 13"/>
          <p:cNvSpPr txBox="1"/>
          <p:nvPr/>
        </p:nvSpPr>
        <p:spPr>
          <a:xfrm>
            <a:off x="4544568" y="3547872"/>
            <a:ext cx="2834640" cy="1170432"/>
          </a:xfrm>
          <a:prstGeom prst="rect">
            <a:avLst/>
          </a:prstGeom>
          <a:noFill/>
          <a:ln/>
        </p:spPr>
        <p:txBody>
          <a:bodyPr wrap="square" lIns="0" tIns="0" rIns="0" bIns="0" rtlCol="0" anchor="t"/>
          <a:lstStyle/>
          <a:p>
            <a:pPr indent="0" marL="0">
              <a:lnSpc>
                <a:spcPct val="116000"/>
              </a:lnSpc>
              <a:buNone/>
            </a:pPr>
            <a:r>
              <a:rPr lang="en-US" sz="1250" dirty="0">
                <a:solidFill>
                  <a:srgbClr val="352E4A"/>
                </a:solidFill>
                <a:latin typeface="Inter" pitchFamily="34" charset="0"/>
                <a:ea typeface="Inter" pitchFamily="34" charset="-122"/>
                <a:cs typeface="Inter" pitchFamily="34" charset="-120"/>
              </a:rPr>
              <a:t>A pre-launch MVP with a frozen specification and an architecture that scales by adding licensed source pools — now moving into app development.</a:t>
            </a:r>
            <a:endParaRPr lang="en-US" sz="1250" dirty="0"/>
          </a:p>
        </p:txBody>
      </p:sp>
      <p:sp>
        <p:nvSpPr>
          <p:cNvPr id="17" name="Shape 14"/>
          <p:cNvSpPr/>
          <p:nvPr/>
        </p:nvSpPr>
        <p:spPr>
          <a:xfrm>
            <a:off x="8037576" y="2615184"/>
            <a:ext cx="3383280" cy="2286000"/>
          </a:xfrm>
          <a:prstGeom prst="roundRect">
            <a:avLst>
              <a:gd name="adj" fmla="val 3200"/>
            </a:avLst>
          </a:prstGeom>
          <a:solidFill>
            <a:srgbClr val="FDE1FD"/>
          </a:solidFill>
          <a:ln/>
          <a:effectLst>
            <a:outerShdw sx="100000" sy="100000" kx="0" ky="0" algn="bl" rotWithShape="0" blurRad="127000" dist="25400" dir="5400000">
              <a:srgbClr val="352E4A">
                <a:alpha val="13000"/>
              </a:srgbClr>
            </a:outerShdw>
          </a:effectLst>
        </p:spPr>
      </p:sp>
      <p:sp>
        <p:nvSpPr>
          <p:cNvPr id="18" name="Text 15"/>
          <p:cNvSpPr txBox="1"/>
          <p:nvPr/>
        </p:nvSpPr>
        <p:spPr>
          <a:xfrm>
            <a:off x="8311896" y="2852928"/>
            <a:ext cx="2834640" cy="603504"/>
          </a:xfrm>
          <a:prstGeom prst="rect">
            <a:avLst/>
          </a:prstGeom>
          <a:noFill/>
          <a:ln/>
        </p:spPr>
        <p:txBody>
          <a:bodyPr wrap="square" lIns="0" tIns="0" rIns="0" bIns="0" rtlCol="0" anchor="t"/>
          <a:lstStyle/>
          <a:p>
            <a:pPr indent="0" marL="0">
              <a:lnSpc>
                <a:spcPct val="105000"/>
              </a:lnSpc>
              <a:buNone/>
            </a:pPr>
            <a:r>
              <a:rPr lang="en-US" sz="1600" b="1" dirty="0">
                <a:solidFill>
                  <a:srgbClr val="11256A"/>
                </a:solidFill>
                <a:latin typeface="Space Grotesk" pitchFamily="34" charset="0"/>
                <a:ea typeface="Space Grotesk" pitchFamily="34" charset="-122"/>
                <a:cs typeface="Space Grotesk" pitchFamily="34" charset="-120"/>
              </a:rPr>
              <a:t>Pitch / customer validation</a:t>
            </a:r>
            <a:endParaRPr lang="en-US" sz="1600" dirty="0"/>
          </a:p>
        </p:txBody>
      </p:sp>
      <p:sp>
        <p:nvSpPr>
          <p:cNvPr id="19" name="Text 16"/>
          <p:cNvSpPr txBox="1"/>
          <p:nvPr/>
        </p:nvSpPr>
        <p:spPr>
          <a:xfrm>
            <a:off x="8311896" y="3547872"/>
            <a:ext cx="2834640" cy="1170432"/>
          </a:xfrm>
          <a:prstGeom prst="rect">
            <a:avLst/>
          </a:prstGeom>
          <a:noFill/>
          <a:ln/>
        </p:spPr>
        <p:txBody>
          <a:bodyPr wrap="square" lIns="0" tIns="0" rIns="0" bIns="0" rtlCol="0" anchor="t"/>
          <a:lstStyle/>
          <a:p>
            <a:pPr indent="0" marL="0">
              <a:lnSpc>
                <a:spcPct val="116000"/>
              </a:lnSpc>
              <a:buNone/>
            </a:pPr>
            <a:r>
              <a:rPr lang="en-US" sz="1250" dirty="0">
                <a:solidFill>
                  <a:srgbClr val="352E4A"/>
                </a:solidFill>
                <a:latin typeface="Inter" pitchFamily="34" charset="0"/>
                <a:ea typeface="Inter" pitchFamily="34" charset="-122"/>
                <a:cs typeface="Inter" pitchFamily="34" charset="-120"/>
              </a:rPr>
              <a:t>An 86-participant A/B test, roughly 30 interviews, two questionnaires, and four competitions judged by panels outside the university.</a:t>
            </a:r>
            <a:endParaRPr lang="en-US" sz="1250" dirty="0"/>
          </a:p>
        </p:txBody>
      </p:sp>
      <p:sp>
        <p:nvSpPr>
          <p:cNvPr id="20" name="Shape 17"/>
          <p:cNvSpPr/>
          <p:nvPr/>
        </p:nvSpPr>
        <p:spPr>
          <a:xfrm>
            <a:off x="502920" y="5138928"/>
            <a:ext cx="11183112" cy="1005840"/>
          </a:xfrm>
          <a:prstGeom prst="roundRect">
            <a:avLst>
              <a:gd name="adj" fmla="val 7273"/>
            </a:avLst>
          </a:prstGeom>
          <a:solidFill>
            <a:srgbClr val="F5F2FF"/>
          </a:solidFill>
          <a:ln/>
        </p:spPr>
      </p:sp>
      <p:sp>
        <p:nvSpPr>
          <p:cNvPr id="21" name="Text 18"/>
          <p:cNvSpPr txBox="1"/>
          <p:nvPr/>
        </p:nvSpPr>
        <p:spPr>
          <a:xfrm>
            <a:off x="886968" y="5138928"/>
            <a:ext cx="10415016" cy="1005840"/>
          </a:xfrm>
          <a:prstGeom prst="rect">
            <a:avLst/>
          </a:prstGeom>
          <a:noFill/>
          <a:ln/>
        </p:spPr>
        <p:txBody>
          <a:bodyPr wrap="square" lIns="0" tIns="0" rIns="0" bIns="0" rtlCol="0" anchor="ctr"/>
          <a:lstStyle/>
          <a:p>
            <a:pPr indent="0" marL="0">
              <a:lnSpc>
                <a:spcPct val="120000"/>
              </a:lnSpc>
              <a:buNone/>
            </a:pPr>
            <a:r>
              <a:rPr lang="en-US" sz="1250" dirty="0">
                <a:solidFill>
                  <a:srgbClr val="352E4A"/>
                </a:solidFill>
                <a:latin typeface="Inter" pitchFamily="34" charset="0"/>
                <a:ea typeface="Inter" pitchFamily="34" charset="-122"/>
                <a:cs typeface="Inter" pitchFamily="34" charset="-120"/>
              </a:rPr>
              <a:t>We would bring Research and Technology depth into the track as well — </a:t>
            </a:r>
            <a:pPr indent="0" marL="0">
              <a:lnSpc>
                <a:spcPct val="120000"/>
              </a:lnSpc>
              <a:buNone/>
            </a:pPr>
            <a:r>
              <a:rPr lang="en-US" sz="1250" dirty="0">
                <a:solidFill>
                  <a:srgbClr val="352E4A"/>
                </a:solidFill>
                <a:latin typeface="Inter" pitchFamily="34" charset="0"/>
                <a:ea typeface="Inter" pitchFamily="34" charset="-122"/>
                <a:cs typeface="Inter" pitchFamily="34" charset="-120"/>
              </a:rPr>
              <a:t>the AI-native pipeline, the two-pools-one-gate ingestion architecture, and the four stress-test passes that keep the confidence signal defensible.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D3CA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THE NEW CONTRIBUTION · CONTINUATION IS NOT REPETITION</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What Year 4 adds that Year 3 did not</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9</a:t>
            </a:r>
            <a:endParaRPr lang="en-US" sz="950" dirty="0"/>
          </a:p>
        </p:txBody>
      </p:sp>
      <p:sp>
        <p:nvSpPr>
          <p:cNvPr id="10" name="Shape 7"/>
          <p:cNvSpPr/>
          <p:nvPr/>
        </p:nvSpPr>
        <p:spPr>
          <a:xfrm>
            <a:off x="502920" y="2103120"/>
            <a:ext cx="5394960" cy="3200400"/>
          </a:xfrm>
          <a:prstGeom prst="roundRect">
            <a:avLst>
              <a:gd name="adj" fmla="val 2286"/>
            </a:avLst>
          </a:prstGeom>
          <a:solidFill>
            <a:srgbClr val="F5F2FF"/>
          </a:solidFill>
          <a:ln/>
          <a:effectLst>
            <a:outerShdw sx="100000" sy="100000" kx="0" ky="0" algn="bl" rotWithShape="0" blurRad="127000" dist="25400" dir="5400000">
              <a:srgbClr val="352E4A">
                <a:alpha val="13000"/>
              </a:srgbClr>
            </a:outerShdw>
          </a:effectLst>
        </p:spPr>
      </p:sp>
      <p:sp>
        <p:nvSpPr>
          <p:cNvPr id="11" name="Text 8"/>
          <p:cNvSpPr txBox="1"/>
          <p:nvPr/>
        </p:nvSpPr>
        <p:spPr>
          <a:xfrm>
            <a:off x="832104" y="2340864"/>
            <a:ext cx="4736592" cy="256032"/>
          </a:xfrm>
          <a:prstGeom prst="rect">
            <a:avLst/>
          </a:prstGeom>
          <a:noFill/>
          <a:ln/>
        </p:spPr>
        <p:txBody>
          <a:bodyPr wrap="square" lIns="0" tIns="0" rIns="0" bIns="0" rtlCol="0" anchor="ctr"/>
          <a:lstStyle/>
          <a:p>
            <a:pPr indent="0" marL="0">
              <a:buNone/>
            </a:pPr>
            <a:r>
              <a:rPr lang="en-US" sz="1050" b="1" dirty="0">
                <a:solidFill>
                  <a:srgbClr val="6E6787"/>
                </a:solidFill>
                <a:latin typeface="Inter" pitchFamily="34" charset="0"/>
                <a:ea typeface="Inter" pitchFamily="34" charset="-122"/>
                <a:cs typeface="Inter" pitchFamily="34" charset="-120"/>
              </a:rPr>
              <a:t>YEAR 3 — ALREADY DONE</a:t>
            </a:r>
            <a:endParaRPr lang="en-US" sz="1050" dirty="0"/>
          </a:p>
        </p:txBody>
      </p:sp>
      <p:sp>
        <p:nvSpPr>
          <p:cNvPr id="12" name="Text 9"/>
          <p:cNvSpPr txBox="1"/>
          <p:nvPr/>
        </p:nvSpPr>
        <p:spPr>
          <a:xfrm>
            <a:off x="832104" y="2743200"/>
            <a:ext cx="4736592" cy="23774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352E4A"/>
                </a:solidFill>
                <a:latin typeface="Inter" pitchFamily="34" charset="0"/>
                <a:ea typeface="Inter" pitchFamily="34" charset="-122"/>
                <a:cs typeface="Inter" pitchFamily="34" charset="-120"/>
              </a:rPr>
              <a:t>The problem defined and measured</a:t>
            </a:r>
            <a:endParaRPr lang="en-US" sz="1300" dirty="0"/>
          </a:p>
          <a:p>
            <a:pPr marL="342900" indent="-342900">
              <a:spcAft>
                <a:spcPts val="1000"/>
              </a:spcAft>
              <a:buSzPct val="100000"/>
              <a:buChar char="•"/>
            </a:pPr>
            <a:r>
              <a:rPr lang="en-US" sz="1300" dirty="0">
                <a:solidFill>
                  <a:srgbClr val="352E4A"/>
                </a:solidFill>
                <a:latin typeface="Inter" pitchFamily="34" charset="0"/>
                <a:ea typeface="Inter" pitchFamily="34" charset="-122"/>
                <a:cs typeface="Inter" pitchFamily="34" charset="-120"/>
              </a:rPr>
              <a:t>Five design generations, user-tested</a:t>
            </a:r>
            <a:endParaRPr lang="en-US" sz="1300" dirty="0"/>
          </a:p>
          <a:p>
            <a:pPr marL="342900" indent="-342900">
              <a:spcAft>
                <a:spcPts val="1000"/>
              </a:spcAft>
              <a:buSzPct val="100000"/>
              <a:buChar char="•"/>
            </a:pPr>
            <a:r>
              <a:rPr lang="en-US" sz="1300" dirty="0">
                <a:solidFill>
                  <a:srgbClr val="352E4A"/>
                </a:solidFill>
                <a:latin typeface="Inter" pitchFamily="34" charset="0"/>
                <a:ea typeface="Inter" pitchFamily="34" charset="-122"/>
                <a:cs typeface="Inter" pitchFamily="34" charset="-120"/>
              </a:rPr>
              <a:t>A decided confidence-signal design</a:t>
            </a:r>
            <a:endParaRPr lang="en-US" sz="1300" dirty="0"/>
          </a:p>
          <a:p>
            <a:pPr marL="342900" indent="-342900">
              <a:spcAft>
                <a:spcPts val="1000"/>
              </a:spcAft>
              <a:buSzPct val="100000"/>
              <a:buChar char="•"/>
            </a:pPr>
            <a:r>
              <a:rPr lang="en-US" sz="1300" dirty="0">
                <a:solidFill>
                  <a:srgbClr val="352E4A"/>
                </a:solidFill>
                <a:latin typeface="Inter" pitchFamily="34" charset="0"/>
                <a:ea typeface="Inter" pitchFamily="34" charset="-122"/>
                <a:cs typeface="Inter" pitchFamily="34" charset="-120"/>
              </a:rPr>
              <a:t>Four documented stress-test passes</a:t>
            </a:r>
            <a:endParaRPr lang="en-US" sz="1300" dirty="0"/>
          </a:p>
          <a:p>
            <a:pPr marL="342900" indent="-342900">
              <a:spcAft>
                <a:spcPts val="1000"/>
              </a:spcAft>
              <a:buSzPct val="100000"/>
              <a:buChar char="•"/>
            </a:pPr>
            <a:r>
              <a:rPr lang="en-US" sz="1300" dirty="0">
                <a:solidFill>
                  <a:srgbClr val="352E4A"/>
                </a:solidFill>
                <a:latin typeface="Inter" pitchFamily="34" charset="0"/>
                <a:ea typeface="Inter" pitchFamily="34" charset="-122"/>
                <a:cs typeface="Inter" pitchFamily="34" charset="-120"/>
              </a:rPr>
              <a:t>A pre-launch MVP that has never met a real reader</a:t>
            </a:r>
            <a:endParaRPr lang="en-US" sz="1300" dirty="0"/>
          </a:p>
        </p:txBody>
      </p:sp>
      <p:sp>
        <p:nvSpPr>
          <p:cNvPr id="13" name="Shape 10"/>
          <p:cNvSpPr/>
          <p:nvPr/>
        </p:nvSpPr>
        <p:spPr>
          <a:xfrm>
            <a:off x="6291072" y="2103120"/>
            <a:ext cx="5394960" cy="3200400"/>
          </a:xfrm>
          <a:prstGeom prst="roundRect">
            <a:avLst>
              <a:gd name="adj" fmla="val 2286"/>
            </a:avLst>
          </a:prstGeom>
          <a:solidFill>
            <a:srgbClr val="11256A"/>
          </a:solidFill>
          <a:ln/>
        </p:spPr>
      </p:sp>
      <p:sp>
        <p:nvSpPr>
          <p:cNvPr id="14" name="Text 11"/>
          <p:cNvSpPr txBox="1"/>
          <p:nvPr/>
        </p:nvSpPr>
        <p:spPr>
          <a:xfrm>
            <a:off x="6620256" y="2340864"/>
            <a:ext cx="4736592" cy="256032"/>
          </a:xfrm>
          <a:prstGeom prst="rect">
            <a:avLst/>
          </a:prstGeom>
          <a:noFill/>
          <a:ln/>
        </p:spPr>
        <p:txBody>
          <a:bodyPr wrap="square" lIns="0" tIns="0" rIns="0" bIns="0" rtlCol="0" anchor="ctr"/>
          <a:lstStyle/>
          <a:p>
            <a:pPr indent="0" marL="0">
              <a:buNone/>
            </a:pPr>
            <a:r>
              <a:rPr lang="en-US" sz="1050" b="1" dirty="0">
                <a:solidFill>
                  <a:srgbClr val="C9FA85"/>
                </a:solidFill>
                <a:latin typeface="Inter" pitchFamily="34" charset="0"/>
                <a:ea typeface="Inter" pitchFamily="34" charset="-122"/>
                <a:cs typeface="Inter" pitchFamily="34" charset="-120"/>
              </a:rPr>
              <a:t>YEAR 4 — THE NEW CONTRIBUTION</a:t>
            </a:r>
            <a:endParaRPr lang="en-US" sz="1050" dirty="0"/>
          </a:p>
        </p:txBody>
      </p:sp>
      <p:sp>
        <p:nvSpPr>
          <p:cNvPr id="15" name="Text 12"/>
          <p:cNvSpPr txBox="1"/>
          <p:nvPr/>
        </p:nvSpPr>
        <p:spPr>
          <a:xfrm>
            <a:off x="6620256" y="2743200"/>
            <a:ext cx="4736592" cy="23774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FFFFF"/>
                </a:solidFill>
                <a:latin typeface="Inter" pitchFamily="34" charset="0"/>
                <a:ea typeface="Inter" pitchFamily="34" charset="-122"/>
                <a:cs typeface="Inter" pitchFamily="34" charset="-120"/>
              </a:rPr>
              <a:t>Ship it — a public beta on real, live news</a:t>
            </a:r>
            <a:endParaRPr lang="en-US" sz="1300" dirty="0"/>
          </a:p>
          <a:p>
            <a:pPr marL="342900" indent="-342900">
              <a:spcAft>
                <a:spcPts val="1000"/>
              </a:spcAft>
              <a:buSzPct val="100000"/>
              <a:buChar char="•"/>
            </a:pPr>
            <a:r>
              <a:rPr lang="en-US" sz="1300" dirty="0">
                <a:solidFill>
                  <a:srgbClr val="FFFFFF"/>
                </a:solidFill>
                <a:latin typeface="Inter" pitchFamily="34" charset="0"/>
                <a:ea typeface="Inter" pitchFamily="34" charset="-122"/>
                <a:cs typeface="Inter" pitchFamily="34" charset="-120"/>
              </a:rPr>
              <a:t>Real readers in real sessions, measured</a:t>
            </a:r>
            <a:endParaRPr lang="en-US" sz="1300" dirty="0"/>
          </a:p>
          <a:p>
            <a:pPr marL="342900" indent="-342900">
              <a:spcAft>
                <a:spcPts val="1000"/>
              </a:spcAft>
              <a:buSzPct val="100000"/>
              <a:buChar char="•"/>
            </a:pPr>
            <a:r>
              <a:rPr lang="en-US" sz="1300" dirty="0">
                <a:solidFill>
                  <a:srgbClr val="FFFFFF"/>
                </a:solidFill>
                <a:latin typeface="Inter" pitchFamily="34" charset="0"/>
                <a:ea typeface="Inter" pitchFamily="34" charset="-122"/>
                <a:cs typeface="Inter" pitchFamily="34" charset="-120"/>
              </a:rPr>
              <a:t>First paying users, and the pricing tested</a:t>
            </a:r>
            <a:endParaRPr lang="en-US" sz="1300" dirty="0"/>
          </a:p>
          <a:p>
            <a:pPr marL="342900" indent="-342900">
              <a:spcAft>
                <a:spcPts val="1000"/>
              </a:spcAft>
              <a:buSzPct val="100000"/>
              <a:buChar char="•"/>
            </a:pPr>
            <a:r>
              <a:rPr lang="en-US" sz="1300" dirty="0">
                <a:solidFill>
                  <a:srgbClr val="FFFFFF"/>
                </a:solidFill>
                <a:latin typeface="Inter" pitchFamily="34" charset="0"/>
                <a:ea typeface="Inter" pitchFamily="34" charset="-122"/>
                <a:cs typeface="Inter" pitchFamily="34" charset="-120"/>
              </a:rPr>
              <a:t>The stress tests automated as a regression suite</a:t>
            </a:r>
            <a:endParaRPr lang="en-US" sz="1300" dirty="0"/>
          </a:p>
          <a:p>
            <a:pPr marL="342900" indent="-342900">
              <a:spcAft>
                <a:spcPts val="1000"/>
              </a:spcAft>
              <a:buSzPct val="100000"/>
              <a:buChar char="•"/>
            </a:pPr>
            <a:r>
              <a:rPr lang="en-US" sz="1300" dirty="0">
                <a:solidFill>
                  <a:srgbClr val="FFFFFF"/>
                </a:solidFill>
                <a:latin typeface="Inter" pitchFamily="34" charset="0"/>
                <a:ea typeface="Inter" pitchFamily="34" charset="-122"/>
                <a:cs typeface="Inter" pitchFamily="34" charset="-120"/>
              </a:rPr>
              <a:t>The provisional patent filed</a:t>
            </a:r>
            <a:endParaRPr lang="en-US" sz="1300" dirty="0"/>
          </a:p>
        </p:txBody>
      </p:sp>
      <p:sp>
        <p:nvSpPr>
          <p:cNvPr id="16" name="Shape 13"/>
          <p:cNvSpPr/>
          <p:nvPr/>
        </p:nvSpPr>
        <p:spPr>
          <a:xfrm>
            <a:off x="502920" y="5504688"/>
            <a:ext cx="11183112" cy="658368"/>
          </a:xfrm>
          <a:prstGeom prst="roundRect">
            <a:avLst>
              <a:gd name="adj" fmla="val 11111"/>
            </a:avLst>
          </a:prstGeom>
          <a:solidFill>
            <a:srgbClr val="C9FA85"/>
          </a:solidFill>
          <a:ln/>
        </p:spPr>
      </p:sp>
      <p:sp>
        <p:nvSpPr>
          <p:cNvPr id="17" name="Text 14"/>
          <p:cNvSpPr txBox="1"/>
          <p:nvPr/>
        </p:nvSpPr>
        <p:spPr>
          <a:xfrm>
            <a:off x="886968" y="5504688"/>
            <a:ext cx="10415016" cy="658368"/>
          </a:xfrm>
          <a:prstGeom prst="rect">
            <a:avLst/>
          </a:prstGeom>
          <a:noFill/>
          <a:ln/>
        </p:spPr>
        <p:txBody>
          <a:bodyPr wrap="square" lIns="0" tIns="0" rIns="0" bIns="0" rtlCol="0" anchor="ctr"/>
          <a:lstStyle/>
          <a:p>
            <a:pPr indent="0" marL="0">
              <a:buNone/>
            </a:pPr>
            <a:r>
              <a:rPr lang="en-US" sz="1600" b="1" dirty="0">
                <a:solidFill>
                  <a:srgbClr val="11256A"/>
                </a:solidFill>
                <a:latin typeface="Space Grotesk" pitchFamily="34" charset="0"/>
                <a:ea typeface="Space Grotesk" pitchFamily="34" charset="-122"/>
                <a:cs typeface="Space Grotesk" pitchFamily="34" charset="-120"/>
              </a:rPr>
              <a:t>Year 3 showed that people want this. Year 4 has to show that they will use it, and pay for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C7D1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PLAN · THE NEXT TEN MONTHS</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How Year 4 runs on the FYP calendar</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10</a:t>
            </a:r>
            <a:endParaRPr lang="en-US" sz="950" dirty="0"/>
          </a:p>
        </p:txBody>
      </p:sp>
      <p:sp>
        <p:nvSpPr>
          <p:cNvPr id="10" name="Shape 7"/>
          <p:cNvSpPr/>
          <p:nvPr/>
        </p:nvSpPr>
        <p:spPr>
          <a:xfrm>
            <a:off x="1051560" y="4905756"/>
            <a:ext cx="10085832" cy="27432"/>
          </a:xfrm>
          <a:prstGeom prst="rect">
            <a:avLst/>
          </a:prstGeom>
          <a:solidFill>
            <a:srgbClr val="E2DBF0"/>
          </a:solidFill>
          <a:ln/>
        </p:spPr>
      </p:sp>
      <p:sp>
        <p:nvSpPr>
          <p:cNvPr id="11" name="Shape 8"/>
          <p:cNvSpPr/>
          <p:nvPr/>
        </p:nvSpPr>
        <p:spPr>
          <a:xfrm>
            <a:off x="502920" y="2103120"/>
            <a:ext cx="2057400" cy="2487168"/>
          </a:xfrm>
          <a:prstGeom prst="roundRect">
            <a:avLst>
              <a:gd name="adj" fmla="val 3556"/>
            </a:avLst>
          </a:prstGeom>
          <a:solidFill>
            <a:srgbClr val="D3CAFF"/>
          </a:solidFill>
          <a:ln/>
          <a:effectLst>
            <a:outerShdw sx="100000" sy="100000" kx="0" ky="0" algn="bl" rotWithShape="0" blurRad="127000" dist="25400" dir="5400000">
              <a:srgbClr val="352E4A">
                <a:alpha val="13000"/>
              </a:srgbClr>
            </a:outerShdw>
          </a:effectLst>
        </p:spPr>
      </p:sp>
      <p:sp>
        <p:nvSpPr>
          <p:cNvPr id="12" name="Shape 9"/>
          <p:cNvSpPr/>
          <p:nvPr/>
        </p:nvSpPr>
        <p:spPr>
          <a:xfrm>
            <a:off x="521208" y="2103120"/>
            <a:ext cx="2020824" cy="73152"/>
          </a:xfrm>
          <a:prstGeom prst="rect">
            <a:avLst/>
          </a:prstGeom>
          <a:solidFill>
            <a:srgbClr val="C9FA85"/>
          </a:solidFill>
          <a:ln/>
        </p:spPr>
      </p:sp>
      <p:sp>
        <p:nvSpPr>
          <p:cNvPr id="13" name="Text 10"/>
          <p:cNvSpPr txBox="1"/>
          <p:nvPr/>
        </p:nvSpPr>
        <p:spPr>
          <a:xfrm>
            <a:off x="722376" y="2322576"/>
            <a:ext cx="1645920" cy="237744"/>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SEP 2026</a:t>
            </a:r>
            <a:endParaRPr lang="en-US" sz="1050" dirty="0"/>
          </a:p>
        </p:txBody>
      </p:sp>
      <p:sp>
        <p:nvSpPr>
          <p:cNvPr id="14" name="Text 11"/>
          <p:cNvSpPr txBox="1"/>
          <p:nvPr/>
        </p:nvSpPr>
        <p:spPr>
          <a:xfrm>
            <a:off x="722376" y="2615184"/>
            <a:ext cx="1645920" cy="329184"/>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Lock and pitch</a:t>
            </a:r>
            <a:endParaRPr lang="en-US" sz="1500" dirty="0"/>
          </a:p>
        </p:txBody>
      </p:sp>
      <p:sp>
        <p:nvSpPr>
          <p:cNvPr id="15" name="Text 12"/>
          <p:cNvSpPr txBox="1"/>
          <p:nvPr/>
        </p:nvSpPr>
        <p:spPr>
          <a:xfrm>
            <a:off x="722376" y="3017520"/>
            <a:ext cx="1645920" cy="137160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Confirm topic, advisor and track. InnoX bootcamp, 19–20 September: two rounds of pitching.</a:t>
            </a:r>
            <a:endParaRPr lang="en-US" sz="1100" dirty="0"/>
          </a:p>
        </p:txBody>
      </p:sp>
      <p:sp>
        <p:nvSpPr>
          <p:cNvPr id="16" name="Shape 13"/>
          <p:cNvSpPr/>
          <p:nvPr/>
        </p:nvSpPr>
        <p:spPr>
          <a:xfrm>
            <a:off x="1440180" y="4828032"/>
            <a:ext cx="182880" cy="182880"/>
          </a:xfrm>
          <a:prstGeom prst="ellipse">
            <a:avLst/>
          </a:prstGeom>
          <a:solidFill>
            <a:srgbClr val="C9FA85"/>
          </a:solidFill>
          <a:ln w="19050">
            <a:solidFill>
              <a:srgbClr val="FFFFFF"/>
            </a:solidFill>
            <a:prstDash val="solid"/>
          </a:ln>
        </p:spPr>
      </p:sp>
      <p:sp>
        <p:nvSpPr>
          <p:cNvPr id="17" name="Shape 14"/>
          <p:cNvSpPr/>
          <p:nvPr/>
        </p:nvSpPr>
        <p:spPr>
          <a:xfrm>
            <a:off x="2743200" y="2103120"/>
            <a:ext cx="2057400" cy="2487168"/>
          </a:xfrm>
          <a:prstGeom prst="roundRect">
            <a:avLst>
              <a:gd name="adj" fmla="val 3556"/>
            </a:avLst>
          </a:prstGeom>
          <a:solidFill>
            <a:srgbClr val="F5F2FF"/>
          </a:solidFill>
          <a:ln/>
          <a:effectLst>
            <a:outerShdw sx="100000" sy="100000" kx="0" ky="0" algn="bl" rotWithShape="0" blurRad="127000" dist="25400" dir="5400000">
              <a:srgbClr val="352E4A">
                <a:alpha val="13000"/>
              </a:srgbClr>
            </a:outerShdw>
          </a:effectLst>
        </p:spPr>
      </p:sp>
      <p:sp>
        <p:nvSpPr>
          <p:cNvPr id="18" name="Shape 15"/>
          <p:cNvSpPr/>
          <p:nvPr/>
        </p:nvSpPr>
        <p:spPr>
          <a:xfrm>
            <a:off x="2761488" y="2103120"/>
            <a:ext cx="2020824" cy="73152"/>
          </a:xfrm>
          <a:prstGeom prst="rect">
            <a:avLst/>
          </a:prstGeom>
          <a:solidFill>
            <a:srgbClr val="800080"/>
          </a:solidFill>
          <a:ln/>
        </p:spPr>
      </p:sp>
      <p:sp>
        <p:nvSpPr>
          <p:cNvPr id="19" name="Text 16"/>
          <p:cNvSpPr txBox="1"/>
          <p:nvPr/>
        </p:nvSpPr>
        <p:spPr>
          <a:xfrm>
            <a:off x="2962656" y="2322576"/>
            <a:ext cx="1645920" cy="237744"/>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OCT 2026</a:t>
            </a:r>
            <a:endParaRPr lang="en-US" sz="1050" dirty="0"/>
          </a:p>
        </p:txBody>
      </p:sp>
      <p:sp>
        <p:nvSpPr>
          <p:cNvPr id="20" name="Text 17"/>
          <p:cNvSpPr txBox="1"/>
          <p:nvPr/>
        </p:nvSpPr>
        <p:spPr>
          <a:xfrm>
            <a:off x="2962656" y="2615184"/>
            <a:ext cx="1645920" cy="329184"/>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Plan and prove</a:t>
            </a:r>
            <a:endParaRPr lang="en-US" sz="1500" dirty="0"/>
          </a:p>
        </p:txBody>
      </p:sp>
      <p:sp>
        <p:nvSpPr>
          <p:cNvPr id="21" name="Text 18"/>
          <p:cNvSpPr txBox="1"/>
          <p:nvPr/>
        </p:nvSpPr>
        <p:spPr>
          <a:xfrm>
            <a:off x="2962656" y="3017520"/>
            <a:ext cx="1645920" cy="137160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Detailed project plan and feasibility: ingestion breadth, cost model, and the scope of the beta.</a:t>
            </a:r>
            <a:endParaRPr lang="en-US" sz="1100" dirty="0"/>
          </a:p>
        </p:txBody>
      </p:sp>
      <p:sp>
        <p:nvSpPr>
          <p:cNvPr id="22" name="Shape 19"/>
          <p:cNvSpPr/>
          <p:nvPr/>
        </p:nvSpPr>
        <p:spPr>
          <a:xfrm>
            <a:off x="3680460" y="4828032"/>
            <a:ext cx="182880" cy="182880"/>
          </a:xfrm>
          <a:prstGeom prst="ellipse">
            <a:avLst/>
          </a:prstGeom>
          <a:solidFill>
            <a:srgbClr val="800080"/>
          </a:solidFill>
          <a:ln w="19050">
            <a:solidFill>
              <a:srgbClr val="FFFFFF"/>
            </a:solidFill>
            <a:prstDash val="solid"/>
          </a:ln>
        </p:spPr>
      </p:sp>
      <p:sp>
        <p:nvSpPr>
          <p:cNvPr id="23" name="Shape 20"/>
          <p:cNvSpPr/>
          <p:nvPr/>
        </p:nvSpPr>
        <p:spPr>
          <a:xfrm>
            <a:off x="4983480" y="2103120"/>
            <a:ext cx="2057400" cy="2487168"/>
          </a:xfrm>
          <a:prstGeom prst="roundRect">
            <a:avLst>
              <a:gd name="adj" fmla="val 3556"/>
            </a:avLst>
          </a:prstGeom>
          <a:solidFill>
            <a:srgbClr val="F5F2FF"/>
          </a:solidFill>
          <a:ln/>
          <a:effectLst>
            <a:outerShdw sx="100000" sy="100000" kx="0" ky="0" algn="bl" rotWithShape="0" blurRad="127000" dist="25400" dir="5400000">
              <a:srgbClr val="352E4A">
                <a:alpha val="13000"/>
              </a:srgbClr>
            </a:outerShdw>
          </a:effectLst>
        </p:spPr>
      </p:sp>
      <p:sp>
        <p:nvSpPr>
          <p:cNvPr id="24" name="Shape 21"/>
          <p:cNvSpPr/>
          <p:nvPr/>
        </p:nvSpPr>
        <p:spPr>
          <a:xfrm>
            <a:off x="5001768" y="2103120"/>
            <a:ext cx="2020824" cy="73152"/>
          </a:xfrm>
          <a:prstGeom prst="rect">
            <a:avLst/>
          </a:prstGeom>
          <a:solidFill>
            <a:srgbClr val="11256A"/>
          </a:solidFill>
          <a:ln/>
        </p:spPr>
      </p:sp>
      <p:sp>
        <p:nvSpPr>
          <p:cNvPr id="25" name="Text 22"/>
          <p:cNvSpPr txBox="1"/>
          <p:nvPr/>
        </p:nvSpPr>
        <p:spPr>
          <a:xfrm>
            <a:off x="5202936" y="2322576"/>
            <a:ext cx="1645920" cy="237744"/>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NOV – DEC 2026</a:t>
            </a:r>
            <a:endParaRPr lang="en-US" sz="1050" dirty="0"/>
          </a:p>
        </p:txBody>
      </p:sp>
      <p:sp>
        <p:nvSpPr>
          <p:cNvPr id="26" name="Text 23"/>
          <p:cNvSpPr txBox="1"/>
          <p:nvPr/>
        </p:nvSpPr>
        <p:spPr>
          <a:xfrm>
            <a:off x="5202936" y="2615184"/>
            <a:ext cx="1645920" cy="329184"/>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Build and launch</a:t>
            </a:r>
            <a:endParaRPr lang="en-US" sz="1500" dirty="0"/>
          </a:p>
        </p:txBody>
      </p:sp>
      <p:sp>
        <p:nvSpPr>
          <p:cNvPr id="27" name="Text 24"/>
          <p:cNvSpPr txBox="1"/>
          <p:nvPr/>
        </p:nvSpPr>
        <p:spPr>
          <a:xfrm>
            <a:off x="5202936" y="3017520"/>
            <a:ext cx="1645920" cy="137160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Ship the public beta. First real readers on real news, alongside the mid-term deliverables.</a:t>
            </a:r>
            <a:endParaRPr lang="en-US" sz="1100" dirty="0"/>
          </a:p>
        </p:txBody>
      </p:sp>
      <p:sp>
        <p:nvSpPr>
          <p:cNvPr id="28" name="Shape 25"/>
          <p:cNvSpPr/>
          <p:nvPr/>
        </p:nvSpPr>
        <p:spPr>
          <a:xfrm>
            <a:off x="5920740" y="4828032"/>
            <a:ext cx="182880" cy="182880"/>
          </a:xfrm>
          <a:prstGeom prst="ellipse">
            <a:avLst/>
          </a:prstGeom>
          <a:solidFill>
            <a:srgbClr val="11256A"/>
          </a:solidFill>
          <a:ln w="19050">
            <a:solidFill>
              <a:srgbClr val="FFFFFF"/>
            </a:solidFill>
            <a:prstDash val="solid"/>
          </a:ln>
        </p:spPr>
      </p:sp>
      <p:sp>
        <p:nvSpPr>
          <p:cNvPr id="29" name="Shape 26"/>
          <p:cNvSpPr/>
          <p:nvPr/>
        </p:nvSpPr>
        <p:spPr>
          <a:xfrm>
            <a:off x="7223760" y="2103120"/>
            <a:ext cx="2057400" cy="2487168"/>
          </a:xfrm>
          <a:prstGeom prst="roundRect">
            <a:avLst>
              <a:gd name="adj" fmla="val 3556"/>
            </a:avLst>
          </a:prstGeom>
          <a:solidFill>
            <a:srgbClr val="F5F2FF"/>
          </a:solidFill>
          <a:ln/>
          <a:effectLst>
            <a:outerShdw sx="100000" sy="100000" kx="0" ky="0" algn="bl" rotWithShape="0" blurRad="127000" dist="25400" dir="5400000">
              <a:srgbClr val="352E4A">
                <a:alpha val="13000"/>
              </a:srgbClr>
            </a:outerShdw>
          </a:effectLst>
        </p:spPr>
      </p:sp>
      <p:sp>
        <p:nvSpPr>
          <p:cNvPr id="30" name="Shape 27"/>
          <p:cNvSpPr/>
          <p:nvPr/>
        </p:nvSpPr>
        <p:spPr>
          <a:xfrm>
            <a:off x="7242048" y="2103120"/>
            <a:ext cx="2020824" cy="73152"/>
          </a:xfrm>
          <a:prstGeom prst="rect">
            <a:avLst/>
          </a:prstGeom>
          <a:solidFill>
            <a:srgbClr val="667DFF"/>
          </a:solidFill>
          <a:ln/>
        </p:spPr>
      </p:sp>
      <p:sp>
        <p:nvSpPr>
          <p:cNvPr id="31" name="Text 28"/>
          <p:cNvSpPr txBox="1"/>
          <p:nvPr/>
        </p:nvSpPr>
        <p:spPr>
          <a:xfrm>
            <a:off x="7443216" y="2322576"/>
            <a:ext cx="1645920" cy="237744"/>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JAN – MAY 2027</a:t>
            </a:r>
            <a:endParaRPr lang="en-US" sz="1050" dirty="0"/>
          </a:p>
        </p:txBody>
      </p:sp>
      <p:sp>
        <p:nvSpPr>
          <p:cNvPr id="32" name="Text 29"/>
          <p:cNvSpPr txBox="1"/>
          <p:nvPr/>
        </p:nvSpPr>
        <p:spPr>
          <a:xfrm>
            <a:off x="7443216" y="2615184"/>
            <a:ext cx="1645920" cy="329184"/>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Live iteration</a:t>
            </a:r>
            <a:endParaRPr lang="en-US" sz="1500" dirty="0"/>
          </a:p>
        </p:txBody>
      </p:sp>
      <p:sp>
        <p:nvSpPr>
          <p:cNvPr id="33" name="Text 30"/>
          <p:cNvSpPr txBox="1"/>
          <p:nvPr/>
        </p:nvSpPr>
        <p:spPr>
          <a:xfrm>
            <a:off x="7443216" y="3017520"/>
            <a:ext cx="1645920" cy="137160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User testing on genuine sessions, commercial validation, first paying users, patent filed.</a:t>
            </a:r>
            <a:endParaRPr lang="en-US" sz="1100" dirty="0"/>
          </a:p>
        </p:txBody>
      </p:sp>
      <p:sp>
        <p:nvSpPr>
          <p:cNvPr id="34" name="Shape 31"/>
          <p:cNvSpPr/>
          <p:nvPr/>
        </p:nvSpPr>
        <p:spPr>
          <a:xfrm>
            <a:off x="8161020" y="4828032"/>
            <a:ext cx="182880" cy="182880"/>
          </a:xfrm>
          <a:prstGeom prst="ellipse">
            <a:avLst/>
          </a:prstGeom>
          <a:solidFill>
            <a:srgbClr val="667DFF"/>
          </a:solidFill>
          <a:ln w="19050">
            <a:solidFill>
              <a:srgbClr val="FFFFFF"/>
            </a:solidFill>
            <a:prstDash val="solid"/>
          </a:ln>
        </p:spPr>
      </p:sp>
      <p:sp>
        <p:nvSpPr>
          <p:cNvPr id="35" name="Shape 32"/>
          <p:cNvSpPr/>
          <p:nvPr/>
        </p:nvSpPr>
        <p:spPr>
          <a:xfrm>
            <a:off x="9464040" y="2103120"/>
            <a:ext cx="2057400" cy="2487168"/>
          </a:xfrm>
          <a:prstGeom prst="roundRect">
            <a:avLst>
              <a:gd name="adj" fmla="val 3556"/>
            </a:avLst>
          </a:prstGeom>
          <a:solidFill>
            <a:srgbClr val="F5F2FF"/>
          </a:solidFill>
          <a:ln/>
          <a:effectLst>
            <a:outerShdw sx="100000" sy="100000" kx="0" ky="0" algn="bl" rotWithShape="0" blurRad="127000" dist="25400" dir="5400000">
              <a:srgbClr val="352E4A">
                <a:alpha val="13000"/>
              </a:srgbClr>
            </a:outerShdw>
          </a:effectLst>
        </p:spPr>
      </p:sp>
      <p:sp>
        <p:nvSpPr>
          <p:cNvPr id="36" name="Shape 33"/>
          <p:cNvSpPr/>
          <p:nvPr/>
        </p:nvSpPr>
        <p:spPr>
          <a:xfrm>
            <a:off x="9482328" y="2103120"/>
            <a:ext cx="2020824" cy="73152"/>
          </a:xfrm>
          <a:prstGeom prst="rect">
            <a:avLst/>
          </a:prstGeom>
          <a:solidFill>
            <a:srgbClr val="800080"/>
          </a:solidFill>
          <a:ln/>
        </p:spPr>
      </p:sp>
      <p:sp>
        <p:nvSpPr>
          <p:cNvPr id="37" name="Text 34"/>
          <p:cNvSpPr txBox="1"/>
          <p:nvPr/>
        </p:nvSpPr>
        <p:spPr>
          <a:xfrm>
            <a:off x="9683496" y="2322576"/>
            <a:ext cx="1645920" cy="237744"/>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JUN 2027</a:t>
            </a:r>
            <a:endParaRPr lang="en-US" sz="1050" dirty="0"/>
          </a:p>
        </p:txBody>
      </p:sp>
      <p:sp>
        <p:nvSpPr>
          <p:cNvPr id="38" name="Text 35"/>
          <p:cNvSpPr txBox="1"/>
          <p:nvPr/>
        </p:nvSpPr>
        <p:spPr>
          <a:xfrm>
            <a:off x="9683496" y="2615184"/>
            <a:ext cx="1645920" cy="329184"/>
          </a:xfrm>
          <a:prstGeom prst="rect">
            <a:avLst/>
          </a:prstGeom>
          <a:noFill/>
          <a:ln/>
        </p:spPr>
        <p:txBody>
          <a:bodyPr wrap="square" lIns="0" tIns="0" rIns="0" bIns="0" rtlCol="0" anchor="ctr"/>
          <a:lstStyle/>
          <a:p>
            <a:pPr indent="0" marL="0">
              <a:buNone/>
            </a:pPr>
            <a:r>
              <a:rPr lang="en-US" sz="1500" b="1" dirty="0">
                <a:solidFill>
                  <a:srgbClr val="11256A"/>
                </a:solidFill>
                <a:latin typeface="Space Grotesk" pitchFamily="34" charset="0"/>
                <a:ea typeface="Space Grotesk" pitchFamily="34" charset="-122"/>
                <a:cs typeface="Space Grotesk" pitchFamily="34" charset="-120"/>
              </a:rPr>
              <a:t>Final demo</a:t>
            </a:r>
            <a:endParaRPr lang="en-US" sz="1500" dirty="0"/>
          </a:p>
        </p:txBody>
      </p:sp>
      <p:sp>
        <p:nvSpPr>
          <p:cNvPr id="39" name="Text 36"/>
          <p:cNvSpPr txBox="1"/>
          <p:nvPr/>
        </p:nvSpPr>
        <p:spPr>
          <a:xfrm>
            <a:off x="9683496" y="3017520"/>
            <a:ext cx="1645920" cy="1371600"/>
          </a:xfrm>
          <a:prstGeom prst="rect">
            <a:avLst/>
          </a:prstGeom>
          <a:noFill/>
          <a:ln/>
        </p:spPr>
        <p:txBody>
          <a:bodyPr wrap="square" lIns="0" tIns="0" rIns="0" bIns="0" rtlCol="0" anchor="t"/>
          <a:lstStyle/>
          <a:p>
            <a:pPr indent="0" marL="0">
              <a:lnSpc>
                <a:spcPct val="114000"/>
              </a:lnSpc>
              <a:buNone/>
            </a:pPr>
            <a:r>
              <a:rPr lang="en-US" sz="1100" dirty="0">
                <a:solidFill>
                  <a:srgbClr val="352E4A"/>
                </a:solidFill>
                <a:latin typeface="Inter" pitchFamily="34" charset="0"/>
                <a:ea typeface="Inter" pitchFamily="34" charset="-122"/>
                <a:cs typeface="Inter" pitchFamily="34" charset="-120"/>
              </a:rPr>
              <a:t>A live product with real users and traction data behind it.</a:t>
            </a:r>
            <a:endParaRPr lang="en-US" sz="1100" dirty="0"/>
          </a:p>
        </p:txBody>
      </p:sp>
      <p:sp>
        <p:nvSpPr>
          <p:cNvPr id="40" name="Shape 37"/>
          <p:cNvSpPr/>
          <p:nvPr/>
        </p:nvSpPr>
        <p:spPr>
          <a:xfrm>
            <a:off x="10401300" y="4828032"/>
            <a:ext cx="182880" cy="182880"/>
          </a:xfrm>
          <a:prstGeom prst="ellipse">
            <a:avLst/>
          </a:prstGeom>
          <a:solidFill>
            <a:srgbClr val="800080"/>
          </a:solidFill>
          <a:ln w="19050">
            <a:solidFill>
              <a:srgbClr val="FFFFFF"/>
            </a:solidFill>
            <a:prstDash val="solid"/>
          </a:ln>
        </p:spPr>
      </p:sp>
      <p:sp>
        <p:nvSpPr>
          <p:cNvPr id="41" name="Shape 38"/>
          <p:cNvSpPr/>
          <p:nvPr/>
        </p:nvSpPr>
        <p:spPr>
          <a:xfrm>
            <a:off x="502920" y="5321808"/>
            <a:ext cx="11183112" cy="822960"/>
          </a:xfrm>
          <a:prstGeom prst="roundRect">
            <a:avLst>
              <a:gd name="adj" fmla="val 8889"/>
            </a:avLst>
          </a:prstGeom>
          <a:solidFill>
            <a:srgbClr val="F5F2FF"/>
          </a:solidFill>
          <a:ln/>
        </p:spPr>
      </p:sp>
      <p:sp>
        <p:nvSpPr>
          <p:cNvPr id="42" name="Text 39"/>
          <p:cNvSpPr txBox="1"/>
          <p:nvPr/>
        </p:nvSpPr>
        <p:spPr>
          <a:xfrm>
            <a:off x="886968" y="5321808"/>
            <a:ext cx="10415016" cy="822960"/>
          </a:xfrm>
          <a:prstGeom prst="rect">
            <a:avLst/>
          </a:prstGeom>
          <a:noFill/>
          <a:ln/>
        </p:spPr>
        <p:txBody>
          <a:bodyPr wrap="square" lIns="0" tIns="0" rIns="0" bIns="0" rtlCol="0" anchor="ctr"/>
          <a:lstStyle/>
          <a:p>
            <a:pPr indent="0" marL="0">
              <a:buNone/>
            </a:pPr>
            <a:r>
              <a:rPr lang="en-US" sz="1250" b="1" dirty="0">
                <a:solidFill>
                  <a:srgbClr val="800080"/>
                </a:solidFill>
                <a:latin typeface="Inter" pitchFamily="34" charset="0"/>
                <a:ea typeface="Inter" pitchFamily="34" charset="-122"/>
                <a:cs typeface="Inter" pitchFamily="34" charset="-120"/>
              </a:rPr>
              <a:t>ON INNOX:  </a:t>
            </a:r>
            <a:pPr indent="0" marL="0">
              <a:buNone/>
            </a:pPr>
            <a:r>
              <a:rPr lang="en-US" sz="1250" dirty="0">
                <a:solidFill>
                  <a:srgbClr val="352E4A"/>
                </a:solidFill>
                <a:latin typeface="Inter" pitchFamily="34" charset="0"/>
                <a:ea typeface="Inter" pitchFamily="34" charset="-122"/>
                <a:cs typeface="Inter" pitchFamily="34" charset="-120"/>
              </a:rPr>
              <a:t>the bootcamp lands at a useful moment for us. We would use its two pitching rounds to pressure-test the scope of the beta, not to look for a topic.</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8288" y="-18288"/>
            <a:ext cx="12234672" cy="1892808"/>
          </a:xfrm>
          <a:prstGeom prst="rect">
            <a:avLst/>
          </a:prstGeom>
          <a:solidFill>
            <a:srgbClr val="C7D1FF"/>
          </a:solidFill>
          <a:ln/>
        </p:spPr>
      </p:sp>
      <p:pic>
        <p:nvPicPr>
          <p:cNvPr id="3" name="Image 0" descr="preencoded.png">    </p:cNvPr>
          <p:cNvPicPr>
            <a:picLocks noChangeAspect="1"/>
          </p:cNvPicPr>
          <p:nvPr/>
        </p:nvPicPr>
        <p:blipFill>
          <a:blip r:embed="rId1"/>
          <a:stretch>
            <a:fillRect/>
          </a:stretch>
        </p:blipFill>
        <p:spPr>
          <a:xfrm>
            <a:off x="429768" y="219456"/>
            <a:ext cx="1143000" cy="420624"/>
          </a:xfrm>
          <a:prstGeom prst="rect">
            <a:avLst/>
          </a:prstGeom>
        </p:spPr>
      </p:pic>
      <p:sp>
        <p:nvSpPr>
          <p:cNvPr id="4" name="Text 1"/>
          <p:cNvSpPr txBox="1"/>
          <p:nvPr/>
        </p:nvSpPr>
        <p:spPr>
          <a:xfrm>
            <a:off x="6766560" y="338328"/>
            <a:ext cx="4919472" cy="274320"/>
          </a:xfrm>
          <a:prstGeom prst="rect">
            <a:avLst/>
          </a:prstGeom>
          <a:noFill/>
          <a:ln/>
        </p:spPr>
        <p:txBody>
          <a:bodyPr wrap="square" lIns="0" tIns="0" rIns="0" bIns="0" rtlCol="0" anchor="ctr"/>
          <a:lstStyle/>
          <a:p>
            <a:pPr algn="r" indent="0" marL="0">
              <a:buNone/>
            </a:pPr>
            <a:r>
              <a:rPr lang="en-US" sz="900" dirty="0">
                <a:solidFill>
                  <a:srgbClr val="3A466E"/>
                </a:solidFill>
                <a:latin typeface="Inter" pitchFamily="34" charset="0"/>
                <a:ea typeface="Inter" pitchFamily="34" charset="-122"/>
                <a:cs typeface="Inter" pitchFamily="34" charset="-120"/>
              </a:rPr>
              <a:t>ISDN 4001 · FYP PROPOSAL · 28 AUGUST 2026</a:t>
            </a:r>
            <a:endParaRPr lang="en-US" sz="900" dirty="0"/>
          </a:p>
        </p:txBody>
      </p:sp>
      <p:sp>
        <p:nvSpPr>
          <p:cNvPr id="5" name="Text 2"/>
          <p:cNvSpPr txBox="1"/>
          <p:nvPr/>
        </p:nvSpPr>
        <p:spPr>
          <a:xfrm>
            <a:off x="502920" y="804672"/>
            <a:ext cx="11183112" cy="292608"/>
          </a:xfrm>
          <a:prstGeom prst="rect">
            <a:avLst/>
          </a:prstGeom>
          <a:noFill/>
          <a:ln/>
        </p:spPr>
        <p:txBody>
          <a:bodyPr wrap="square" lIns="0" tIns="0" rIns="0" bIns="0" rtlCol="0" anchor="ctr"/>
          <a:lstStyle/>
          <a:p>
            <a:pPr indent="0" marL="0">
              <a:buNone/>
            </a:pPr>
            <a:r>
              <a:rPr lang="en-US" sz="1050" b="1" dirty="0">
                <a:solidFill>
                  <a:srgbClr val="800080"/>
                </a:solidFill>
                <a:latin typeface="Inter" pitchFamily="34" charset="0"/>
                <a:ea typeface="Inter" pitchFamily="34" charset="-122"/>
                <a:cs typeface="Inter" pitchFamily="34" charset="-120"/>
              </a:rPr>
              <a:t>TEAM · AND AN HONEST WORD ON TEAM SIZE</a:t>
            </a:r>
            <a:endParaRPr lang="en-US" sz="1050" dirty="0"/>
          </a:p>
        </p:txBody>
      </p:sp>
      <p:sp>
        <p:nvSpPr>
          <p:cNvPr id="6" name="Text 3"/>
          <p:cNvSpPr txBox="1"/>
          <p:nvPr/>
        </p:nvSpPr>
        <p:spPr>
          <a:xfrm>
            <a:off x="502920" y="1069848"/>
            <a:ext cx="11183112" cy="777240"/>
          </a:xfrm>
          <a:prstGeom prst="rect">
            <a:avLst/>
          </a:prstGeom>
          <a:noFill/>
          <a:ln/>
        </p:spPr>
        <p:txBody>
          <a:bodyPr wrap="square" lIns="0" tIns="0" rIns="0" bIns="0" rtlCol="0" anchor="t"/>
          <a:lstStyle/>
          <a:p>
            <a:pPr indent="0" marL="0">
              <a:buNone/>
            </a:pPr>
            <a:r>
              <a:rPr lang="en-US" sz="3300" b="1" dirty="0">
                <a:solidFill>
                  <a:srgbClr val="11256A"/>
                </a:solidFill>
                <a:latin typeface="Space Grotesk" pitchFamily="34" charset="0"/>
                <a:ea typeface="Space Grotesk" pitchFamily="34" charset="-122"/>
                <a:cs typeface="Space Grotesk" pitchFamily="34" charset="-120"/>
              </a:rPr>
              <a:t>The two of us</a:t>
            </a:r>
            <a:endParaRPr lang="en-US" sz="3300" dirty="0"/>
          </a:p>
        </p:txBody>
      </p:sp>
      <p:sp>
        <p:nvSpPr>
          <p:cNvPr id="7" name="Shape 4"/>
          <p:cNvSpPr/>
          <p:nvPr/>
        </p:nvSpPr>
        <p:spPr>
          <a:xfrm>
            <a:off x="502920" y="6382512"/>
            <a:ext cx="11183112" cy="10973"/>
          </a:xfrm>
          <a:prstGeom prst="rect">
            <a:avLst/>
          </a:prstGeom>
          <a:solidFill>
            <a:srgbClr val="E2DBF0"/>
          </a:solidFill>
          <a:ln/>
        </p:spPr>
      </p:sp>
      <p:sp>
        <p:nvSpPr>
          <p:cNvPr id="8" name="Text 5"/>
          <p:cNvSpPr txBox="1"/>
          <p:nvPr/>
        </p:nvSpPr>
        <p:spPr>
          <a:xfrm>
            <a:off x="502920" y="6437376"/>
            <a:ext cx="9601200" cy="274320"/>
          </a:xfrm>
          <a:prstGeom prst="rect">
            <a:avLst/>
          </a:prstGeom>
          <a:noFill/>
          <a:ln/>
        </p:spPr>
        <p:txBody>
          <a:bodyPr wrap="square" lIns="0" tIns="0" rIns="0" bIns="0" rtlCol="0" anchor="ctr"/>
          <a:lstStyle/>
          <a:p>
            <a:pPr indent="0" marL="0">
              <a:buNone/>
            </a:pPr>
            <a:r>
              <a:rPr lang="en-US" sz="900" dirty="0">
                <a:solidFill>
                  <a:srgbClr val="6E6787"/>
                </a:solidFill>
                <a:latin typeface="Inter" pitchFamily="34" charset="0"/>
                <a:ea typeface="Inter" pitchFamily="34" charset="-122"/>
                <a:cs typeface="Inter" pitchFamily="34" charset="-120"/>
              </a:rPr>
              <a:t>Fliq: News That Moves Like You Do</a:t>
            </a:r>
            <a:endParaRPr lang="en-US" sz="900" dirty="0"/>
          </a:p>
        </p:txBody>
      </p:sp>
      <p:sp>
        <p:nvSpPr>
          <p:cNvPr id="9" name="Text 6"/>
          <p:cNvSpPr txBox="1"/>
          <p:nvPr/>
        </p:nvSpPr>
        <p:spPr>
          <a:xfrm>
            <a:off x="10881360" y="6437376"/>
            <a:ext cx="804672" cy="274320"/>
          </a:xfrm>
          <a:prstGeom prst="rect">
            <a:avLst/>
          </a:prstGeom>
          <a:noFill/>
          <a:ln/>
        </p:spPr>
        <p:txBody>
          <a:bodyPr wrap="square" lIns="0" tIns="0" rIns="0" bIns="0" rtlCol="0" anchor="ctr"/>
          <a:lstStyle/>
          <a:p>
            <a:pPr algn="r" indent="0" marL="0">
              <a:buNone/>
            </a:pPr>
            <a:r>
              <a:rPr lang="en-US" sz="950" dirty="0">
                <a:solidFill>
                  <a:srgbClr val="6E6787"/>
                </a:solidFill>
                <a:latin typeface="Inter" pitchFamily="34" charset="0"/>
                <a:ea typeface="Inter" pitchFamily="34" charset="-122"/>
                <a:cs typeface="Inter" pitchFamily="34" charset="-120"/>
              </a:rPr>
              <a:t>11</a:t>
            </a:r>
            <a:endParaRPr lang="en-US" sz="950" dirty="0"/>
          </a:p>
        </p:txBody>
      </p:sp>
      <p:sp>
        <p:nvSpPr>
          <p:cNvPr id="10" name="Shape 7"/>
          <p:cNvSpPr/>
          <p:nvPr/>
        </p:nvSpPr>
        <p:spPr>
          <a:xfrm>
            <a:off x="502920" y="2103120"/>
            <a:ext cx="5394960" cy="1828800"/>
          </a:xfrm>
          <a:prstGeom prst="roundRect">
            <a:avLst>
              <a:gd name="adj" fmla="val 4000"/>
            </a:avLst>
          </a:prstGeom>
          <a:solidFill>
            <a:srgbClr val="D3CAFF"/>
          </a:solidFill>
          <a:ln/>
          <a:effectLst>
            <a:outerShdw sx="100000" sy="100000" kx="0" ky="0" algn="bl" rotWithShape="0" blurRad="127000" dist="25400" dir="5400000">
              <a:srgbClr val="352E4A">
                <a:alpha val="13000"/>
              </a:srgbClr>
            </a:outerShdw>
          </a:effectLst>
        </p:spPr>
      </p:sp>
      <p:sp>
        <p:nvSpPr>
          <p:cNvPr id="11" name="Text 8"/>
          <p:cNvSpPr txBox="1"/>
          <p:nvPr/>
        </p:nvSpPr>
        <p:spPr>
          <a:xfrm>
            <a:off x="795528" y="2286000"/>
            <a:ext cx="4809744" cy="310896"/>
          </a:xfrm>
          <a:prstGeom prst="rect">
            <a:avLst/>
          </a:prstGeom>
          <a:noFill/>
          <a:ln/>
        </p:spPr>
        <p:txBody>
          <a:bodyPr wrap="square" lIns="0" tIns="0" rIns="0" bIns="0" rtlCol="0" anchor="ctr"/>
          <a:lstStyle/>
          <a:p>
            <a:pPr indent="0" marL="0">
              <a:buNone/>
            </a:pPr>
            <a:r>
              <a:rPr lang="en-US" sz="1700" b="1" dirty="0">
                <a:solidFill>
                  <a:srgbClr val="11256A"/>
                </a:solidFill>
                <a:latin typeface="Space Grotesk" pitchFamily="34" charset="0"/>
                <a:ea typeface="Space Grotesk" pitchFamily="34" charset="-122"/>
                <a:cs typeface="Space Grotesk" pitchFamily="34" charset="-120"/>
              </a:rPr>
              <a:t>Victor Nesteruk</a:t>
            </a:r>
            <a:endParaRPr lang="en-US" sz="1700" dirty="0"/>
          </a:p>
        </p:txBody>
      </p:sp>
      <p:sp>
        <p:nvSpPr>
          <p:cNvPr id="12" name="Text 9"/>
          <p:cNvSpPr txBox="1"/>
          <p:nvPr/>
        </p:nvSpPr>
        <p:spPr>
          <a:xfrm>
            <a:off x="795528" y="2615184"/>
            <a:ext cx="4809744" cy="237744"/>
          </a:xfrm>
          <a:prstGeom prst="rect">
            <a:avLst/>
          </a:prstGeom>
          <a:noFill/>
          <a:ln/>
        </p:spPr>
        <p:txBody>
          <a:bodyPr wrap="square" lIns="0" tIns="0" rIns="0" bIns="0" rtlCol="0" anchor="ctr"/>
          <a:lstStyle/>
          <a:p>
            <a:pPr indent="0" marL="0">
              <a:buNone/>
            </a:pPr>
            <a:r>
              <a:rPr lang="en-US" sz="1100" b="1" dirty="0">
                <a:solidFill>
                  <a:srgbClr val="800080"/>
                </a:solidFill>
                <a:latin typeface="Inter" pitchFamily="34" charset="0"/>
                <a:ea typeface="Inter" pitchFamily="34" charset="-122"/>
                <a:cs typeface="Inter" pitchFamily="34" charset="-120"/>
              </a:rPr>
              <a:t>Co-founder / CEO — product, design and research</a:t>
            </a:r>
            <a:endParaRPr lang="en-US" sz="1100" dirty="0"/>
          </a:p>
        </p:txBody>
      </p:sp>
      <p:sp>
        <p:nvSpPr>
          <p:cNvPr id="13" name="Text 10"/>
          <p:cNvSpPr txBox="1"/>
          <p:nvPr/>
        </p:nvSpPr>
        <p:spPr>
          <a:xfrm>
            <a:off x="795528" y="2926080"/>
            <a:ext cx="4809744" cy="914400"/>
          </a:xfrm>
          <a:prstGeom prst="rect">
            <a:avLst/>
          </a:prstGeom>
          <a:noFill/>
          <a:ln/>
        </p:spPr>
        <p:txBody>
          <a:bodyPr wrap="square" lIns="0" tIns="0" rIns="0" bIns="0" rtlCol="0" anchor="t"/>
          <a:lstStyle/>
          <a:p>
            <a:pPr indent="0" marL="0">
              <a:lnSpc>
                <a:spcPct val="114000"/>
              </a:lnSpc>
              <a:buNone/>
            </a:pPr>
            <a:r>
              <a:rPr lang="en-US" sz="1150" dirty="0">
                <a:solidFill>
                  <a:srgbClr val="352E4A"/>
                </a:solidFill>
                <a:latin typeface="Inter" pitchFamily="34" charset="0"/>
                <a:ea typeface="Inter" pitchFamily="34" charset="-122"/>
                <a:cs typeface="Inter" pitchFamily="34" charset="-120"/>
              </a:rPr>
              <a:t>Product direction and the positioning around radical transparency; the design-thinking process across generations; user research and competitive analysis; the card-and-arc and confidence-signal design.</a:t>
            </a:r>
            <a:endParaRPr lang="en-US" sz="1150" dirty="0"/>
          </a:p>
        </p:txBody>
      </p:sp>
      <p:sp>
        <p:nvSpPr>
          <p:cNvPr id="14" name="Shape 11"/>
          <p:cNvSpPr/>
          <p:nvPr/>
        </p:nvSpPr>
        <p:spPr>
          <a:xfrm>
            <a:off x="6291072" y="2103120"/>
            <a:ext cx="5394960" cy="1828800"/>
          </a:xfrm>
          <a:prstGeom prst="roundRect">
            <a:avLst>
              <a:gd name="adj" fmla="val 4000"/>
            </a:avLst>
          </a:prstGeom>
          <a:solidFill>
            <a:srgbClr val="CEE7FD"/>
          </a:solidFill>
          <a:ln/>
          <a:effectLst>
            <a:outerShdw sx="100000" sy="100000" kx="0" ky="0" algn="bl" rotWithShape="0" blurRad="127000" dist="25400" dir="5400000">
              <a:srgbClr val="352E4A">
                <a:alpha val="13000"/>
              </a:srgbClr>
            </a:outerShdw>
          </a:effectLst>
        </p:spPr>
      </p:sp>
      <p:sp>
        <p:nvSpPr>
          <p:cNvPr id="15" name="Text 12"/>
          <p:cNvSpPr txBox="1"/>
          <p:nvPr/>
        </p:nvSpPr>
        <p:spPr>
          <a:xfrm>
            <a:off x="6583680" y="2286000"/>
            <a:ext cx="4809744" cy="310896"/>
          </a:xfrm>
          <a:prstGeom prst="rect">
            <a:avLst/>
          </a:prstGeom>
          <a:noFill/>
          <a:ln/>
        </p:spPr>
        <p:txBody>
          <a:bodyPr wrap="square" lIns="0" tIns="0" rIns="0" bIns="0" rtlCol="0" anchor="ctr"/>
          <a:lstStyle/>
          <a:p>
            <a:pPr indent="0" marL="0">
              <a:buNone/>
            </a:pPr>
            <a:r>
              <a:rPr lang="en-US" sz="1700" b="1" dirty="0">
                <a:solidFill>
                  <a:srgbClr val="11256A"/>
                </a:solidFill>
                <a:latin typeface="Space Grotesk" pitchFamily="34" charset="0"/>
                <a:ea typeface="Space Grotesk" pitchFamily="34" charset="-122"/>
                <a:cs typeface="Space Grotesk" pitchFamily="34" charset="-120"/>
              </a:rPr>
              <a:t>Ling Bo “Adam” Zeng</a:t>
            </a:r>
            <a:endParaRPr lang="en-US" sz="1700" dirty="0"/>
          </a:p>
        </p:txBody>
      </p:sp>
      <p:sp>
        <p:nvSpPr>
          <p:cNvPr id="16" name="Text 13"/>
          <p:cNvSpPr txBox="1"/>
          <p:nvPr/>
        </p:nvSpPr>
        <p:spPr>
          <a:xfrm>
            <a:off x="6583680" y="2615184"/>
            <a:ext cx="4809744" cy="237744"/>
          </a:xfrm>
          <a:prstGeom prst="rect">
            <a:avLst/>
          </a:prstGeom>
          <a:noFill/>
          <a:ln/>
        </p:spPr>
        <p:txBody>
          <a:bodyPr wrap="square" lIns="0" tIns="0" rIns="0" bIns="0" rtlCol="0" anchor="ctr"/>
          <a:lstStyle/>
          <a:p>
            <a:pPr indent="0" marL="0">
              <a:buNone/>
            </a:pPr>
            <a:r>
              <a:rPr lang="en-US" sz="1100" b="1" dirty="0">
                <a:solidFill>
                  <a:srgbClr val="800080"/>
                </a:solidFill>
                <a:latin typeface="Inter" pitchFamily="34" charset="0"/>
                <a:ea typeface="Inter" pitchFamily="34" charset="-122"/>
                <a:cs typeface="Inter" pitchFamily="34" charset="-120"/>
              </a:rPr>
              <a:t>Co-founder — engineering and business</a:t>
            </a:r>
            <a:endParaRPr lang="en-US" sz="1100" dirty="0"/>
          </a:p>
        </p:txBody>
      </p:sp>
      <p:sp>
        <p:nvSpPr>
          <p:cNvPr id="17" name="Text 14"/>
          <p:cNvSpPr txBox="1"/>
          <p:nvPr/>
        </p:nvSpPr>
        <p:spPr>
          <a:xfrm>
            <a:off x="6583680" y="2926080"/>
            <a:ext cx="4809744" cy="914400"/>
          </a:xfrm>
          <a:prstGeom prst="rect">
            <a:avLst/>
          </a:prstGeom>
          <a:noFill/>
          <a:ln/>
        </p:spPr>
        <p:txBody>
          <a:bodyPr wrap="square" lIns="0" tIns="0" rIns="0" bIns="0" rtlCol="0" anchor="t"/>
          <a:lstStyle/>
          <a:p>
            <a:pPr indent="0" marL="0">
              <a:lnSpc>
                <a:spcPct val="114000"/>
              </a:lnSpc>
              <a:buNone/>
            </a:pPr>
            <a:r>
              <a:rPr lang="en-US" sz="1150" dirty="0">
                <a:solidFill>
                  <a:srgbClr val="352E4A"/>
                </a:solidFill>
                <a:latin typeface="Inter" pitchFamily="34" charset="0"/>
                <a:ea typeface="Inter" pitchFamily="34" charset="-122"/>
                <a:cs typeface="Inter" pitchFamily="34" charset="-120"/>
              </a:rPr>
              <a:t>Technical co-lead: the two-pools-one-gate ingestion architecture, the generation and analysis pipeline, MVP implementation, the four-pass stress-test programme, and the commercial model.</a:t>
            </a:r>
            <a:endParaRPr lang="en-US" sz="1150" dirty="0"/>
          </a:p>
        </p:txBody>
      </p:sp>
      <p:sp>
        <p:nvSpPr>
          <p:cNvPr id="18" name="Shape 15"/>
          <p:cNvSpPr/>
          <p:nvPr/>
        </p:nvSpPr>
        <p:spPr>
          <a:xfrm>
            <a:off x="502920" y="4114800"/>
            <a:ext cx="11183112" cy="2121408"/>
          </a:xfrm>
          <a:prstGeom prst="roundRect">
            <a:avLst>
              <a:gd name="adj" fmla="val 3448"/>
            </a:avLst>
          </a:prstGeom>
          <a:solidFill>
            <a:srgbClr val="11256A"/>
          </a:solidFill>
          <a:ln/>
        </p:spPr>
      </p:sp>
      <p:sp>
        <p:nvSpPr>
          <p:cNvPr id="19" name="Text 16"/>
          <p:cNvSpPr txBox="1"/>
          <p:nvPr/>
        </p:nvSpPr>
        <p:spPr>
          <a:xfrm>
            <a:off x="886968" y="4315968"/>
            <a:ext cx="10415016" cy="256032"/>
          </a:xfrm>
          <a:prstGeom prst="rect">
            <a:avLst/>
          </a:prstGeom>
          <a:noFill/>
          <a:ln/>
        </p:spPr>
        <p:txBody>
          <a:bodyPr wrap="square" lIns="0" tIns="0" rIns="0" bIns="0" rtlCol="0" anchor="ctr"/>
          <a:lstStyle/>
          <a:p>
            <a:pPr indent="0" marL="0">
              <a:buNone/>
            </a:pPr>
            <a:r>
              <a:rPr lang="en-US" sz="1050" b="1" dirty="0">
                <a:solidFill>
                  <a:srgbClr val="C9FA85"/>
                </a:solidFill>
                <a:latin typeface="Inter" pitchFamily="34" charset="0"/>
                <a:ea typeface="Inter" pitchFamily="34" charset="-122"/>
                <a:cs typeface="Inter" pitchFamily="34" charset="-120"/>
              </a:rPr>
              <a:t>ON THE TEAM-SIZE GUIDELINE</a:t>
            </a:r>
            <a:endParaRPr lang="en-US" sz="1050" dirty="0"/>
          </a:p>
        </p:txBody>
      </p:sp>
      <p:sp>
        <p:nvSpPr>
          <p:cNvPr id="20" name="Text 17"/>
          <p:cNvSpPr txBox="1"/>
          <p:nvPr/>
        </p:nvSpPr>
        <p:spPr>
          <a:xfrm>
            <a:off x="886968" y="4590288"/>
            <a:ext cx="10415016" cy="365760"/>
          </a:xfrm>
          <a:prstGeom prst="rect">
            <a:avLst/>
          </a:prstGeom>
          <a:noFill/>
          <a:ln/>
        </p:spPr>
        <p:txBody>
          <a:bodyPr wrap="square" lIns="0" tIns="0" rIns="0" bIns="0" rtlCol="0" anchor="ctr"/>
          <a:lstStyle/>
          <a:p>
            <a:pPr indent="0" marL="0">
              <a:buNone/>
            </a:pPr>
            <a:r>
              <a:rPr lang="en-US" sz="1600" b="1" dirty="0">
                <a:solidFill>
                  <a:srgbClr val="FFFFFF"/>
                </a:solidFill>
                <a:latin typeface="Space Grotesk" pitchFamily="34" charset="0"/>
                <a:ea typeface="Space Grotesk" pitchFamily="34" charset="-122"/>
                <a:cs typeface="Space Grotesk" pitchFamily="34" charset="-120"/>
              </a:rPr>
              <a:t>We know a pair is provisional. We would like to make the case for the two of us.</a:t>
            </a:r>
            <a:endParaRPr lang="en-US" sz="1600" dirty="0"/>
          </a:p>
        </p:txBody>
      </p:sp>
      <p:sp>
        <p:nvSpPr>
          <p:cNvPr id="21" name="Shape 18"/>
          <p:cNvSpPr/>
          <p:nvPr/>
        </p:nvSpPr>
        <p:spPr>
          <a:xfrm>
            <a:off x="905256" y="5120640"/>
            <a:ext cx="91440" cy="91440"/>
          </a:xfrm>
          <a:prstGeom prst="ellipse">
            <a:avLst/>
          </a:prstGeom>
          <a:solidFill>
            <a:srgbClr val="C9FA85"/>
          </a:solidFill>
          <a:ln/>
        </p:spPr>
      </p:sp>
      <p:sp>
        <p:nvSpPr>
          <p:cNvPr id="22" name="Text 19"/>
          <p:cNvSpPr txBox="1"/>
          <p:nvPr/>
        </p:nvSpPr>
        <p:spPr>
          <a:xfrm>
            <a:off x="1143000" y="5029200"/>
            <a:ext cx="10085832" cy="274320"/>
          </a:xfrm>
          <a:prstGeom prst="rect">
            <a:avLst/>
          </a:prstGeom>
          <a:noFill/>
          <a:ln/>
        </p:spPr>
        <p:txBody>
          <a:bodyPr wrap="square" lIns="0" tIns="0" rIns="0" bIns="0" rtlCol="0" anchor="ctr"/>
          <a:lstStyle/>
          <a:p>
            <a:pPr indent="0" marL="0">
              <a:buNone/>
            </a:pPr>
            <a:r>
              <a:rPr lang="en-US" sz="1200" dirty="0">
                <a:solidFill>
                  <a:srgbClr val="E8E2FF"/>
                </a:solidFill>
                <a:latin typeface="Inter" pitchFamily="34" charset="0"/>
                <a:ea typeface="Inter" pitchFamily="34" charset="-122"/>
                <a:cs typeface="Inter" pitchFamily="34" charset="-120"/>
              </a:rPr>
              <a:t>Everything on the previous slides was delivered by these two, alongside a full course load.</a:t>
            </a:r>
            <a:endParaRPr lang="en-US" sz="1200" dirty="0"/>
          </a:p>
        </p:txBody>
      </p:sp>
      <p:sp>
        <p:nvSpPr>
          <p:cNvPr id="23" name="Shape 20"/>
          <p:cNvSpPr/>
          <p:nvPr/>
        </p:nvSpPr>
        <p:spPr>
          <a:xfrm>
            <a:off x="905256" y="5431536"/>
            <a:ext cx="91440" cy="91440"/>
          </a:xfrm>
          <a:prstGeom prst="ellipse">
            <a:avLst/>
          </a:prstGeom>
          <a:solidFill>
            <a:srgbClr val="C9FA85"/>
          </a:solidFill>
          <a:ln/>
        </p:spPr>
      </p:sp>
      <p:sp>
        <p:nvSpPr>
          <p:cNvPr id="24" name="Text 21"/>
          <p:cNvSpPr txBox="1"/>
          <p:nvPr/>
        </p:nvSpPr>
        <p:spPr>
          <a:xfrm>
            <a:off x="1143000" y="5340096"/>
            <a:ext cx="10085832" cy="274320"/>
          </a:xfrm>
          <a:prstGeom prst="rect">
            <a:avLst/>
          </a:prstGeom>
          <a:noFill/>
          <a:ln/>
        </p:spPr>
        <p:txBody>
          <a:bodyPr wrap="square" lIns="0" tIns="0" rIns="0" bIns="0" rtlCol="0" anchor="ctr"/>
          <a:lstStyle/>
          <a:p>
            <a:pPr indent="0" marL="0">
              <a:buNone/>
            </a:pPr>
            <a:r>
              <a:rPr lang="en-US" sz="1200" dirty="0">
                <a:solidFill>
                  <a:srgbClr val="E8E2FF"/>
                </a:solidFill>
                <a:latin typeface="Inter" pitchFamily="34" charset="0"/>
                <a:ea typeface="Inter" pitchFamily="34" charset="-122"/>
                <a:cs typeface="Inter" pitchFamily="34" charset="-120"/>
              </a:rPr>
              <a:t>The company is incorporated, with roles and equity already settled between us.</a:t>
            </a:r>
            <a:endParaRPr lang="en-US" sz="1200" dirty="0"/>
          </a:p>
        </p:txBody>
      </p:sp>
      <p:sp>
        <p:nvSpPr>
          <p:cNvPr id="25" name="Shape 22"/>
          <p:cNvSpPr/>
          <p:nvPr/>
        </p:nvSpPr>
        <p:spPr>
          <a:xfrm>
            <a:off x="905256" y="5742432"/>
            <a:ext cx="91440" cy="91440"/>
          </a:xfrm>
          <a:prstGeom prst="ellipse">
            <a:avLst/>
          </a:prstGeom>
          <a:solidFill>
            <a:srgbClr val="C9FA85"/>
          </a:solidFill>
          <a:ln/>
        </p:spPr>
      </p:sp>
      <p:sp>
        <p:nvSpPr>
          <p:cNvPr id="26" name="Text 23"/>
          <p:cNvSpPr txBox="1"/>
          <p:nvPr/>
        </p:nvSpPr>
        <p:spPr>
          <a:xfrm>
            <a:off x="1143000" y="5650992"/>
            <a:ext cx="10085832" cy="274320"/>
          </a:xfrm>
          <a:prstGeom prst="rect">
            <a:avLst/>
          </a:prstGeom>
          <a:noFill/>
          <a:ln/>
        </p:spPr>
        <p:txBody>
          <a:bodyPr wrap="square" lIns="0" tIns="0" rIns="0" bIns="0" rtlCol="0" anchor="ctr"/>
          <a:lstStyle/>
          <a:p>
            <a:pPr indent="0" marL="0">
              <a:buNone/>
            </a:pPr>
            <a:r>
              <a:rPr lang="en-US" sz="1200" dirty="0">
                <a:solidFill>
                  <a:srgbClr val="E8E2FF"/>
                </a:solidFill>
                <a:latin typeface="Inter" pitchFamily="34" charset="0"/>
                <a:ea typeface="Inter" pitchFamily="34" charset="-122"/>
                <a:cs typeface="Inter" pitchFamily="34" charset="-120"/>
              </a:rPr>
              <a:t>Two faculty advisors are already engaged with the project and know its history.</a:t>
            </a:r>
            <a:endParaRPr lang="en-US" sz="1200" dirty="0"/>
          </a:p>
        </p:txBody>
      </p:sp>
      <p:sp>
        <p:nvSpPr>
          <p:cNvPr id="27" name="Text 24"/>
          <p:cNvSpPr txBox="1"/>
          <p:nvPr/>
        </p:nvSpPr>
        <p:spPr>
          <a:xfrm>
            <a:off x="886968" y="5943600"/>
            <a:ext cx="10415016" cy="256032"/>
          </a:xfrm>
          <a:prstGeom prst="rect">
            <a:avLst/>
          </a:prstGeom>
          <a:noFill/>
          <a:ln/>
        </p:spPr>
        <p:txBody>
          <a:bodyPr wrap="square" lIns="0" tIns="0" rIns="0" bIns="0" rtlCol="0" anchor="ctr"/>
          <a:lstStyle/>
          <a:p>
            <a:pPr indent="0" marL="0">
              <a:buNone/>
            </a:pPr>
            <a:r>
              <a:rPr lang="en-US" sz="1100" dirty="0">
                <a:solidFill>
                  <a:srgbClr val="D3CAFF"/>
                </a:solidFill>
                <a:latin typeface="Inter" pitchFamily="34" charset="0"/>
                <a:ea typeface="Inter" pitchFamily="34" charset="-122"/>
                <a:cs typeface="Inter" pitchFamily="34" charset="-120"/>
              </a:rPr>
              <a:t>If the Division would prefer a larger team, we would welcome your guidance on how to bring people in well.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00080"/>
        </a:solidFill>
      </p:bgPr>
    </p:bg>
    <p:spTree>
      <p:nvGrpSpPr>
        <p:cNvPr id="1" name=""/>
        <p:cNvGrpSpPr/>
        <p:nvPr/>
      </p:nvGrpSpPr>
      <p:grpSpPr>
        <a:xfrm>
          <a:off x="0" y="0"/>
          <a:ext cx="0" cy="0"/>
          <a:chOff x="0" y="0"/>
          <a:chExt cx="0" cy="0"/>
        </a:xfrm>
      </p:grpSpPr>
      <p:sp>
        <p:nvSpPr>
          <p:cNvPr id="2" name="Shape 0"/>
          <p:cNvSpPr/>
          <p:nvPr/>
        </p:nvSpPr>
        <p:spPr>
          <a:xfrm>
            <a:off x="0" y="0"/>
            <a:ext cx="777240" cy="91440"/>
          </a:xfrm>
          <a:prstGeom prst="rect">
            <a:avLst/>
          </a:prstGeom>
          <a:solidFill>
            <a:srgbClr val="C9FA85"/>
          </a:solidFill>
          <a:ln/>
        </p:spPr>
      </p:sp>
      <p:pic>
        <p:nvPicPr>
          <p:cNvPr id="3" name="Image 0" descr="preencoded.png">    </p:cNvPr>
          <p:cNvPicPr>
            <a:picLocks noChangeAspect="1"/>
          </p:cNvPicPr>
          <p:nvPr/>
        </p:nvPicPr>
        <p:blipFill>
          <a:blip r:embed="rId1"/>
          <a:stretch>
            <a:fillRect/>
          </a:stretch>
        </p:blipFill>
        <p:spPr>
          <a:xfrm>
            <a:off x="8503920" y="2514600"/>
            <a:ext cx="3657600" cy="3584448"/>
          </a:xfrm>
          <a:prstGeom prst="rect">
            <a:avLst/>
          </a:prstGeom>
        </p:spPr>
      </p:pic>
      <p:pic>
        <p:nvPicPr>
          <p:cNvPr id="4" name="Image 1" descr="preencoded.png">    </p:cNvPr>
          <p:cNvPicPr>
            <a:picLocks noChangeAspect="1"/>
          </p:cNvPicPr>
          <p:nvPr/>
        </p:nvPicPr>
        <p:blipFill>
          <a:blip r:embed="rId2"/>
          <a:stretch>
            <a:fillRect/>
          </a:stretch>
        </p:blipFill>
        <p:spPr>
          <a:xfrm>
            <a:off x="402336" y="384048"/>
            <a:ext cx="1788566" cy="658368"/>
          </a:xfrm>
          <a:prstGeom prst="rect">
            <a:avLst/>
          </a:prstGeom>
        </p:spPr>
      </p:pic>
      <p:sp>
        <p:nvSpPr>
          <p:cNvPr id="5" name="Text 1"/>
          <p:cNvSpPr txBox="1"/>
          <p:nvPr/>
        </p:nvSpPr>
        <p:spPr>
          <a:xfrm>
            <a:off x="640080" y="1572768"/>
            <a:ext cx="7863840" cy="310896"/>
          </a:xfrm>
          <a:prstGeom prst="rect">
            <a:avLst/>
          </a:prstGeom>
          <a:noFill/>
          <a:ln/>
        </p:spPr>
        <p:txBody>
          <a:bodyPr wrap="square" lIns="0" tIns="0" rIns="0" bIns="0" rtlCol="0" anchor="ctr"/>
          <a:lstStyle/>
          <a:p>
            <a:pPr indent="0" marL="0">
              <a:buNone/>
            </a:pPr>
            <a:r>
              <a:rPr lang="en-US" sz="1300" b="1" dirty="0">
                <a:solidFill>
                  <a:srgbClr val="C9FA85"/>
                </a:solidFill>
                <a:latin typeface="Inter" pitchFamily="34" charset="0"/>
                <a:ea typeface="Inter" pitchFamily="34" charset="-122"/>
                <a:cs typeface="Inter" pitchFamily="34" charset="-120"/>
              </a:rPr>
              <a:t>THREE THINGS WE WOULD LIKE TO ASK YOU</a:t>
            </a:r>
            <a:endParaRPr lang="en-US" sz="1300" dirty="0"/>
          </a:p>
        </p:txBody>
      </p:sp>
      <p:sp>
        <p:nvSpPr>
          <p:cNvPr id="6" name="Shape 2"/>
          <p:cNvSpPr/>
          <p:nvPr/>
        </p:nvSpPr>
        <p:spPr>
          <a:xfrm>
            <a:off x="640080" y="2103120"/>
            <a:ext cx="7589520" cy="786384"/>
          </a:xfrm>
          <a:prstGeom prst="roundRect">
            <a:avLst>
              <a:gd name="adj" fmla="val 9302"/>
            </a:avLst>
          </a:prstGeom>
          <a:solidFill>
            <a:srgbClr val="8F1A8F"/>
          </a:solidFill>
          <a:ln/>
        </p:spPr>
      </p:sp>
      <p:sp>
        <p:nvSpPr>
          <p:cNvPr id="7" name="Text 3"/>
          <p:cNvSpPr txBox="1"/>
          <p:nvPr/>
        </p:nvSpPr>
        <p:spPr>
          <a:xfrm>
            <a:off x="859536" y="2276856"/>
            <a:ext cx="438912" cy="438912"/>
          </a:xfrm>
          <a:prstGeom prst="rect">
            <a:avLst/>
          </a:prstGeom>
          <a:noFill/>
          <a:ln/>
        </p:spPr>
        <p:txBody>
          <a:bodyPr wrap="square" lIns="0" tIns="0" rIns="0" bIns="0" rtlCol="0" anchor="ctr"/>
          <a:lstStyle/>
          <a:p>
            <a:pPr algn="ctr" indent="0" marL="0">
              <a:buNone/>
            </a:pPr>
            <a:r>
              <a:rPr lang="en-US" sz="1900" b="1" dirty="0">
                <a:solidFill>
                  <a:srgbClr val="C9FA85"/>
                </a:solidFill>
                <a:latin typeface="Space Grotesk" pitchFamily="34" charset="0"/>
                <a:ea typeface="Space Grotesk" pitchFamily="34" charset="-122"/>
                <a:cs typeface="Space Grotesk" pitchFamily="34" charset="-120"/>
              </a:rPr>
              <a:t>1</a:t>
            </a:r>
            <a:endParaRPr lang="en-US" sz="1900" dirty="0"/>
          </a:p>
        </p:txBody>
      </p:sp>
      <p:sp>
        <p:nvSpPr>
          <p:cNvPr id="8" name="Text 4"/>
          <p:cNvSpPr txBox="1"/>
          <p:nvPr/>
        </p:nvSpPr>
        <p:spPr>
          <a:xfrm>
            <a:off x="1426464" y="2103120"/>
            <a:ext cx="6583680" cy="786384"/>
          </a:xfrm>
          <a:prstGeom prst="rect">
            <a:avLst/>
          </a:prstGeom>
          <a:noFill/>
          <a:ln/>
        </p:spPr>
        <p:txBody>
          <a:bodyPr wrap="square" lIns="0" tIns="0" rIns="0" bIns="0" rtlCol="0" anchor="ctr"/>
          <a:lstStyle/>
          <a:p>
            <a:pPr indent="0" marL="0">
              <a:lnSpc>
                <a:spcPct val="110000"/>
              </a:lnSpc>
              <a:buNone/>
            </a:pPr>
            <a:r>
              <a:rPr lang="en-US" sz="1350" dirty="0">
                <a:solidFill>
                  <a:srgbClr val="FFFFFF"/>
                </a:solidFill>
                <a:latin typeface="Inter" pitchFamily="34" charset="0"/>
                <a:ea typeface="Inter" pitchFamily="34" charset="-122"/>
                <a:cs typeface="Inter" pitchFamily="34" charset="-120"/>
              </a:rPr>
              <a:t>May we register Fliq as our FYP topic, under the Entrepreneurship and Venture track?</a:t>
            </a:r>
            <a:endParaRPr lang="en-US" sz="1350" dirty="0"/>
          </a:p>
        </p:txBody>
      </p:sp>
      <p:sp>
        <p:nvSpPr>
          <p:cNvPr id="9" name="Shape 5"/>
          <p:cNvSpPr/>
          <p:nvPr/>
        </p:nvSpPr>
        <p:spPr>
          <a:xfrm>
            <a:off x="640080" y="3035808"/>
            <a:ext cx="7589520" cy="786384"/>
          </a:xfrm>
          <a:prstGeom prst="roundRect">
            <a:avLst>
              <a:gd name="adj" fmla="val 9302"/>
            </a:avLst>
          </a:prstGeom>
          <a:solidFill>
            <a:srgbClr val="8F1A8F"/>
          </a:solidFill>
          <a:ln/>
        </p:spPr>
      </p:sp>
      <p:sp>
        <p:nvSpPr>
          <p:cNvPr id="10" name="Text 6"/>
          <p:cNvSpPr txBox="1"/>
          <p:nvPr/>
        </p:nvSpPr>
        <p:spPr>
          <a:xfrm>
            <a:off x="859536" y="3209544"/>
            <a:ext cx="438912" cy="438912"/>
          </a:xfrm>
          <a:prstGeom prst="rect">
            <a:avLst/>
          </a:prstGeom>
          <a:noFill/>
          <a:ln/>
        </p:spPr>
        <p:txBody>
          <a:bodyPr wrap="square" lIns="0" tIns="0" rIns="0" bIns="0" rtlCol="0" anchor="ctr"/>
          <a:lstStyle/>
          <a:p>
            <a:pPr algn="ctr" indent="0" marL="0">
              <a:buNone/>
            </a:pPr>
            <a:r>
              <a:rPr lang="en-US" sz="1900" b="1" dirty="0">
                <a:solidFill>
                  <a:srgbClr val="C9FA85"/>
                </a:solidFill>
                <a:latin typeface="Space Grotesk" pitchFamily="34" charset="0"/>
                <a:ea typeface="Space Grotesk" pitchFamily="34" charset="-122"/>
                <a:cs typeface="Space Grotesk" pitchFamily="34" charset="-120"/>
              </a:rPr>
              <a:t>2</a:t>
            </a:r>
            <a:endParaRPr lang="en-US" sz="1900" dirty="0"/>
          </a:p>
        </p:txBody>
      </p:sp>
      <p:sp>
        <p:nvSpPr>
          <p:cNvPr id="11" name="Text 7"/>
          <p:cNvSpPr txBox="1"/>
          <p:nvPr/>
        </p:nvSpPr>
        <p:spPr>
          <a:xfrm>
            <a:off x="1426464" y="3035808"/>
            <a:ext cx="6583680" cy="786384"/>
          </a:xfrm>
          <a:prstGeom prst="rect">
            <a:avLst/>
          </a:prstGeom>
          <a:noFill/>
          <a:ln/>
        </p:spPr>
        <p:txBody>
          <a:bodyPr wrap="square" lIns="0" tIns="0" rIns="0" bIns="0" rtlCol="0" anchor="ctr"/>
          <a:lstStyle/>
          <a:p>
            <a:pPr indent="0" marL="0">
              <a:lnSpc>
                <a:spcPct val="110000"/>
              </a:lnSpc>
              <a:buNone/>
            </a:pPr>
            <a:r>
              <a:rPr lang="en-US" sz="1350" dirty="0">
                <a:solidFill>
                  <a:srgbClr val="FFFFFF"/>
                </a:solidFill>
                <a:latin typeface="Inter" pitchFamily="34" charset="0"/>
                <a:ea typeface="Inter" pitchFamily="34" charset="-122"/>
                <a:cs typeface="Inter" pitchFamily="34" charset="-120"/>
              </a:rPr>
              <a:t>How would you advise us on advisor arrangements for the year ahead?</a:t>
            </a:r>
            <a:endParaRPr lang="en-US" sz="1350" dirty="0"/>
          </a:p>
        </p:txBody>
      </p:sp>
      <p:sp>
        <p:nvSpPr>
          <p:cNvPr id="12" name="Shape 8"/>
          <p:cNvSpPr/>
          <p:nvPr/>
        </p:nvSpPr>
        <p:spPr>
          <a:xfrm>
            <a:off x="640080" y="3968496"/>
            <a:ext cx="7589520" cy="786384"/>
          </a:xfrm>
          <a:prstGeom prst="roundRect">
            <a:avLst>
              <a:gd name="adj" fmla="val 9302"/>
            </a:avLst>
          </a:prstGeom>
          <a:solidFill>
            <a:srgbClr val="8F1A8F"/>
          </a:solidFill>
          <a:ln/>
        </p:spPr>
      </p:sp>
      <p:sp>
        <p:nvSpPr>
          <p:cNvPr id="13" name="Text 9"/>
          <p:cNvSpPr txBox="1"/>
          <p:nvPr/>
        </p:nvSpPr>
        <p:spPr>
          <a:xfrm>
            <a:off x="859536" y="4142232"/>
            <a:ext cx="438912" cy="438912"/>
          </a:xfrm>
          <a:prstGeom prst="rect">
            <a:avLst/>
          </a:prstGeom>
          <a:noFill/>
          <a:ln/>
        </p:spPr>
        <p:txBody>
          <a:bodyPr wrap="square" lIns="0" tIns="0" rIns="0" bIns="0" rtlCol="0" anchor="ctr"/>
          <a:lstStyle/>
          <a:p>
            <a:pPr algn="ctr" indent="0" marL="0">
              <a:buNone/>
            </a:pPr>
            <a:r>
              <a:rPr lang="en-US" sz="1900" b="1" dirty="0">
                <a:solidFill>
                  <a:srgbClr val="C9FA85"/>
                </a:solidFill>
                <a:latin typeface="Space Grotesk" pitchFamily="34" charset="0"/>
                <a:ea typeface="Space Grotesk" pitchFamily="34" charset="-122"/>
                <a:cs typeface="Space Grotesk" pitchFamily="34" charset="-120"/>
              </a:rPr>
              <a:t>3</a:t>
            </a:r>
            <a:endParaRPr lang="en-US" sz="1900" dirty="0"/>
          </a:p>
        </p:txBody>
      </p:sp>
      <p:sp>
        <p:nvSpPr>
          <p:cNvPr id="14" name="Text 10"/>
          <p:cNvSpPr txBox="1"/>
          <p:nvPr/>
        </p:nvSpPr>
        <p:spPr>
          <a:xfrm>
            <a:off x="1426464" y="3968496"/>
            <a:ext cx="6583680" cy="786384"/>
          </a:xfrm>
          <a:prstGeom prst="rect">
            <a:avLst/>
          </a:prstGeom>
          <a:noFill/>
          <a:ln/>
        </p:spPr>
        <p:txBody>
          <a:bodyPr wrap="square" lIns="0" tIns="0" rIns="0" bIns="0" rtlCol="0" anchor="ctr"/>
          <a:lstStyle/>
          <a:p>
            <a:pPr indent="0" marL="0">
              <a:lnSpc>
                <a:spcPct val="110000"/>
              </a:lnSpc>
              <a:buNone/>
            </a:pPr>
            <a:r>
              <a:rPr lang="en-US" sz="1350" dirty="0">
                <a:solidFill>
                  <a:srgbClr val="FFFFFF"/>
                </a:solidFill>
                <a:latin typeface="Inter" pitchFamily="34" charset="0"/>
                <a:ea typeface="Inter" pitchFamily="34" charset="-122"/>
                <a:cs typeface="Inter" pitchFamily="34" charset="-120"/>
              </a:rPr>
              <a:t>What would you like to see from us before the first class on 3 September, and before InnoX?</a:t>
            </a:r>
            <a:endParaRPr lang="en-US" sz="1350" dirty="0"/>
          </a:p>
        </p:txBody>
      </p:sp>
      <p:sp>
        <p:nvSpPr>
          <p:cNvPr id="15" name="Text 11"/>
          <p:cNvSpPr txBox="1"/>
          <p:nvPr/>
        </p:nvSpPr>
        <p:spPr>
          <a:xfrm>
            <a:off x="640080" y="5138928"/>
            <a:ext cx="7863840" cy="402336"/>
          </a:xfrm>
          <a:prstGeom prst="rect">
            <a:avLst/>
          </a:prstGeom>
          <a:noFill/>
          <a:ln/>
        </p:spPr>
        <p:txBody>
          <a:bodyPr wrap="square" lIns="0" tIns="0" rIns="0" bIns="0" rtlCol="0" anchor="ctr"/>
          <a:lstStyle/>
          <a:p>
            <a:pPr indent="0" marL="0">
              <a:buNone/>
            </a:pPr>
            <a:r>
              <a:rPr lang="en-US" sz="2200" b="1" dirty="0">
                <a:solidFill>
                  <a:srgbClr val="FFF9FF"/>
                </a:solidFill>
                <a:latin typeface="Space Grotesk" pitchFamily="34" charset="0"/>
                <a:ea typeface="Space Grotesk" pitchFamily="34" charset="-122"/>
                <a:cs typeface="Space Grotesk" pitchFamily="34" charset="-120"/>
              </a:rPr>
              <a:t>Thank you for making the time before term begins.</a:t>
            </a:r>
            <a:endParaRPr lang="en-US" sz="2200" dirty="0"/>
          </a:p>
        </p:txBody>
      </p:sp>
      <p:sp>
        <p:nvSpPr>
          <p:cNvPr id="16" name="Shape 12"/>
          <p:cNvSpPr/>
          <p:nvPr/>
        </p:nvSpPr>
        <p:spPr>
          <a:xfrm>
            <a:off x="640080" y="5989320"/>
            <a:ext cx="7918704" cy="12802"/>
          </a:xfrm>
          <a:prstGeom prst="rect">
            <a:avLst/>
          </a:prstGeom>
          <a:solidFill>
            <a:srgbClr val="C9FA85"/>
          </a:solidFill>
          <a:ln/>
        </p:spPr>
      </p:sp>
      <p:sp>
        <p:nvSpPr>
          <p:cNvPr id="17" name="Text 13"/>
          <p:cNvSpPr txBox="1"/>
          <p:nvPr/>
        </p:nvSpPr>
        <p:spPr>
          <a:xfrm>
            <a:off x="640080" y="6144768"/>
            <a:ext cx="8961120" cy="292608"/>
          </a:xfrm>
          <a:prstGeom prst="rect">
            <a:avLst/>
          </a:prstGeom>
          <a:noFill/>
          <a:ln/>
        </p:spPr>
        <p:txBody>
          <a:bodyPr wrap="square" lIns="0" tIns="0" rIns="0" bIns="0" rtlCol="0" anchor="ctr"/>
          <a:lstStyle/>
          <a:p>
            <a:pPr indent="0" marL="0">
              <a:buNone/>
            </a:pPr>
            <a:r>
              <a:rPr lang="en-US" sz="1300" b="1" dirty="0">
                <a:solidFill>
                  <a:srgbClr val="FFF9FF"/>
                </a:solidFill>
                <a:latin typeface="Inter" pitchFamily="34" charset="0"/>
                <a:ea typeface="Inter" pitchFamily="34" charset="-122"/>
                <a:cs typeface="Inter" pitchFamily="34" charset="-120"/>
              </a:rPr>
              <a:t>Victor Nesteruk · Ling Bo Zeng</a:t>
            </a:r>
            <a:pPr indent="0" marL="0">
              <a:buNone/>
            </a:pPr>
            <a:r>
              <a:rPr lang="en-US" sz="1300" dirty="0">
                <a:solidFill>
                  <a:srgbClr val="E8E2FF"/>
                </a:solidFill>
                <a:latin typeface="Inter" pitchFamily="34" charset="0"/>
                <a:ea typeface="Inter" pitchFamily="34" charset="-122"/>
                <a:cs typeface="Inter" pitchFamily="34" charset="-120"/>
              </a:rPr>
              <a:t>     |     HKUST ISDN, Year 4     |     </a:t>
            </a:r>
            <a:pPr indent="0" marL="0">
              <a:buNone/>
            </a:pPr>
            <a:r>
              <a:rPr lang="en-US" sz="1300" dirty="0">
                <a:solidFill>
                  <a:srgbClr val="E8E2FF"/>
                </a:solidFill>
                <a:latin typeface="Inter" pitchFamily="34" charset="0"/>
                <a:ea typeface="Inter" pitchFamily="34" charset="-122"/>
                <a:cs typeface="Inter" pitchFamily="34" charset="-120"/>
              </a:rPr>
              <a:t>NewsFlick Limited     |     fliq.news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NewsFlick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Fliq — ISDN 4001 FYP Proposal</dc:title>
  <dc:subject>PptxGenJS Presentation</dc:subject>
  <dc:creator>Victor Nesteruk and Ling Bo Zeng</dc:creator>
  <cp:lastModifiedBy>Victor Nesteruk and Ling Bo Zeng</cp:lastModifiedBy>
  <cp:revision>1</cp:revision>
  <dcterms:created xsi:type="dcterms:W3CDTF">2026-08-27T05:29:01Z</dcterms:created>
  <dcterms:modified xsi:type="dcterms:W3CDTF">2026-08-27T05:29:01Z</dcterms:modified>
</cp:coreProperties>
</file>